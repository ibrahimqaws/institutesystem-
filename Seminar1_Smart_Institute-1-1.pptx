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سيمنار الأول" id="{a8faab51-8602-3a9b-cef6-8e897f4eb25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نرحب بكم. مشروعنا نظام ويب عربي لإدارة المعاهد التعليمية يجمع الجانب الأكاديمي والمالي مع الذكاء الاصطناعي. سنعرض في عشر دقائق الهدف، ما أنجزناه، الدراسة المرجعية، التصميم، الأدوات، والخطة.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أن المعاهد الصغيرة والمتوسطة تستخدم أنظمة تعليمية تهمل الجانب المالي، أو أنظمة شاملة مكلفة ومعقدة، ولا توفر أي منها تنبؤاً بتعثر الطلاب. هدفنا منصة واحدة بسيطة تجمع كل ذلك.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أنجزنا مرحلة الدراسة وتحديد المتطلبات، ثم التحليل: مخطط حالات الاستخدام ووثائق التوصيف، ثم تصميم قاعدة البيانات، ثم مخططات التسلسل والنشاط للوظائف عالية الأولوية.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قارنا المشروع مع أربعة أنظمة. LMS مثل Moodle وClassroom قوية أكاديمياً وضعيفة مالياً. Fedena وTeachworks أقرب لكنها بلا ذكاء اصطناعي. مشروعنا يجمع المحاور الثلاثة بواجهة بسيطة.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النظام ثلاثة مستخدمين: المدير ويملك صلاحيات كاملة، والمدرس يتابع طلابه، والطالب يسجل ويتابع درجاته وسجله المالي. حالات الاستخدام من واحد إلى عشرين، وتسجيل الدخول مشترك.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البنية من ثلاث طبقات: واجهة Vue مع Inertia، وخادم Laravel، وقاعدة PostgreSQL. اخترنا هذه الأدوات لأنها حديثة وتدعم العربية واتجاه RTL بشكل جيد.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من اثني عشر جدولاً. الدفعة هي المحور: ترتبط بالكورس والمدرس والقاعة، ومنها التسجيلات والحضور والعلامات والمواد. الرواتب مرتبطة بسجل مصروف مقفل.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من المخططات: مخطط نشاط تسجيل دفعة مالية يتحقق من أن التسجيل نشط وأن المبلغ لا يتجاوز المتبقي، ويولّد رقم السند تلقائياً إن لم يُدخل، ومخطط تسلسل صرف الراتب يوضح التعامل بين الواجهة والمتحكم وقاعدة البيانات ضمن معاملة واحدة آمنة.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مدة المشروع ست عشر أسبوعاً. أنجزنا الدراسة والتحليل والتصميم، ونعمل الآن على لوحة المدير. بعدها لوحتا المدرس والطالب، ثم المالية والتقارير، ثم الاختبار، وننتهي بالتوثيق والمناقشة في 15 يناير 2027.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نلخص: أنجزنا التحليل والتصميم، وحددنا فجوة بحثية واضحة، ولدينا خطة حتى 15 يناير 2027. شكراً لكم ونرحب بأسئلتكم.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29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9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3931920" y="6473952"/>
            <a:ext cx="7799832" cy="274320"/>
          </a:xfrm>
          <a:prstGeom prst="rect">
            <a:avLst/>
          </a:prstGeom>
          <a:noFill/>
          <a:ln/>
        </p:spPr>
        <p:txBody>
          <a:bodyPr wrap="square" lIns="0" tIns="0" rIns="0" bIns="0" rtlCol="0" anchor="ctr"/>
          <a:lstStyle/>
          <a:p>
            <a:pPr algn="r" indent="0" marL="0">
              <a:buNone/>
            </a:pPr>
            <a:r>
              <a:rPr lang="en-US" sz="1000" dirty="0">
                <a:solidFill>
                  <a:schemeClr val="accent6"/>
                </a:solidFill>
              </a:rPr>
              <a:t>الجامعة السورية الخاصة  |  كلية هندسة الذكاء الاصطناعي  |  السيمنار الأول</a:t>
            </a:r>
            <a:endParaRPr lang="en-US" sz="1000" dirty="0"/>
          </a:p>
        </p:txBody>
      </p:sp>
      <p:sp>
        <p:nvSpPr>
          <p:cNvPr id="3" name="Text 1"/>
          <p:cNvSpPr/>
          <p:nvPr>
            <p:ph idx="101" type="body" hasCustomPrompt="1"/>
          </p:nvPr>
        </p:nvSpPr>
        <p:spPr>
          <a:xfrm>
            <a:off x="822960" y="411480"/>
            <a:ext cx="10543032" cy="320040"/>
          </a:xfrm>
          <a:prstGeom prst="rect">
            <a:avLst/>
          </a:prstGeom>
          <a:noFill/>
          <a:ln/>
        </p:spPr>
        <p:txBody>
          <a:bodyPr wrap="square" rtlCol="0"/>
          <a:lstStyle>
            <a:lvl1pPr algn="r" indent="0" marL="0">
              <a:buNone/>
              <a:defRPr lang="en-US" sz="1200" b="1" dirty="0">
                <a:solidFill>
                  <a:schemeClr val="accent1"/>
                </a:solidFill>
              </a:defRPr>
            </a:lvl1pPr>
          </a:lstStyle>
          <a:p>
            <a:pPr algn="r" indent="0" marL="0">
              <a:buNone/>
            </a:pPr>
            <a:endParaRPr lang="en-US" sz="1200" dirty="0"/>
          </a:p>
        </p:txBody>
      </p:sp>
      <p:sp>
        <p:nvSpPr>
          <p:cNvPr id="4" name="Text 1"/>
          <p:cNvSpPr/>
          <p:nvPr>
            <p:ph idx="102" type="title" hasCustomPrompt="1"/>
          </p:nvPr>
        </p:nvSpPr>
        <p:spPr>
          <a:xfrm>
            <a:off x="822960" y="713232"/>
            <a:ext cx="10543032" cy="685800"/>
          </a:xfrm>
          <a:prstGeom prst="rect">
            <a:avLst/>
          </a:prstGeom>
          <a:noFill/>
          <a:ln/>
        </p:spPr>
        <p:txBody>
          <a:bodyPr wrap="square" rtlCol="0"/>
          <a:lstStyle>
            <a:lvl1pPr algn="r" indent="0" marL="0">
              <a:buNone/>
              <a:defRPr lang="en-US" sz="2600" b="1" dirty="0">
                <a:solidFill>
                  <a:schemeClr val="tx2"/>
                </a:solidFill>
              </a:defRPr>
            </a:lvl1pPr>
          </a:lstStyle>
          <a:p>
            <a:pPr algn="r" indent="0" marL="0">
              <a:buNone/>
            </a:pPr>
            <a:endParaRPr lang="en-US" sz="26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University logo" descr="شعار الجامعة السورية الخاصة">    </p:cNvPr>
          <p:cNvPicPr>
            <a:picLocks noChangeAspect="1"/>
          </p:cNvPicPr>
          <p:nvPr/>
        </p:nvPicPr>
        <p:blipFill>
          <a:blip r:embed="rId1"/>
          <a:stretch>
            <a:fillRect/>
          </a:stretch>
        </p:blipFill>
        <p:spPr>
          <a:xfrm>
            <a:off x="822960" y="548640"/>
            <a:ext cx="2468880" cy="635508"/>
          </a:xfrm>
          <a:prstGeom prst="rect">
            <a:avLst/>
          </a:prstGeom>
        </p:spPr>
      </p:pic>
      <p:sp>
        <p:nvSpPr>
          <p:cNvPr id="3" name="Text 0"/>
          <p:cNvSpPr txBox="1"/>
          <p:nvPr/>
        </p:nvSpPr>
        <p:spPr>
          <a:xfrm>
            <a:off x="822960" y="1554480"/>
            <a:ext cx="10543032" cy="365760"/>
          </a:xfrm>
          <a:prstGeom prst="rect">
            <a:avLst/>
          </a:prstGeom>
          <a:noFill/>
          <a:ln/>
        </p:spPr>
        <p:txBody>
          <a:bodyPr wrap="square" lIns="0" tIns="0" rIns="0" bIns="0" rtlCol="0" anchor="ctr"/>
          <a:lstStyle/>
          <a:p>
            <a:pPr rtl="1" algn="r" indent="0" marL="0">
              <a:buNone/>
            </a:pPr>
            <a:r>
              <a:rPr lang="ar-SA" altLang="en-US" sz="1600" b="1" dirty="0">
                <a:solidFill>
                  <a:srgbClr val="A29BFE"/>
                </a:solidFill>
              </a:rPr>
              <a:t>السيمنار الأول لمشاريع التخرج</a:t>
            </a:r>
            <a:endParaRPr lang="ar-SA" sz="1600" dirty="0"/>
          </a:p>
        </p:txBody>
      </p:sp>
      <p:sp>
        <p:nvSpPr>
          <p:cNvPr id="4" name="Text 1"/>
          <p:cNvSpPr txBox="1"/>
          <p:nvPr/>
        </p:nvSpPr>
        <p:spPr>
          <a:xfrm>
            <a:off x="822960" y="2011680"/>
            <a:ext cx="10543032" cy="1005840"/>
          </a:xfrm>
          <a:prstGeom prst="rect">
            <a:avLst/>
          </a:prstGeom>
          <a:noFill/>
          <a:ln/>
        </p:spPr>
        <p:txBody>
          <a:bodyPr wrap="square" lIns="0" tIns="0" rIns="0" bIns="0" rtlCol="0" anchor="t"/>
          <a:lstStyle/>
          <a:p>
            <a:pPr rtl="1" algn="r" indent="0" marL="0">
              <a:buNone/>
            </a:pPr>
            <a:r>
              <a:rPr lang="ar-SA" altLang="en-US" sz="4000" b="1" dirty="0">
                <a:solidFill>
                  <a:schemeClr val="bg1"/>
                </a:solidFill>
                <a:latin typeface="+mj-lt" pitchFamily="34" charset="0"/>
                <a:ea typeface="+mj-lt" pitchFamily="34" charset="-122"/>
                <a:cs typeface="+mj-lt" pitchFamily="34" charset="-120"/>
              </a:rPr>
              <a:t>نظام إدارة المعهد الذكي</a:t>
            </a:r>
            <a:endParaRPr lang="ar-SA" sz="4000" dirty="0"/>
          </a:p>
        </p:txBody>
      </p:sp>
      <p:sp>
        <p:nvSpPr>
          <p:cNvPr id="5" name="Text 2"/>
          <p:cNvSpPr txBox="1"/>
          <p:nvPr/>
        </p:nvSpPr>
        <p:spPr>
          <a:xfrm>
            <a:off x="822960" y="3108960"/>
            <a:ext cx="10543032" cy="548640"/>
          </a:xfrm>
          <a:prstGeom prst="rect">
            <a:avLst/>
          </a:prstGeom>
          <a:noFill/>
          <a:ln/>
        </p:spPr>
        <p:txBody>
          <a:bodyPr wrap="square" lIns="0" tIns="0" rIns="0" bIns="0" rtlCol="0" anchor="ctr"/>
          <a:lstStyle/>
          <a:p>
            <a:pPr algn="r" indent="0" marL="0">
              <a:buNone/>
            </a:pPr>
            <a:r>
              <a:rPr lang="en-US" sz="2000" i="1" dirty="0">
                <a:solidFill>
                  <a:srgbClr val="CADCFC"/>
                </a:solidFill>
              </a:rPr>
              <a:t>Smart Institute Management System</a:t>
            </a:r>
            <a:endParaRPr lang="en-US" sz="2000" dirty="0"/>
          </a:p>
        </p:txBody>
      </p:sp>
      <p:sp>
        <p:nvSpPr>
          <p:cNvPr id="6" name="Text 3"/>
          <p:cNvSpPr txBox="1"/>
          <p:nvPr/>
        </p:nvSpPr>
        <p:spPr>
          <a:xfrm>
            <a:off x="822960" y="4206240"/>
            <a:ext cx="10543032" cy="411480"/>
          </a:xfrm>
          <a:prstGeom prst="rect">
            <a:avLst/>
          </a:prstGeom>
          <a:noFill/>
          <a:ln/>
        </p:spPr>
        <p:txBody>
          <a:bodyPr wrap="square" lIns="0" tIns="0" rIns="0" bIns="0" rtlCol="0" anchor="ctr"/>
          <a:lstStyle/>
          <a:p>
            <a:pPr rtl="1" algn="r" indent="0" marL="0">
              <a:buNone/>
            </a:pPr>
            <a:r>
              <a:rPr lang="ar-SA" altLang="en-US" sz="1800" dirty="0">
                <a:solidFill>
                  <a:schemeClr val="bg1"/>
                </a:solidFill>
              </a:rPr>
              <a:t>إعداد الطالبين: إبراهيم نزار خميس  –  عائشة عرفان نشأة</a:t>
            </a:r>
            <a:endParaRPr lang="ar-SA" sz="1800" dirty="0"/>
          </a:p>
        </p:txBody>
      </p:sp>
      <p:sp>
        <p:nvSpPr>
          <p:cNvPr id="7" name="Text 4"/>
          <p:cNvSpPr txBox="1"/>
          <p:nvPr/>
        </p:nvSpPr>
        <p:spPr>
          <a:xfrm>
            <a:off x="822960" y="4709160"/>
            <a:ext cx="10543032" cy="411480"/>
          </a:xfrm>
          <a:prstGeom prst="rect">
            <a:avLst/>
          </a:prstGeom>
          <a:noFill/>
          <a:ln/>
        </p:spPr>
        <p:txBody>
          <a:bodyPr wrap="square" lIns="0" tIns="0" rIns="0" bIns="0" rtlCol="0" anchor="ctr"/>
          <a:lstStyle/>
          <a:p>
            <a:pPr rtl="1" algn="r" indent="0" marL="0">
              <a:buNone/>
            </a:pPr>
            <a:r>
              <a:rPr lang="ar-SA" altLang="en-US" sz="1600" dirty="0">
                <a:solidFill>
                  <a:srgbClr val="CADCFC"/>
                </a:solidFill>
              </a:rPr>
              <a:t>بإشراف: م. رانيا رجب   |   قسم هندسة البرمجيات   |   الفصل الأول 2026-2027</a:t>
            </a:r>
            <a:endParaRPr lang="ar-SA" sz="1600" dirty="0"/>
          </a:p>
        </p:txBody>
      </p:sp>
      <p:sp>
        <p:nvSpPr>
          <p:cNvPr id="8" name="Text 5"/>
          <p:cNvSpPr txBox="1"/>
          <p:nvPr/>
        </p:nvSpPr>
        <p:spPr>
          <a:xfrm>
            <a:off x="822960" y="6080760"/>
            <a:ext cx="10543032" cy="365760"/>
          </a:xfrm>
          <a:prstGeom prst="rect">
            <a:avLst/>
          </a:prstGeom>
          <a:noFill/>
          <a:ln/>
        </p:spPr>
        <p:txBody>
          <a:bodyPr wrap="square" lIns="0" tIns="0" rIns="0" bIns="0" rtlCol="0" anchor="ctr"/>
          <a:lstStyle/>
          <a:p>
            <a:pPr rtl="1" algn="r" indent="0" marL="0">
              <a:buNone/>
            </a:pPr>
            <a:r>
              <a:rPr lang="ar-SA" altLang="en-US" sz="1100" dirty="0">
                <a:solidFill>
                  <a:srgbClr val="8FA3C4"/>
                </a:solidFill>
              </a:rPr>
              <a:t>الجامعة السورية الخاصة  |  كلية هندسة الذكاء الاصطناعي  |  السيمنار الأول</a:t>
            </a:r>
            <a:endParaRPr lang="ar-SA"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نظرة عامة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الهدف من المشروع</a:t>
            </a:r>
            <a:endParaRPr lang="ar-SA" sz="2600" dirty="0"/>
          </a:p>
        </p:txBody>
      </p:sp>
      <p:sp>
        <p:nvSpPr>
          <p:cNvPr id="5" name="Goal statement card"/>
          <p:cNvSpPr/>
          <p:nvPr/>
        </p:nvSpPr>
        <p:spPr>
          <a:xfrm>
            <a:off x="822960" y="1600200"/>
            <a:ext cx="10543032" cy="1143000"/>
          </a:xfrm>
          <a:prstGeom prst="roundRect">
            <a:avLst>
              <a:gd name="adj" fmla="val 8000"/>
            </a:avLst>
          </a:prstGeom>
          <a:solidFill>
            <a:srgbClr val="16294A"/>
          </a:solidFill>
          <a:ln/>
        </p:spPr>
      </p:sp>
      <p:sp>
        <p:nvSpPr>
          <p:cNvPr id="6" name="Text 3"/>
          <p:cNvSpPr txBox="1"/>
          <p:nvPr/>
        </p:nvSpPr>
        <p:spPr>
          <a:xfrm>
            <a:off x="1143000" y="1691640"/>
            <a:ext cx="9902952" cy="960120"/>
          </a:xfrm>
          <a:prstGeom prst="rect">
            <a:avLst/>
          </a:prstGeom>
          <a:noFill/>
          <a:ln/>
        </p:spPr>
        <p:txBody>
          <a:bodyPr wrap="square" lIns="0" tIns="0" rIns="0" bIns="0" rtlCol="0" anchor="ctr"/>
          <a:lstStyle/>
          <a:p>
            <a:pPr rtl="1" algn="r" indent="0" marL="0">
              <a:buNone/>
            </a:pPr>
            <a:r>
              <a:rPr lang="ar-SA" altLang="en-US" sz="1800" b="1" dirty="0">
                <a:solidFill>
                  <a:schemeClr val="bg1"/>
                </a:solidFill>
              </a:rPr>
              <a:t>منصة ويب عربية موحّدة تجمع الإدارة الأكاديمية والتشغيلية والمالية للمعهد، وتدعمها ميزات الذكاء الاصطناعي لمتابعة الطلاب</a:t>
            </a:r>
            <a:endParaRPr lang="ar-SA" sz="1800" dirty="0"/>
          </a:p>
        </p:txBody>
      </p:sp>
      <p:sp>
        <p:nvSpPr>
          <p:cNvPr id="7" name="Text 4"/>
          <p:cNvSpPr txBox="1"/>
          <p:nvPr/>
        </p:nvSpPr>
        <p:spPr>
          <a:xfrm>
            <a:off x="822960" y="3017520"/>
            <a:ext cx="10543032" cy="411480"/>
          </a:xfrm>
          <a:prstGeom prst="rect">
            <a:avLst/>
          </a:prstGeom>
          <a:noFill/>
          <a:ln/>
        </p:spPr>
        <p:txBody>
          <a:bodyPr wrap="square" lIns="0" tIns="0" rIns="0" bIns="0" rtlCol="0" anchor="ctr"/>
          <a:lstStyle/>
          <a:p>
            <a:pPr rtl="1" algn="r" indent="0" marL="0">
              <a:buNone/>
            </a:pPr>
            <a:r>
              <a:rPr lang="ar-SA" altLang="en-US" sz="1800" b="1" dirty="0">
                <a:solidFill>
                  <a:schemeClr val="accent1"/>
                </a:solidFill>
                <a:latin typeface="+mj-lt" pitchFamily="34" charset="0"/>
                <a:ea typeface="+mj-lt" pitchFamily="34" charset="-122"/>
                <a:cs typeface="+mj-lt" pitchFamily="34" charset="-120"/>
              </a:rPr>
              <a:t>الفجوات التي يعالجها المشروع</a:t>
            </a:r>
            <a:endParaRPr lang="ar-SA" sz="1800" dirty="0"/>
          </a:p>
        </p:txBody>
      </p:sp>
      <p:sp>
        <p:nvSpPr>
          <p:cNvPr id="8" name="Gap card 1"/>
          <p:cNvSpPr/>
          <p:nvPr/>
        </p:nvSpPr>
        <p:spPr>
          <a:xfrm>
            <a:off x="822960" y="3611880"/>
            <a:ext cx="3319272" cy="26974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 name="Gap header 1"/>
          <p:cNvSpPr/>
          <p:nvPr/>
        </p:nvSpPr>
        <p:spPr>
          <a:xfrm>
            <a:off x="822960" y="3611880"/>
            <a:ext cx="3319272" cy="502920"/>
          </a:xfrm>
          <a:prstGeom prst="rect">
            <a:avLst/>
          </a:prstGeom>
          <a:solidFill>
            <a:schemeClr val="accent1"/>
          </a:solidFill>
          <a:ln/>
        </p:spPr>
      </p:sp>
      <p:sp>
        <p:nvSpPr>
          <p:cNvPr id="10" name="Text 7"/>
          <p:cNvSpPr txBox="1"/>
          <p:nvPr/>
        </p:nvSpPr>
        <p:spPr>
          <a:xfrm>
            <a:off x="1005840" y="3611880"/>
            <a:ext cx="2953512" cy="50292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التعقيد والتكلفة</a:t>
            </a:r>
            <a:endParaRPr lang="ar-SA" sz="1600" dirty="0"/>
          </a:p>
        </p:txBody>
      </p:sp>
      <p:sp>
        <p:nvSpPr>
          <p:cNvPr id="11" name="Text 8"/>
          <p:cNvSpPr txBox="1"/>
          <p:nvPr/>
        </p:nvSpPr>
        <p:spPr>
          <a:xfrm>
            <a:off x="1051560" y="4297680"/>
            <a:ext cx="2862072" cy="182880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الأنظمة الشاملة معقدة ومكلفة جداً للمؤسسات الصغيرة والمتوسطة.</a:t>
            </a:r>
            <a:endParaRPr lang="ar-SA" sz="1500" dirty="0"/>
          </a:p>
        </p:txBody>
      </p:sp>
      <p:sp>
        <p:nvSpPr>
          <p:cNvPr id="12" name="Gap card 2"/>
          <p:cNvSpPr/>
          <p:nvPr/>
        </p:nvSpPr>
        <p:spPr>
          <a:xfrm>
            <a:off x="4434840" y="3611880"/>
            <a:ext cx="3319272" cy="26974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3" name="Gap header 2"/>
          <p:cNvSpPr/>
          <p:nvPr/>
        </p:nvSpPr>
        <p:spPr>
          <a:xfrm>
            <a:off x="4434840" y="3611880"/>
            <a:ext cx="3319272" cy="502920"/>
          </a:xfrm>
          <a:prstGeom prst="rect">
            <a:avLst/>
          </a:prstGeom>
          <a:solidFill>
            <a:schemeClr val="accent1"/>
          </a:solidFill>
          <a:ln/>
        </p:spPr>
      </p:sp>
      <p:sp>
        <p:nvSpPr>
          <p:cNvPr id="14" name="Text 11"/>
          <p:cNvSpPr txBox="1"/>
          <p:nvPr/>
        </p:nvSpPr>
        <p:spPr>
          <a:xfrm>
            <a:off x="4617720" y="3611880"/>
            <a:ext cx="2953512" cy="50292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غياب الذكاء الاصطناعي</a:t>
            </a:r>
            <a:endParaRPr lang="ar-SA" sz="1600" dirty="0"/>
          </a:p>
        </p:txBody>
      </p:sp>
      <p:sp>
        <p:nvSpPr>
          <p:cNvPr id="15" name="Text 12"/>
          <p:cNvSpPr txBox="1"/>
          <p:nvPr/>
        </p:nvSpPr>
        <p:spPr>
          <a:xfrm>
            <a:off x="4663440" y="4297680"/>
            <a:ext cx="2862072" cy="1828800"/>
          </a:xfrm>
          <a:prstGeom prst="rect">
            <a:avLst/>
          </a:prstGeom>
          <a:noFill/>
          <a:ln/>
        </p:spPr>
        <p:txBody>
          <a:bodyPr wrap="square" lIns="0" tIns="0" rIns="0" bIns="0" rtlCol="0" anchor="t"/>
          <a:lstStyle/>
          <a:p>
            <a:pPr rtl="1" algn="r" indent="0" marL="0">
              <a:buNone/>
            </a:pPr>
            <a:r>
              <a:rPr lang="ar-SA" altLang="en-US" sz="1500" dirty="0">
                <a:solidFill>
                  <a:schemeClr val="tx1"/>
                </a:solidFill>
              </a:rPr>
              <a:t>لا تنبؤ مبكر بتعثر الطلاب ولا مساعد ذكي يعتمد على بيانات المعهد نفسه.</a:t>
            </a:r>
            <a:endParaRPr lang="ar-SA" sz="1500" dirty="0"/>
          </a:p>
        </p:txBody>
      </p:sp>
      <p:sp>
        <p:nvSpPr>
          <p:cNvPr id="16" name="Gap card 3"/>
          <p:cNvSpPr/>
          <p:nvPr/>
        </p:nvSpPr>
        <p:spPr>
          <a:xfrm>
            <a:off x="8046720" y="3611880"/>
            <a:ext cx="3319272" cy="26974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7" name="Gap header 3"/>
          <p:cNvSpPr/>
          <p:nvPr/>
        </p:nvSpPr>
        <p:spPr>
          <a:xfrm>
            <a:off x="8046720" y="3611880"/>
            <a:ext cx="3319272" cy="502920"/>
          </a:xfrm>
          <a:prstGeom prst="rect">
            <a:avLst/>
          </a:prstGeom>
          <a:solidFill>
            <a:schemeClr val="accent1"/>
          </a:solidFill>
          <a:ln/>
        </p:spPr>
      </p:sp>
      <p:sp>
        <p:nvSpPr>
          <p:cNvPr id="18" name="Text 15"/>
          <p:cNvSpPr txBox="1"/>
          <p:nvPr/>
        </p:nvSpPr>
        <p:spPr>
          <a:xfrm>
            <a:off x="8229600" y="3611880"/>
            <a:ext cx="2953512" cy="50292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فصل الأكاديمي عن المالي</a:t>
            </a:r>
            <a:endParaRPr lang="ar-SA" sz="1600" dirty="0"/>
          </a:p>
        </p:txBody>
      </p:sp>
      <p:sp>
        <p:nvSpPr>
          <p:cNvPr id="19" name="Text 16"/>
          <p:cNvSpPr txBox="1"/>
          <p:nvPr/>
        </p:nvSpPr>
        <p:spPr>
          <a:xfrm>
            <a:off x="8275320" y="4297680"/>
            <a:ext cx="2862072" cy="1828800"/>
          </a:xfrm>
          <a:prstGeom prst="rect">
            <a:avLst/>
          </a:prstGeom>
          <a:noFill/>
          <a:ln/>
        </p:spPr>
        <p:txBody>
          <a:bodyPr wrap="square" lIns="0" tIns="0" rIns="0" bIns="0" rtlCol="0" anchor="t"/>
          <a:lstStyle/>
          <a:p>
            <a:pPr rtl="1" algn="r" indent="0" marL="0">
              <a:buNone/>
            </a:pPr>
            <a:r>
              <a:rPr lang="ar-SA" altLang="en-US" sz="1500" dirty="0">
                <a:solidFill>
                  <a:schemeClr val="tx1"/>
                </a:solidFill>
              </a:rPr>
              <a:t>أنظمة LMS مثل Moodle تهمل الأقساط والرواتب والمصاريف، وتضعف إدارة الحضور.</a:t>
            </a:r>
            <a:endParaRPr lang="ar-SA" sz="15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ما أُنجز</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المراحل المنفذة سابقاً</a:t>
            </a:r>
            <a:endParaRPr lang="ar-SA" sz="2600" dirty="0"/>
          </a:p>
        </p:txBody>
      </p:sp>
      <p:sp>
        <p:nvSpPr>
          <p:cNvPr id="5" name="Phase card 1"/>
          <p:cNvSpPr/>
          <p:nvPr/>
        </p:nvSpPr>
        <p:spPr>
          <a:xfrm>
            <a:off x="6245352"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Phase badge 1"/>
          <p:cNvSpPr/>
          <p:nvPr/>
        </p:nvSpPr>
        <p:spPr>
          <a:xfrm>
            <a:off x="10634472" y="1965960"/>
            <a:ext cx="475488" cy="475488"/>
          </a:xfrm>
          <a:prstGeom prst="ellipse">
            <a:avLst/>
          </a:prstGeom>
          <a:solidFill>
            <a:schemeClr val="accent1"/>
          </a:solidFill>
          <a:ln/>
        </p:spPr>
      </p:sp>
      <p:sp>
        <p:nvSpPr>
          <p:cNvPr id="7" name="Text 4"/>
          <p:cNvSpPr txBox="1"/>
          <p:nvPr/>
        </p:nvSpPr>
        <p:spPr>
          <a:xfrm>
            <a:off x="10634472"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ext 5"/>
          <p:cNvSpPr txBox="1"/>
          <p:nvPr/>
        </p:nvSpPr>
        <p:spPr>
          <a:xfrm>
            <a:off x="6519672"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دراسة المتطلبات</a:t>
            </a:r>
            <a:endParaRPr lang="ar-SA" sz="1900" dirty="0"/>
          </a:p>
        </p:txBody>
      </p:sp>
      <p:sp>
        <p:nvSpPr>
          <p:cNvPr id="9" name="Text 6"/>
          <p:cNvSpPr txBox="1"/>
          <p:nvPr/>
        </p:nvSpPr>
        <p:spPr>
          <a:xfrm>
            <a:off x="6519672"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تحديد النطاق والمستخدمين وحالات الاستخدام من 1 إلى 20</a:t>
            </a:r>
            <a:endParaRPr lang="ar-SA" sz="1500" dirty="0"/>
          </a:p>
        </p:txBody>
      </p:sp>
      <p:sp>
        <p:nvSpPr>
          <p:cNvPr id="10" name="Phase card 2"/>
          <p:cNvSpPr/>
          <p:nvPr/>
        </p:nvSpPr>
        <p:spPr>
          <a:xfrm>
            <a:off x="822960"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Phase badge 2"/>
          <p:cNvSpPr/>
          <p:nvPr/>
        </p:nvSpPr>
        <p:spPr>
          <a:xfrm>
            <a:off x="5212080" y="1965960"/>
            <a:ext cx="475488" cy="475488"/>
          </a:xfrm>
          <a:prstGeom prst="ellipse">
            <a:avLst/>
          </a:prstGeom>
          <a:solidFill>
            <a:schemeClr val="accent1"/>
          </a:solidFill>
          <a:ln/>
        </p:spPr>
      </p:sp>
      <p:sp>
        <p:nvSpPr>
          <p:cNvPr id="12" name="Text 9"/>
          <p:cNvSpPr txBox="1"/>
          <p:nvPr/>
        </p:nvSpPr>
        <p:spPr>
          <a:xfrm>
            <a:off x="5212080"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ext 10"/>
          <p:cNvSpPr txBox="1"/>
          <p:nvPr/>
        </p:nvSpPr>
        <p:spPr>
          <a:xfrm>
            <a:off x="1097280"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 حالات الاستخدام</a:t>
            </a:r>
            <a:endParaRPr lang="ar-SA" sz="1900" dirty="0"/>
          </a:p>
        </p:txBody>
      </p:sp>
      <p:sp>
        <p:nvSpPr>
          <p:cNvPr id="14" name="Text 11"/>
          <p:cNvSpPr txBox="1"/>
          <p:nvPr/>
        </p:nvSpPr>
        <p:spPr>
          <a:xfrm>
            <a:off x="1097280"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المخطط العام + وثائق التوصيف التفصيلية للوظائف ذات الأولوية العالية</a:t>
            </a:r>
            <a:endParaRPr lang="ar-SA" sz="1500" dirty="0"/>
          </a:p>
        </p:txBody>
      </p:sp>
      <p:sp>
        <p:nvSpPr>
          <p:cNvPr id="15" name="Phase card 3"/>
          <p:cNvSpPr/>
          <p:nvPr/>
        </p:nvSpPr>
        <p:spPr>
          <a:xfrm>
            <a:off x="6245352"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Phase badge 3"/>
          <p:cNvSpPr/>
          <p:nvPr/>
        </p:nvSpPr>
        <p:spPr>
          <a:xfrm>
            <a:off x="10634472" y="4480560"/>
            <a:ext cx="475488" cy="475488"/>
          </a:xfrm>
          <a:prstGeom prst="ellipse">
            <a:avLst/>
          </a:prstGeom>
          <a:solidFill>
            <a:schemeClr val="accent1"/>
          </a:solidFill>
          <a:ln/>
        </p:spPr>
      </p:sp>
      <p:sp>
        <p:nvSpPr>
          <p:cNvPr id="17" name="Text 14"/>
          <p:cNvSpPr txBox="1"/>
          <p:nvPr/>
        </p:nvSpPr>
        <p:spPr>
          <a:xfrm>
            <a:off x="10634472"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ext 15"/>
          <p:cNvSpPr txBox="1"/>
          <p:nvPr/>
        </p:nvSpPr>
        <p:spPr>
          <a:xfrm>
            <a:off x="6519672"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تصميم قاعدة البيانات</a:t>
            </a:r>
            <a:endParaRPr lang="ar-SA" sz="1900" dirty="0"/>
          </a:p>
        </p:txBody>
      </p:sp>
      <p:sp>
        <p:nvSpPr>
          <p:cNvPr id="19" name="Text 16"/>
          <p:cNvSpPr txBox="1"/>
          <p:nvPr/>
        </p:nvSpPr>
        <p:spPr>
          <a:xfrm>
            <a:off x="6519672"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 ERD والمخطط العلائقي لـ 12 جدولاً</a:t>
            </a:r>
            <a:endParaRPr lang="ar-SA" sz="1500" dirty="0"/>
          </a:p>
        </p:txBody>
      </p:sp>
      <p:sp>
        <p:nvSpPr>
          <p:cNvPr id="20" name="Phase card 4"/>
          <p:cNvSpPr/>
          <p:nvPr/>
        </p:nvSpPr>
        <p:spPr>
          <a:xfrm>
            <a:off x="822960"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1" name="Phase badge 4"/>
          <p:cNvSpPr/>
          <p:nvPr/>
        </p:nvSpPr>
        <p:spPr>
          <a:xfrm>
            <a:off x="5212080" y="4480560"/>
            <a:ext cx="475488" cy="475488"/>
          </a:xfrm>
          <a:prstGeom prst="ellipse">
            <a:avLst/>
          </a:prstGeom>
          <a:solidFill>
            <a:schemeClr val="accent1"/>
          </a:solidFill>
          <a:ln/>
        </p:spPr>
      </p:sp>
      <p:sp>
        <p:nvSpPr>
          <p:cNvPr id="22" name="Text 19"/>
          <p:cNvSpPr txBox="1"/>
          <p:nvPr/>
        </p:nvSpPr>
        <p:spPr>
          <a:xfrm>
            <a:off x="5212080"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Text 20"/>
          <p:cNvSpPr txBox="1"/>
          <p:nvPr/>
        </p:nvSpPr>
        <p:spPr>
          <a:xfrm>
            <a:off x="1097280"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مخططات السلوك والبنية</a:t>
            </a:r>
            <a:endParaRPr lang="ar-SA" sz="1900" dirty="0"/>
          </a:p>
        </p:txBody>
      </p:sp>
      <p:sp>
        <p:nvSpPr>
          <p:cNvPr id="24" name="Text 21"/>
          <p:cNvSpPr txBox="1"/>
          <p:nvPr/>
        </p:nvSpPr>
        <p:spPr>
          <a:xfrm>
            <a:off x="1097280"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مخططات التسلسل والنشاط للوظائف العالية، والبنية المعمارية للنظام</a:t>
            </a:r>
            <a:endParaRPr lang="ar-SA" sz="15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المقارنة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الدراسة المرجعية: مقارنة مع أنظمة مشابهة</a:t>
            </a:r>
            <a:endParaRPr lang="ar-SA" sz="26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914400"/>
        </p:xfrm>
        <a:graphic>
          <a:graphicData uri="http://schemas.openxmlformats.org/drawingml/2006/table">
            <a:tbl>
              <a:tblPr/>
              <a:tblGrid>
                <a:gridCol w="1417320"/>
                <a:gridCol w="1371600"/>
                <a:gridCol w="1371600"/>
                <a:gridCol w="1371600"/>
                <a:gridCol w="1371600"/>
                <a:gridCol w="3639312"/>
              </a:tblGrid>
              <a:tr h="475488">
                <a:tc>
                  <a:txBody>
                    <a:bodyPr/>
                    <a:lstStyle/>
                    <a:p>
                      <a:pPr rtl="1" algn="ctr" indent="0" marL="0">
                        <a:buNone/>
                      </a:pPr>
                      <a:r>
                        <a:rPr lang="ar-SA" altLang="en-US" sz="1400" b="1" dirty="0">
                          <a:solidFill>
                            <a:srgbClr val="FFFFFF"/>
                          </a:solidFill>
                          <a:latin typeface="Calibri" pitchFamily="34" charset="0"/>
                          <a:ea typeface="Calibri" pitchFamily="34" charset="-122"/>
                          <a:cs typeface="Calibri" pitchFamily="34" charset="-120"/>
                        </a:rPr>
                        <a:t>المشروع</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629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Teachworks</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Fedena</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Classroom</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Moodle</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rtl="1" algn="r" indent="0" marL="0">
                        <a:buNone/>
                      </a:pPr>
                      <a:r>
                        <a:rPr lang="ar-SA" altLang="en-US" sz="1400" b="1" dirty="0">
                          <a:solidFill>
                            <a:srgbClr val="FFFFFF"/>
                          </a:solidFill>
                          <a:latin typeface="Calibri" pitchFamily="34" charset="0"/>
                          <a:ea typeface="Calibri" pitchFamily="34" charset="-122"/>
                          <a:cs typeface="Calibri" pitchFamily="34" charset="-120"/>
                        </a:rPr>
                        <a:t>الميزة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الكورسات والمواد التعليمية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الحضور والغياب</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الأقساط والفوترة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الرواتب والمصاريف</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إدارة القاعات والمختبرات</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التنبؤ بتعثر الطلاب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مساعد ذكي وتوصيات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22960" y="5669280"/>
            <a:ext cx="10543032" cy="365760"/>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 متوفر   ~ جزئي   ✗ غير متوفر   * ميزات الذكاء الاصطناعي (حالات الاستخدام 21 إلى 23) ضمن المرحلة القادمة</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المستخدمون</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المستخدمون وحالات الاستخدام</a:t>
            </a:r>
            <a:endParaRPr lang="ar-SA" sz="2600" dirty="0"/>
          </a:p>
        </p:txBody>
      </p:sp>
      <p:sp>
        <p:nvSpPr>
          <p:cNvPr id="5" name="Use case diagram card"/>
          <p:cNvSpPr/>
          <p:nvPr/>
        </p:nvSpPr>
        <p:spPr>
          <a:xfrm>
            <a:off x="822960" y="1600200"/>
            <a:ext cx="4480560" cy="4709160"/>
          </a:xfrm>
          <a:prstGeom prst="roundRect">
            <a:avLst>
              <a:gd name="adj" fmla="val 204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حالات الاستخدام" descr="مخطط حالات الاستخدام">    </p:cNvPr>
          <p:cNvPicPr>
            <a:picLocks noChangeAspect="1"/>
          </p:cNvPicPr>
          <p:nvPr/>
        </p:nvPicPr>
        <p:blipFill>
          <a:blip r:embed="rId1"/>
          <a:stretch>
            <a:fillRect/>
          </a:stretch>
        </p:blipFill>
        <p:spPr>
          <a:xfrm>
            <a:off x="1168801" y="1737360"/>
            <a:ext cx="3788877" cy="4434840"/>
          </a:xfrm>
          <a:prstGeom prst="rect">
            <a:avLst/>
          </a:prstGeom>
        </p:spPr>
      </p:pic>
      <p:sp>
        <p:nvSpPr>
          <p:cNvPr id="7" name="User role card 1"/>
          <p:cNvSpPr/>
          <p:nvPr/>
        </p:nvSpPr>
        <p:spPr>
          <a:xfrm>
            <a:off x="5623560" y="1600200"/>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Role badge 1"/>
          <p:cNvSpPr/>
          <p:nvPr/>
        </p:nvSpPr>
        <p:spPr>
          <a:xfrm>
            <a:off x="10680192" y="1783080"/>
            <a:ext cx="411480" cy="411480"/>
          </a:xfrm>
          <a:prstGeom prst="ellipse">
            <a:avLst/>
          </a:prstGeom>
          <a:solidFill>
            <a:schemeClr val="accent1"/>
          </a:solidFill>
          <a:ln/>
        </p:spPr>
      </p:sp>
      <p:sp>
        <p:nvSpPr>
          <p:cNvPr id="9" name="Text 5"/>
          <p:cNvSpPr txBox="1"/>
          <p:nvPr/>
        </p:nvSpPr>
        <p:spPr>
          <a:xfrm>
            <a:off x="10680192"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0" name="Text 6"/>
          <p:cNvSpPr txBox="1"/>
          <p:nvPr/>
        </p:nvSpPr>
        <p:spPr>
          <a:xfrm>
            <a:off x="5897880" y="1783080"/>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مدير النظام (حالات 02 إلى 09)</a:t>
            </a:r>
            <a:endParaRPr lang="ar-SA" sz="1700" dirty="0"/>
          </a:p>
        </p:txBody>
      </p:sp>
      <p:sp>
        <p:nvSpPr>
          <p:cNvPr id="11" name="Text 7"/>
          <p:cNvSpPr txBox="1"/>
          <p:nvPr/>
        </p:nvSpPr>
        <p:spPr>
          <a:xfrm>
            <a:off x="5897880" y="2313432"/>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المستخدمون، القاعات، الكورسات، الدفعات، الأقساط، الرواتب، المصاريف، التقارير</a:t>
            </a:r>
            <a:endParaRPr lang="ar-SA" sz="1400" dirty="0"/>
          </a:p>
        </p:txBody>
      </p:sp>
      <p:sp>
        <p:nvSpPr>
          <p:cNvPr id="12" name="User role card 2"/>
          <p:cNvSpPr/>
          <p:nvPr/>
        </p:nvSpPr>
        <p:spPr>
          <a:xfrm>
            <a:off x="5623560" y="3232404"/>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3" name="Role badge 2"/>
          <p:cNvSpPr/>
          <p:nvPr/>
        </p:nvSpPr>
        <p:spPr>
          <a:xfrm>
            <a:off x="10680192" y="3415284"/>
            <a:ext cx="411480" cy="411480"/>
          </a:xfrm>
          <a:prstGeom prst="ellipse">
            <a:avLst/>
          </a:prstGeom>
          <a:solidFill>
            <a:schemeClr val="accent1"/>
          </a:solidFill>
          <a:ln/>
        </p:spPr>
      </p:sp>
      <p:sp>
        <p:nvSpPr>
          <p:cNvPr id="14" name="Text 10"/>
          <p:cNvSpPr txBox="1"/>
          <p:nvPr/>
        </p:nvSpPr>
        <p:spPr>
          <a:xfrm>
            <a:off x="10680192" y="34152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Text 11"/>
          <p:cNvSpPr txBox="1"/>
          <p:nvPr/>
        </p:nvSpPr>
        <p:spPr>
          <a:xfrm>
            <a:off x="5897880" y="3415284"/>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المدرّس (حالات 10 إلى 14)</a:t>
            </a:r>
            <a:endParaRPr lang="ar-SA" sz="1700" dirty="0"/>
          </a:p>
        </p:txBody>
      </p:sp>
      <p:sp>
        <p:nvSpPr>
          <p:cNvPr id="16" name="Text 12"/>
          <p:cNvSpPr txBox="1"/>
          <p:nvPr/>
        </p:nvSpPr>
        <p:spPr>
          <a:xfrm>
            <a:off x="5897880" y="3945636"/>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الجدول، الحضور والغياب، رفع المواد، العلامات والتقييمات، الملاحظات</a:t>
            </a:r>
            <a:endParaRPr lang="ar-SA" sz="1400" dirty="0"/>
          </a:p>
        </p:txBody>
      </p:sp>
      <p:sp>
        <p:nvSpPr>
          <p:cNvPr id="17" name="User role card 3"/>
          <p:cNvSpPr/>
          <p:nvPr/>
        </p:nvSpPr>
        <p:spPr>
          <a:xfrm>
            <a:off x="5623560" y="4864608"/>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8" name="Role badge 3"/>
          <p:cNvSpPr/>
          <p:nvPr/>
        </p:nvSpPr>
        <p:spPr>
          <a:xfrm>
            <a:off x="10680192" y="5047488"/>
            <a:ext cx="411480" cy="411480"/>
          </a:xfrm>
          <a:prstGeom prst="ellipse">
            <a:avLst/>
          </a:prstGeom>
          <a:solidFill>
            <a:schemeClr val="accent1"/>
          </a:solidFill>
          <a:ln/>
        </p:spPr>
      </p:sp>
      <p:sp>
        <p:nvSpPr>
          <p:cNvPr id="19" name="Text 15"/>
          <p:cNvSpPr txBox="1"/>
          <p:nvPr/>
        </p:nvSpPr>
        <p:spPr>
          <a:xfrm>
            <a:off x="10680192" y="50474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Text 16"/>
          <p:cNvSpPr txBox="1"/>
          <p:nvPr/>
        </p:nvSpPr>
        <p:spPr>
          <a:xfrm>
            <a:off x="5897880" y="5047488"/>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الطالب (حالات 15 إلى 20)</a:t>
            </a:r>
            <a:endParaRPr lang="ar-SA" sz="1700" dirty="0"/>
          </a:p>
        </p:txBody>
      </p:sp>
      <p:sp>
        <p:nvSpPr>
          <p:cNvPr id="21" name="Text 17"/>
          <p:cNvSpPr txBox="1"/>
          <p:nvPr/>
        </p:nvSpPr>
        <p:spPr>
          <a:xfrm>
            <a:off x="5897880" y="5577840"/>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تصفح الكورسات والتسجيل، الجدول، الحضور، العلامات، المواد، السجل المالي</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التقنيات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البنية المعمارية والأدوات المستخدمة</a:t>
            </a:r>
            <a:endParaRPr lang="ar-SA" sz="2600" dirty="0"/>
          </a:p>
        </p:txBody>
      </p:sp>
      <p:sp>
        <p:nvSpPr>
          <p:cNvPr id="5" name="Architecture diagram card"/>
          <p:cNvSpPr/>
          <p:nvPr/>
        </p:nvSpPr>
        <p:spPr>
          <a:xfrm>
            <a:off x="822960" y="1600200"/>
            <a:ext cx="6400800" cy="4709160"/>
          </a:xfrm>
          <a:prstGeom prst="roundRect">
            <a:avLst>
              <a:gd name="adj" fmla="val 1942"/>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البنية المعمارية" descr="مخطط البنية المعمارية">    </p:cNvPr>
          <p:cNvPicPr>
            <a:picLocks noChangeAspect="1"/>
          </p:cNvPicPr>
          <p:nvPr/>
        </p:nvPicPr>
        <p:blipFill>
          <a:blip r:embed="rId1"/>
          <a:stretch>
            <a:fillRect/>
          </a:stretch>
        </p:blipFill>
        <p:spPr>
          <a:xfrm>
            <a:off x="960120" y="1826217"/>
            <a:ext cx="6126480" cy="4257126"/>
          </a:xfrm>
          <a:prstGeom prst="rect">
            <a:avLst/>
          </a:prstGeom>
        </p:spPr>
      </p:pic>
      <p:sp>
        <p:nvSpPr>
          <p:cNvPr id="7" name="Tool card 1"/>
          <p:cNvSpPr/>
          <p:nvPr/>
        </p:nvSpPr>
        <p:spPr>
          <a:xfrm>
            <a:off x="7543800" y="1600200"/>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Text 4"/>
          <p:cNvSpPr txBox="1"/>
          <p:nvPr/>
        </p:nvSpPr>
        <p:spPr>
          <a:xfrm>
            <a:off x="7772400" y="1673352"/>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Laravel 12 (PHP 8.2+)</a:t>
            </a:r>
            <a:endParaRPr lang="en-US" sz="1600" dirty="0"/>
          </a:p>
        </p:txBody>
      </p:sp>
      <p:sp>
        <p:nvSpPr>
          <p:cNvPr id="9" name="Text 5"/>
          <p:cNvSpPr txBox="1"/>
          <p:nvPr/>
        </p:nvSpPr>
        <p:spPr>
          <a:xfrm>
            <a:off x="7772400" y="2057400"/>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الخادم والمنطق والصلاحيات</a:t>
            </a:r>
            <a:endParaRPr lang="ar-SA" sz="1300" dirty="0"/>
          </a:p>
        </p:txBody>
      </p:sp>
      <p:sp>
        <p:nvSpPr>
          <p:cNvPr id="10" name="Tool card 2"/>
          <p:cNvSpPr/>
          <p:nvPr/>
        </p:nvSpPr>
        <p:spPr>
          <a:xfrm>
            <a:off x="7543800" y="2569464"/>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Text 7"/>
          <p:cNvSpPr txBox="1"/>
          <p:nvPr/>
        </p:nvSpPr>
        <p:spPr>
          <a:xfrm>
            <a:off x="7772400" y="2642616"/>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Vue 3 + Inertia 2</a:t>
            </a:r>
            <a:endParaRPr lang="en-US" sz="1600" dirty="0"/>
          </a:p>
        </p:txBody>
      </p:sp>
      <p:sp>
        <p:nvSpPr>
          <p:cNvPr id="12" name="Text 8"/>
          <p:cNvSpPr txBox="1"/>
          <p:nvPr/>
        </p:nvSpPr>
        <p:spPr>
          <a:xfrm>
            <a:off x="7772400" y="3026664"/>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واجهة تفاعلية بلا API منفصل</a:t>
            </a:r>
            <a:endParaRPr lang="ar-SA" sz="1300" dirty="0"/>
          </a:p>
        </p:txBody>
      </p:sp>
      <p:sp>
        <p:nvSpPr>
          <p:cNvPr id="13" name="Tool card 3"/>
          <p:cNvSpPr/>
          <p:nvPr/>
        </p:nvSpPr>
        <p:spPr>
          <a:xfrm>
            <a:off x="7543800" y="3538728"/>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4" name="Text 10"/>
          <p:cNvSpPr txBox="1"/>
          <p:nvPr/>
        </p:nvSpPr>
        <p:spPr>
          <a:xfrm>
            <a:off x="7772400" y="3611880"/>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Tailwind CSS 3 + Vite 7</a:t>
            </a:r>
            <a:endParaRPr lang="en-US" sz="1600" dirty="0"/>
          </a:p>
        </p:txBody>
      </p:sp>
      <p:sp>
        <p:nvSpPr>
          <p:cNvPr id="15" name="Text 11"/>
          <p:cNvSpPr txBox="1"/>
          <p:nvPr/>
        </p:nvSpPr>
        <p:spPr>
          <a:xfrm>
            <a:off x="7772400" y="3995928"/>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تصميم عربي RTL</a:t>
            </a:r>
            <a:endParaRPr lang="ar-SA" sz="1300" dirty="0"/>
          </a:p>
        </p:txBody>
      </p:sp>
      <p:sp>
        <p:nvSpPr>
          <p:cNvPr id="16" name="Tool card 4"/>
          <p:cNvSpPr/>
          <p:nvPr/>
        </p:nvSpPr>
        <p:spPr>
          <a:xfrm>
            <a:off x="7543800" y="4507992"/>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7" name="Text 13"/>
          <p:cNvSpPr txBox="1"/>
          <p:nvPr/>
        </p:nvSpPr>
        <p:spPr>
          <a:xfrm>
            <a:off x="7772400" y="4581144"/>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PostgreSQL</a:t>
            </a:r>
            <a:endParaRPr lang="en-US" sz="1600" dirty="0"/>
          </a:p>
        </p:txBody>
      </p:sp>
      <p:sp>
        <p:nvSpPr>
          <p:cNvPr id="18" name="Text 14"/>
          <p:cNvSpPr txBox="1"/>
          <p:nvPr/>
        </p:nvSpPr>
        <p:spPr>
          <a:xfrm>
            <a:off x="7772400" y="4965192"/>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قاعدة البيانات العلائقية</a:t>
            </a:r>
            <a:endParaRPr lang="ar-SA" sz="1300" dirty="0"/>
          </a:p>
        </p:txBody>
      </p:sp>
      <p:sp>
        <p:nvSpPr>
          <p:cNvPr id="19" name="Tool card 5"/>
          <p:cNvSpPr/>
          <p:nvPr/>
        </p:nvSpPr>
        <p:spPr>
          <a:xfrm>
            <a:off x="7543800" y="5477256"/>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0" name="Text 16"/>
          <p:cNvSpPr txBox="1"/>
          <p:nvPr/>
        </p:nvSpPr>
        <p:spPr>
          <a:xfrm>
            <a:off x="7772400" y="5550408"/>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Chart.js  |  Python</a:t>
            </a:r>
            <a:endParaRPr lang="en-US" sz="1600" dirty="0"/>
          </a:p>
        </p:txBody>
      </p:sp>
      <p:sp>
        <p:nvSpPr>
          <p:cNvPr id="21" name="Text 17"/>
          <p:cNvSpPr txBox="1"/>
          <p:nvPr/>
        </p:nvSpPr>
        <p:spPr>
          <a:xfrm>
            <a:off x="7772400" y="5934456"/>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المخططات الإحصائية وميزات AI</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البيانات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قاعدة البيانات (ERD)</a:t>
            </a:r>
            <a:endParaRPr lang="ar-SA" sz="2600" dirty="0"/>
          </a:p>
        </p:txBody>
      </p:sp>
      <p:sp>
        <p:nvSpPr>
          <p:cNvPr id="5" name="ERD card"/>
          <p:cNvSpPr/>
          <p:nvPr/>
        </p:nvSpPr>
        <p:spPr>
          <a:xfrm>
            <a:off x="822960" y="1600200"/>
            <a:ext cx="4572000" cy="4709160"/>
          </a:xfrm>
          <a:prstGeom prst="roundRect">
            <a:avLst>
              <a:gd name="adj" fmla="val 200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ERD" descr="مخطط ERD">    </p:cNvPr>
          <p:cNvPicPr>
            <a:picLocks noChangeAspect="1"/>
          </p:cNvPicPr>
          <p:nvPr/>
        </p:nvPicPr>
        <p:blipFill>
          <a:blip r:embed="rId1"/>
          <a:stretch>
            <a:fillRect/>
          </a:stretch>
        </p:blipFill>
        <p:spPr>
          <a:xfrm>
            <a:off x="1103920" y="1737360"/>
            <a:ext cx="4010079" cy="4434840"/>
          </a:xfrm>
          <a:prstGeom prst="rect">
            <a:avLst/>
          </a:prstGeom>
        </p:spPr>
      </p:pic>
      <p:sp>
        <p:nvSpPr>
          <p:cNvPr id="7" name="ERD note card 1"/>
          <p:cNvSpPr/>
          <p:nvPr/>
        </p:nvSpPr>
        <p:spPr>
          <a:xfrm>
            <a:off x="5715000" y="1600200"/>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ERD note header 1"/>
          <p:cNvSpPr/>
          <p:nvPr/>
        </p:nvSpPr>
        <p:spPr>
          <a:xfrm>
            <a:off x="5715000" y="1600200"/>
            <a:ext cx="5650992" cy="457200"/>
          </a:xfrm>
          <a:prstGeom prst="rect">
            <a:avLst/>
          </a:prstGeom>
          <a:solidFill>
            <a:schemeClr val="accent1"/>
          </a:solidFill>
          <a:ln/>
        </p:spPr>
      </p:sp>
      <p:sp>
        <p:nvSpPr>
          <p:cNvPr id="9" name="Text 5"/>
          <p:cNvSpPr txBox="1"/>
          <p:nvPr/>
        </p:nvSpPr>
        <p:spPr>
          <a:xfrm>
            <a:off x="5943600" y="1600200"/>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محور النظام: الدفعة (Batch)</a:t>
            </a:r>
            <a:endParaRPr lang="ar-SA" sz="1600" dirty="0"/>
          </a:p>
        </p:txBody>
      </p:sp>
      <p:sp>
        <p:nvSpPr>
          <p:cNvPr id="10" name="Text 6"/>
          <p:cNvSpPr txBox="1"/>
          <p:nvPr/>
        </p:nvSpPr>
        <p:spPr>
          <a:xfrm>
            <a:off x="5943600" y="2148840"/>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ترتبط بالكورس والمدرّس والقاعة، وتتفرع عنها التسجيلات والحضور والعلامات والمواد</a:t>
            </a:r>
            <a:endParaRPr lang="ar-SA" sz="1400" dirty="0"/>
          </a:p>
        </p:txBody>
      </p:sp>
      <p:sp>
        <p:nvSpPr>
          <p:cNvPr id="11" name="ERD note card 2"/>
          <p:cNvSpPr/>
          <p:nvPr/>
        </p:nvSpPr>
        <p:spPr>
          <a:xfrm>
            <a:off x="5715000" y="3232404"/>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2" name="ERD note header 2"/>
          <p:cNvSpPr/>
          <p:nvPr/>
        </p:nvSpPr>
        <p:spPr>
          <a:xfrm>
            <a:off x="5715000" y="3232404"/>
            <a:ext cx="5650992" cy="457200"/>
          </a:xfrm>
          <a:prstGeom prst="rect">
            <a:avLst/>
          </a:prstGeom>
          <a:solidFill>
            <a:schemeClr val="accent1"/>
          </a:solidFill>
          <a:ln/>
        </p:spPr>
      </p:sp>
      <p:sp>
        <p:nvSpPr>
          <p:cNvPr id="13" name="Text 9"/>
          <p:cNvSpPr txBox="1"/>
          <p:nvPr/>
        </p:nvSpPr>
        <p:spPr>
          <a:xfrm>
            <a:off x="5943600" y="3232404"/>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الجانب المالي</a:t>
            </a:r>
            <a:endParaRPr lang="ar-SA" sz="1600" dirty="0"/>
          </a:p>
        </p:txBody>
      </p:sp>
      <p:sp>
        <p:nvSpPr>
          <p:cNvPr id="14" name="Text 10"/>
          <p:cNvSpPr txBox="1"/>
          <p:nvPr/>
        </p:nvSpPr>
        <p:spPr>
          <a:xfrm>
            <a:off x="5943600" y="3781044"/>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المدفوعات مرتبطة بالتسجيل بإيصال فريد، والرواتب مرتبطة بسجل مصروف مقفل</a:t>
            </a:r>
            <a:endParaRPr lang="ar-SA" sz="1400" dirty="0"/>
          </a:p>
        </p:txBody>
      </p:sp>
      <p:sp>
        <p:nvSpPr>
          <p:cNvPr id="15" name="ERD note card 3"/>
          <p:cNvSpPr/>
          <p:nvPr/>
        </p:nvSpPr>
        <p:spPr>
          <a:xfrm>
            <a:off x="5715000" y="4864608"/>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ERD note header 3"/>
          <p:cNvSpPr/>
          <p:nvPr/>
        </p:nvSpPr>
        <p:spPr>
          <a:xfrm>
            <a:off x="5715000" y="4864608"/>
            <a:ext cx="5650992" cy="457200"/>
          </a:xfrm>
          <a:prstGeom prst="rect">
            <a:avLst/>
          </a:prstGeom>
          <a:solidFill>
            <a:schemeClr val="accent1"/>
          </a:solidFill>
          <a:ln/>
        </p:spPr>
      </p:sp>
      <p:sp>
        <p:nvSpPr>
          <p:cNvPr id="17" name="Text 13"/>
          <p:cNvSpPr txBox="1"/>
          <p:nvPr/>
        </p:nvSpPr>
        <p:spPr>
          <a:xfrm>
            <a:off x="5943600" y="4864608"/>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المستخدمون والأدوار</a:t>
            </a:r>
            <a:endParaRPr lang="ar-SA" sz="1600" dirty="0"/>
          </a:p>
        </p:txBody>
      </p:sp>
      <p:sp>
        <p:nvSpPr>
          <p:cNvPr id="18" name="Text 14"/>
          <p:cNvSpPr txBox="1"/>
          <p:nvPr/>
        </p:nvSpPr>
        <p:spPr>
          <a:xfrm>
            <a:off x="5943600" y="5413248"/>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جدول users واحد بحقل role للمدير والمدرس والطالب مع صلاحيات على مستوى المسارات</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السلوك</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السلوك: مخططات النشاط والتسلسل</a:t>
            </a:r>
            <a:endParaRPr lang="ar-SA" sz="2600" dirty="0"/>
          </a:p>
        </p:txBody>
      </p:sp>
      <p:sp>
        <p:nvSpPr>
          <p:cNvPr id="5" name="Sequence diagram card"/>
          <p:cNvSpPr/>
          <p:nvPr/>
        </p:nvSpPr>
        <p:spPr>
          <a:xfrm>
            <a:off x="822960" y="1600200"/>
            <a:ext cx="6583680" cy="4160520"/>
          </a:xfrm>
          <a:prstGeom prst="roundRect">
            <a:avLst>
              <a:gd name="adj" fmla="val 2198"/>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تسلسل صرف راتب" descr="مخطط تسلسل صرف راتب">    </p:cNvPr>
          <p:cNvPicPr>
            <a:picLocks noChangeAspect="1"/>
          </p:cNvPicPr>
          <p:nvPr/>
        </p:nvPicPr>
        <p:blipFill>
          <a:blip r:embed="rId1"/>
          <a:stretch>
            <a:fillRect/>
          </a:stretch>
        </p:blipFill>
        <p:spPr>
          <a:xfrm>
            <a:off x="1047645" y="1737360"/>
            <a:ext cx="6134309" cy="3886200"/>
          </a:xfrm>
          <a:prstGeom prst="rect">
            <a:avLst/>
          </a:prstGeom>
        </p:spPr>
      </p:pic>
      <p:sp>
        <p:nvSpPr>
          <p:cNvPr id="7" name="Activity diagram card"/>
          <p:cNvSpPr/>
          <p:nvPr/>
        </p:nvSpPr>
        <p:spPr>
          <a:xfrm>
            <a:off x="7680960" y="1600200"/>
            <a:ext cx="3685032" cy="4160520"/>
          </a:xfrm>
          <a:prstGeom prst="roundRect">
            <a:avLst>
              <a:gd name="adj" fmla="val 248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8" name="مخطط نشاط تسجيل دفعة مالية" descr="مخطط نشاط تسجيل دفعة مالية">    </p:cNvPr>
          <p:cNvPicPr>
            <a:picLocks noChangeAspect="1"/>
          </p:cNvPicPr>
          <p:nvPr/>
        </p:nvPicPr>
        <p:blipFill>
          <a:blip r:embed="rId2"/>
          <a:stretch>
            <a:fillRect/>
          </a:stretch>
        </p:blipFill>
        <p:spPr>
          <a:xfrm>
            <a:off x="7878533" y="1737360"/>
            <a:ext cx="3289887" cy="3886200"/>
          </a:xfrm>
          <a:prstGeom prst="rect">
            <a:avLst/>
          </a:prstGeom>
        </p:spPr>
      </p:pic>
      <p:sp>
        <p:nvSpPr>
          <p:cNvPr id="9" name="Text 4"/>
          <p:cNvSpPr txBox="1"/>
          <p:nvPr/>
        </p:nvSpPr>
        <p:spPr>
          <a:xfrm>
            <a:off x="822960" y="5897880"/>
            <a:ext cx="6583680"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تسلسل: صرف راتب</a:t>
            </a:r>
            <a:endParaRPr lang="ar-SA" sz="1400" dirty="0"/>
          </a:p>
        </p:txBody>
      </p:sp>
      <p:sp>
        <p:nvSpPr>
          <p:cNvPr id="10" name="Text 5"/>
          <p:cNvSpPr txBox="1"/>
          <p:nvPr/>
        </p:nvSpPr>
        <p:spPr>
          <a:xfrm>
            <a:off x="7680960" y="5897880"/>
            <a:ext cx="3685032"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نشاط: تسجيل دفعة مالية</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الخطة الزمنية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مراحل التنفيذ وخطة العمل حتى 15/1/2027</a:t>
            </a:r>
            <a:endParaRPr lang="ar-SA" sz="2600" dirty="0"/>
          </a:p>
        </p:txBody>
      </p:sp>
      <p:sp>
        <p:nvSpPr>
          <p:cNvPr id="5" name="Gantt card"/>
          <p:cNvSpPr/>
          <p:nvPr/>
        </p:nvSpPr>
        <p:spPr>
          <a:xfrm>
            <a:off x="822960" y="1600200"/>
            <a:ext cx="10543032" cy="4251960"/>
          </a:xfrm>
          <a:prstGeom prst="roundRect">
            <a:avLst>
              <a:gd name="adj" fmla="val 215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Text 3"/>
          <p:cNvSpPr txBox="1"/>
          <p:nvPr/>
        </p:nvSpPr>
        <p:spPr>
          <a:xfrm>
            <a:off x="80810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a:t>
            </a:r>
            <a:endParaRPr lang="en-US" sz="1000" dirty="0"/>
          </a:p>
        </p:txBody>
      </p:sp>
      <p:sp>
        <p:nvSpPr>
          <p:cNvPr id="7" name="Text 4"/>
          <p:cNvSpPr txBox="1"/>
          <p:nvPr/>
        </p:nvSpPr>
        <p:spPr>
          <a:xfrm>
            <a:off x="76123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W2</a:t>
            </a:r>
            <a:endParaRPr lang="en-US" sz="1000" dirty="0"/>
          </a:p>
        </p:txBody>
      </p:sp>
      <p:sp>
        <p:nvSpPr>
          <p:cNvPr id="8" name="Text 5"/>
          <p:cNvSpPr txBox="1"/>
          <p:nvPr/>
        </p:nvSpPr>
        <p:spPr>
          <a:xfrm>
            <a:off x="71437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W3</a:t>
            </a:r>
            <a:endParaRPr lang="en-US" sz="1000" dirty="0"/>
          </a:p>
        </p:txBody>
      </p:sp>
      <p:sp>
        <p:nvSpPr>
          <p:cNvPr id="9" name="Text 6"/>
          <p:cNvSpPr txBox="1"/>
          <p:nvPr/>
        </p:nvSpPr>
        <p:spPr>
          <a:xfrm>
            <a:off x="66751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W4</a:t>
            </a:r>
            <a:endParaRPr lang="en-US" sz="1000" dirty="0"/>
          </a:p>
        </p:txBody>
      </p:sp>
      <p:sp>
        <p:nvSpPr>
          <p:cNvPr id="10" name="Text 7"/>
          <p:cNvSpPr txBox="1"/>
          <p:nvPr/>
        </p:nvSpPr>
        <p:spPr>
          <a:xfrm>
            <a:off x="62064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W5</a:t>
            </a:r>
            <a:endParaRPr lang="en-US" sz="1000" dirty="0"/>
          </a:p>
        </p:txBody>
      </p:sp>
      <p:sp>
        <p:nvSpPr>
          <p:cNvPr id="11" name="Text 8"/>
          <p:cNvSpPr txBox="1"/>
          <p:nvPr/>
        </p:nvSpPr>
        <p:spPr>
          <a:xfrm>
            <a:off x="57378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W6</a:t>
            </a:r>
            <a:endParaRPr lang="en-US" sz="1000" dirty="0"/>
          </a:p>
        </p:txBody>
      </p:sp>
      <p:sp>
        <p:nvSpPr>
          <p:cNvPr id="12" name="Text 9"/>
          <p:cNvSpPr txBox="1"/>
          <p:nvPr/>
        </p:nvSpPr>
        <p:spPr>
          <a:xfrm>
            <a:off x="526923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W7</a:t>
            </a:r>
            <a:endParaRPr lang="en-US" sz="1000" dirty="0"/>
          </a:p>
        </p:txBody>
      </p:sp>
      <p:sp>
        <p:nvSpPr>
          <p:cNvPr id="13" name="Text 10"/>
          <p:cNvSpPr txBox="1"/>
          <p:nvPr/>
        </p:nvSpPr>
        <p:spPr>
          <a:xfrm>
            <a:off x="480060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W8</a:t>
            </a:r>
            <a:endParaRPr lang="en-US" sz="1000" dirty="0"/>
          </a:p>
        </p:txBody>
      </p:sp>
      <p:sp>
        <p:nvSpPr>
          <p:cNvPr id="14" name="Text 11"/>
          <p:cNvSpPr txBox="1"/>
          <p:nvPr/>
        </p:nvSpPr>
        <p:spPr>
          <a:xfrm>
            <a:off x="433197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W9</a:t>
            </a:r>
            <a:endParaRPr lang="en-US" sz="1000" dirty="0"/>
          </a:p>
        </p:txBody>
      </p:sp>
      <p:sp>
        <p:nvSpPr>
          <p:cNvPr id="15" name="Text 12"/>
          <p:cNvSpPr txBox="1"/>
          <p:nvPr/>
        </p:nvSpPr>
        <p:spPr>
          <a:xfrm>
            <a:off x="386334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W10</a:t>
            </a:r>
            <a:endParaRPr lang="en-US" sz="1000" dirty="0"/>
          </a:p>
        </p:txBody>
      </p:sp>
      <p:sp>
        <p:nvSpPr>
          <p:cNvPr id="16" name="Text 13"/>
          <p:cNvSpPr txBox="1"/>
          <p:nvPr/>
        </p:nvSpPr>
        <p:spPr>
          <a:xfrm>
            <a:off x="33947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W11</a:t>
            </a:r>
            <a:endParaRPr lang="en-US" sz="1000" dirty="0"/>
          </a:p>
        </p:txBody>
      </p:sp>
      <p:sp>
        <p:nvSpPr>
          <p:cNvPr id="17" name="Text 14"/>
          <p:cNvSpPr txBox="1"/>
          <p:nvPr/>
        </p:nvSpPr>
        <p:spPr>
          <a:xfrm>
            <a:off x="29260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W12</a:t>
            </a:r>
            <a:endParaRPr lang="en-US" sz="1000" dirty="0"/>
          </a:p>
        </p:txBody>
      </p:sp>
      <p:sp>
        <p:nvSpPr>
          <p:cNvPr id="18" name="Text 15"/>
          <p:cNvSpPr txBox="1"/>
          <p:nvPr/>
        </p:nvSpPr>
        <p:spPr>
          <a:xfrm>
            <a:off x="24574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W13</a:t>
            </a:r>
            <a:endParaRPr lang="en-US" sz="1000" dirty="0"/>
          </a:p>
        </p:txBody>
      </p:sp>
      <p:sp>
        <p:nvSpPr>
          <p:cNvPr id="19" name="Text 16"/>
          <p:cNvSpPr txBox="1"/>
          <p:nvPr/>
        </p:nvSpPr>
        <p:spPr>
          <a:xfrm>
            <a:off x="19888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W14</a:t>
            </a:r>
            <a:endParaRPr lang="en-US" sz="1000" dirty="0"/>
          </a:p>
        </p:txBody>
      </p:sp>
      <p:sp>
        <p:nvSpPr>
          <p:cNvPr id="20" name="Text 17"/>
          <p:cNvSpPr txBox="1"/>
          <p:nvPr/>
        </p:nvSpPr>
        <p:spPr>
          <a:xfrm>
            <a:off x="15201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W15</a:t>
            </a:r>
            <a:endParaRPr lang="en-US" sz="1000" dirty="0"/>
          </a:p>
        </p:txBody>
      </p:sp>
      <p:sp>
        <p:nvSpPr>
          <p:cNvPr id="21" name="Text 18"/>
          <p:cNvSpPr txBox="1"/>
          <p:nvPr/>
        </p:nvSpPr>
        <p:spPr>
          <a:xfrm>
            <a:off x="10515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W16</a:t>
            </a:r>
            <a:endParaRPr lang="en-US" sz="1000" dirty="0"/>
          </a:p>
        </p:txBody>
      </p:sp>
      <p:sp>
        <p:nvSpPr>
          <p:cNvPr id="22" name="Gantt row 1"/>
          <p:cNvSpPr/>
          <p:nvPr/>
        </p:nvSpPr>
        <p:spPr>
          <a:xfrm>
            <a:off x="914400" y="2103120"/>
            <a:ext cx="10360152" cy="512064"/>
          </a:xfrm>
          <a:prstGeom prst="rect">
            <a:avLst/>
          </a:prstGeom>
          <a:solidFill>
            <a:srgbClr val="F1F2FB"/>
          </a:solidFill>
          <a:ln/>
        </p:spPr>
      </p:sp>
      <p:sp>
        <p:nvSpPr>
          <p:cNvPr id="23" name="Text 20"/>
          <p:cNvSpPr txBox="1"/>
          <p:nvPr/>
        </p:nvSpPr>
        <p:spPr>
          <a:xfrm>
            <a:off x="8732520" y="210312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1. دراسة المتطلبات</a:t>
            </a:r>
            <a:endParaRPr lang="ar-SA" sz="1300" dirty="0"/>
          </a:p>
        </p:txBody>
      </p:sp>
      <p:sp>
        <p:nvSpPr>
          <p:cNvPr id="24" name="Gantt bar 1"/>
          <p:cNvSpPr/>
          <p:nvPr/>
        </p:nvSpPr>
        <p:spPr>
          <a:xfrm>
            <a:off x="7639812" y="2221992"/>
            <a:ext cx="882396" cy="274320"/>
          </a:xfrm>
          <a:prstGeom prst="roundRect">
            <a:avLst>
              <a:gd name="adj" fmla="val 26667"/>
            </a:avLst>
          </a:prstGeom>
          <a:solidFill>
            <a:schemeClr val="accent2"/>
          </a:solidFill>
          <a:ln/>
        </p:spPr>
      </p:sp>
      <p:sp>
        <p:nvSpPr>
          <p:cNvPr id="25" name="Text 22"/>
          <p:cNvSpPr txBox="1"/>
          <p:nvPr/>
        </p:nvSpPr>
        <p:spPr>
          <a:xfrm>
            <a:off x="8732520" y="261518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2. التحليل والتصميم (UML)</a:t>
            </a:r>
            <a:endParaRPr lang="ar-SA" sz="1300" dirty="0"/>
          </a:p>
        </p:txBody>
      </p:sp>
      <p:sp>
        <p:nvSpPr>
          <p:cNvPr id="26" name="Gantt bar 2"/>
          <p:cNvSpPr/>
          <p:nvPr/>
        </p:nvSpPr>
        <p:spPr>
          <a:xfrm>
            <a:off x="6702552" y="2734056"/>
            <a:ext cx="882396" cy="274320"/>
          </a:xfrm>
          <a:prstGeom prst="roundRect">
            <a:avLst>
              <a:gd name="adj" fmla="val 26667"/>
            </a:avLst>
          </a:prstGeom>
          <a:solidFill>
            <a:schemeClr val="accent2"/>
          </a:solidFill>
          <a:ln/>
        </p:spPr>
      </p:sp>
      <p:sp>
        <p:nvSpPr>
          <p:cNvPr id="27" name="Gantt row 3"/>
          <p:cNvSpPr/>
          <p:nvPr/>
        </p:nvSpPr>
        <p:spPr>
          <a:xfrm>
            <a:off x="914400" y="3127248"/>
            <a:ext cx="10360152" cy="512064"/>
          </a:xfrm>
          <a:prstGeom prst="rect">
            <a:avLst/>
          </a:prstGeom>
          <a:solidFill>
            <a:srgbClr val="F1F2FB"/>
          </a:solidFill>
          <a:ln/>
        </p:spPr>
      </p:sp>
      <p:sp>
        <p:nvSpPr>
          <p:cNvPr id="28" name="Text 25"/>
          <p:cNvSpPr txBox="1"/>
          <p:nvPr/>
        </p:nvSpPr>
        <p:spPr>
          <a:xfrm>
            <a:off x="8732520" y="3127248"/>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3. لوحة المدير والبيانات الأساسية</a:t>
            </a:r>
            <a:endParaRPr lang="ar-SA" sz="1300" dirty="0"/>
          </a:p>
        </p:txBody>
      </p:sp>
      <p:sp>
        <p:nvSpPr>
          <p:cNvPr id="29" name="Gantt bar 3"/>
          <p:cNvSpPr/>
          <p:nvPr/>
        </p:nvSpPr>
        <p:spPr>
          <a:xfrm>
            <a:off x="5296662" y="3246120"/>
            <a:ext cx="1819656" cy="274320"/>
          </a:xfrm>
          <a:prstGeom prst="roundRect">
            <a:avLst>
              <a:gd name="adj" fmla="val 26667"/>
            </a:avLst>
          </a:prstGeom>
          <a:solidFill>
            <a:schemeClr val="accent4"/>
          </a:solidFill>
          <a:ln/>
        </p:spPr>
      </p:sp>
      <p:sp>
        <p:nvSpPr>
          <p:cNvPr id="30" name="Text 27"/>
          <p:cNvSpPr txBox="1"/>
          <p:nvPr/>
        </p:nvSpPr>
        <p:spPr>
          <a:xfrm>
            <a:off x="8732520" y="3639312"/>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4. لوحتا المدرّس والطالب</a:t>
            </a:r>
            <a:endParaRPr lang="ar-SA" sz="1300" dirty="0"/>
          </a:p>
        </p:txBody>
      </p:sp>
      <p:sp>
        <p:nvSpPr>
          <p:cNvPr id="31" name="Gantt bar 4"/>
          <p:cNvSpPr/>
          <p:nvPr/>
        </p:nvSpPr>
        <p:spPr>
          <a:xfrm>
            <a:off x="3890772" y="3758184"/>
            <a:ext cx="1351026" cy="274320"/>
          </a:xfrm>
          <a:prstGeom prst="roundRect">
            <a:avLst>
              <a:gd name="adj" fmla="val 26667"/>
            </a:avLst>
          </a:prstGeom>
          <a:solidFill>
            <a:schemeClr val="accent1"/>
          </a:solidFill>
          <a:ln/>
        </p:spPr>
      </p:sp>
      <p:sp>
        <p:nvSpPr>
          <p:cNvPr id="32" name="Gantt row 5"/>
          <p:cNvSpPr/>
          <p:nvPr/>
        </p:nvSpPr>
        <p:spPr>
          <a:xfrm>
            <a:off x="914400" y="4151376"/>
            <a:ext cx="10360152" cy="512064"/>
          </a:xfrm>
          <a:prstGeom prst="rect">
            <a:avLst/>
          </a:prstGeom>
          <a:solidFill>
            <a:srgbClr val="F1F2FB"/>
          </a:solidFill>
          <a:ln/>
        </p:spPr>
      </p:sp>
      <p:sp>
        <p:nvSpPr>
          <p:cNvPr id="33" name="Text 30"/>
          <p:cNvSpPr txBox="1"/>
          <p:nvPr/>
        </p:nvSpPr>
        <p:spPr>
          <a:xfrm>
            <a:off x="8732520" y="4151376"/>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5. المالية والرواتب والتقارير</a:t>
            </a:r>
            <a:endParaRPr lang="ar-SA" sz="1300" dirty="0"/>
          </a:p>
        </p:txBody>
      </p:sp>
      <p:sp>
        <p:nvSpPr>
          <p:cNvPr id="34" name="Gantt bar 5"/>
          <p:cNvSpPr/>
          <p:nvPr/>
        </p:nvSpPr>
        <p:spPr>
          <a:xfrm>
            <a:off x="2953512" y="4270248"/>
            <a:ext cx="882396" cy="274320"/>
          </a:xfrm>
          <a:prstGeom prst="roundRect">
            <a:avLst>
              <a:gd name="adj" fmla="val 26667"/>
            </a:avLst>
          </a:prstGeom>
          <a:solidFill>
            <a:schemeClr val="accent1"/>
          </a:solidFill>
          <a:ln/>
        </p:spPr>
      </p:sp>
      <p:sp>
        <p:nvSpPr>
          <p:cNvPr id="35" name="Text 32"/>
          <p:cNvSpPr txBox="1"/>
          <p:nvPr/>
        </p:nvSpPr>
        <p:spPr>
          <a:xfrm>
            <a:off x="8732520" y="466344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6. الاختبار والتكامل</a:t>
            </a:r>
            <a:endParaRPr lang="ar-SA" sz="1300" dirty="0"/>
          </a:p>
        </p:txBody>
      </p:sp>
      <p:sp>
        <p:nvSpPr>
          <p:cNvPr id="36" name="Gantt bar 6"/>
          <p:cNvSpPr/>
          <p:nvPr/>
        </p:nvSpPr>
        <p:spPr>
          <a:xfrm>
            <a:off x="2016252" y="4782312"/>
            <a:ext cx="882396" cy="274320"/>
          </a:xfrm>
          <a:prstGeom prst="roundRect">
            <a:avLst>
              <a:gd name="adj" fmla="val 26667"/>
            </a:avLst>
          </a:prstGeom>
          <a:solidFill>
            <a:schemeClr val="accent1"/>
          </a:solidFill>
          <a:ln/>
        </p:spPr>
      </p:sp>
      <p:sp>
        <p:nvSpPr>
          <p:cNvPr id="37" name="Gantt row 7"/>
          <p:cNvSpPr/>
          <p:nvPr/>
        </p:nvSpPr>
        <p:spPr>
          <a:xfrm>
            <a:off x="914400" y="5175504"/>
            <a:ext cx="10360152" cy="512064"/>
          </a:xfrm>
          <a:prstGeom prst="rect">
            <a:avLst/>
          </a:prstGeom>
          <a:solidFill>
            <a:srgbClr val="F1F2FB"/>
          </a:solidFill>
          <a:ln/>
        </p:spPr>
      </p:sp>
      <p:sp>
        <p:nvSpPr>
          <p:cNvPr id="38" name="Text 35"/>
          <p:cNvSpPr txBox="1"/>
          <p:nvPr/>
        </p:nvSpPr>
        <p:spPr>
          <a:xfrm>
            <a:off x="8732520" y="517550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7. التوثيق والمناقشة</a:t>
            </a:r>
            <a:endParaRPr lang="ar-SA" sz="1300" dirty="0"/>
          </a:p>
        </p:txBody>
      </p:sp>
      <p:sp>
        <p:nvSpPr>
          <p:cNvPr id="39" name="Gantt bar 7"/>
          <p:cNvSpPr/>
          <p:nvPr/>
        </p:nvSpPr>
        <p:spPr>
          <a:xfrm>
            <a:off x="1078992" y="5294376"/>
            <a:ext cx="882396" cy="274320"/>
          </a:xfrm>
          <a:prstGeom prst="roundRect">
            <a:avLst>
              <a:gd name="adj" fmla="val 26667"/>
            </a:avLst>
          </a:prstGeom>
          <a:solidFill>
            <a:schemeClr val="accent1"/>
          </a:solidFill>
          <a:ln/>
        </p:spPr>
      </p:sp>
      <p:sp>
        <p:nvSpPr>
          <p:cNvPr id="40" name="Text 37"/>
          <p:cNvSpPr txBox="1"/>
          <p:nvPr/>
        </p:nvSpPr>
        <p:spPr>
          <a:xfrm>
            <a:off x="822960" y="5989320"/>
            <a:ext cx="6400800" cy="36576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ميزات الذكاء الاصطناعي (حالات الاستخدام 21 إلى 23) تُضاف بعد استقرار النظام الأساسي</a:t>
            </a:r>
            <a:endParaRPr lang="ar-SA" sz="1200" dirty="0"/>
          </a:p>
        </p:txBody>
      </p:sp>
      <p:sp>
        <p:nvSpPr>
          <p:cNvPr id="41" name="Legend منجز"/>
          <p:cNvSpPr/>
          <p:nvPr/>
        </p:nvSpPr>
        <p:spPr>
          <a:xfrm>
            <a:off x="11183112" y="6035040"/>
            <a:ext cx="182880" cy="182880"/>
          </a:xfrm>
          <a:prstGeom prst="roundRect">
            <a:avLst>
              <a:gd name="adj" fmla="val 20000"/>
            </a:avLst>
          </a:prstGeom>
          <a:solidFill>
            <a:schemeClr val="accent2"/>
          </a:solidFill>
          <a:ln/>
        </p:spPr>
      </p:sp>
      <p:sp>
        <p:nvSpPr>
          <p:cNvPr id="42" name="Text 39"/>
          <p:cNvSpPr txBox="1"/>
          <p:nvPr/>
        </p:nvSpPr>
        <p:spPr>
          <a:xfrm>
            <a:off x="1013155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منجز</a:t>
            </a:r>
            <a:endParaRPr lang="ar-SA" sz="1200" dirty="0"/>
          </a:p>
        </p:txBody>
      </p:sp>
      <p:sp>
        <p:nvSpPr>
          <p:cNvPr id="43" name="Legend قيد العمل"/>
          <p:cNvSpPr/>
          <p:nvPr/>
        </p:nvSpPr>
        <p:spPr>
          <a:xfrm>
            <a:off x="9720072" y="6035040"/>
            <a:ext cx="182880" cy="182880"/>
          </a:xfrm>
          <a:prstGeom prst="roundRect">
            <a:avLst>
              <a:gd name="adj" fmla="val 20000"/>
            </a:avLst>
          </a:prstGeom>
          <a:solidFill>
            <a:schemeClr val="accent4"/>
          </a:solidFill>
          <a:ln/>
        </p:spPr>
      </p:sp>
      <p:sp>
        <p:nvSpPr>
          <p:cNvPr id="44" name="Text 41"/>
          <p:cNvSpPr txBox="1"/>
          <p:nvPr/>
        </p:nvSpPr>
        <p:spPr>
          <a:xfrm>
            <a:off x="866851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قيد العمل</a:t>
            </a:r>
            <a:endParaRPr lang="ar-SA" sz="1200" dirty="0"/>
          </a:p>
        </p:txBody>
      </p:sp>
      <p:sp>
        <p:nvSpPr>
          <p:cNvPr id="45" name="Legend مخطط"/>
          <p:cNvSpPr/>
          <p:nvPr/>
        </p:nvSpPr>
        <p:spPr>
          <a:xfrm>
            <a:off x="8257032" y="6035040"/>
            <a:ext cx="182880" cy="182880"/>
          </a:xfrm>
          <a:prstGeom prst="roundRect">
            <a:avLst>
              <a:gd name="adj" fmla="val 20000"/>
            </a:avLst>
          </a:prstGeom>
          <a:solidFill>
            <a:schemeClr val="accent1"/>
          </a:solidFill>
          <a:ln/>
        </p:spPr>
      </p:sp>
      <p:sp>
        <p:nvSpPr>
          <p:cNvPr id="46" name="Text 43"/>
          <p:cNvSpPr txBox="1"/>
          <p:nvPr/>
        </p:nvSpPr>
        <p:spPr>
          <a:xfrm>
            <a:off x="720547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مخطط</a:t>
            </a:r>
            <a:endParaRPr lang="ar-SA" sz="1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822960" y="640080"/>
            <a:ext cx="10543032" cy="822960"/>
          </a:xfrm>
          <a:prstGeom prst="rect">
            <a:avLst/>
          </a:prstGeom>
          <a:noFill/>
          <a:ln/>
        </p:spPr>
        <p:txBody>
          <a:bodyPr wrap="square" lIns="0" tIns="0" rIns="0" bIns="0" rtlCol="0" anchor="ctr"/>
          <a:lstStyle/>
          <a:p>
            <a:pPr rtl="1" algn="r" indent="0" marL="0">
              <a:buNone/>
            </a:pPr>
            <a:r>
              <a:rPr lang="ar-SA" altLang="en-US" sz="3400" b="1" dirty="0">
                <a:solidFill>
                  <a:schemeClr val="bg1"/>
                </a:solidFill>
                <a:latin typeface="+mj-lt" pitchFamily="34" charset="0"/>
                <a:ea typeface="+mj-lt" pitchFamily="34" charset="-122"/>
                <a:cs typeface="+mj-lt" pitchFamily="34" charset="-120"/>
              </a:rPr>
              <a:t>الخلاصة</a:t>
            </a:r>
            <a:endParaRPr lang="ar-SA" sz="3400" dirty="0"/>
          </a:p>
        </p:txBody>
      </p:sp>
      <p:sp>
        <p:nvSpPr>
          <p:cNvPr id="4" name="Takeaway card 1"/>
          <p:cNvSpPr/>
          <p:nvPr/>
        </p:nvSpPr>
        <p:spPr>
          <a:xfrm>
            <a:off x="8046720" y="1828800"/>
            <a:ext cx="3319272" cy="2468880"/>
          </a:xfrm>
          <a:prstGeom prst="roundRect">
            <a:avLst>
              <a:gd name="adj" fmla="val 3704"/>
            </a:avLst>
          </a:prstGeom>
          <a:solidFill>
            <a:srgbClr val="1E2761"/>
          </a:solidFill>
          <a:ln w="9525">
            <a:solidFill>
              <a:srgbClr val="2D3A7A"/>
            </a:solidFill>
            <a:prstDash val="solid"/>
          </a:ln>
        </p:spPr>
      </p:sp>
      <p:sp>
        <p:nvSpPr>
          <p:cNvPr id="5" name="Takeaway badge 1"/>
          <p:cNvSpPr/>
          <p:nvPr/>
        </p:nvSpPr>
        <p:spPr>
          <a:xfrm>
            <a:off x="10634472" y="2103120"/>
            <a:ext cx="457200" cy="457200"/>
          </a:xfrm>
          <a:prstGeom prst="ellipse">
            <a:avLst/>
          </a:prstGeom>
          <a:solidFill>
            <a:schemeClr val="accent1"/>
          </a:solidFill>
          <a:ln/>
        </p:spPr>
      </p:sp>
      <p:sp>
        <p:nvSpPr>
          <p:cNvPr id="6" name="Text 3"/>
          <p:cNvSpPr txBox="1"/>
          <p:nvPr/>
        </p:nvSpPr>
        <p:spPr>
          <a:xfrm>
            <a:off x="1063447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4"/>
          <p:cNvSpPr txBox="1"/>
          <p:nvPr/>
        </p:nvSpPr>
        <p:spPr>
          <a:xfrm>
            <a:off x="827532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خطة محددة</a:t>
            </a:r>
            <a:endParaRPr lang="ar-SA" sz="1900" dirty="0"/>
          </a:p>
        </p:txBody>
      </p:sp>
      <p:sp>
        <p:nvSpPr>
          <p:cNvPr id="8" name="Text 5"/>
          <p:cNvSpPr txBox="1"/>
          <p:nvPr/>
        </p:nvSpPr>
        <p:spPr>
          <a:xfrm>
            <a:off x="827532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16 أسبوعاً وتسليم نهائي في 15/1/2027</a:t>
            </a:r>
            <a:endParaRPr lang="ar-SA" sz="1400" dirty="0"/>
          </a:p>
        </p:txBody>
      </p:sp>
      <p:sp>
        <p:nvSpPr>
          <p:cNvPr id="9" name="Takeaway card 2"/>
          <p:cNvSpPr/>
          <p:nvPr/>
        </p:nvSpPr>
        <p:spPr>
          <a:xfrm>
            <a:off x="4434840" y="1828800"/>
            <a:ext cx="3319272" cy="2468880"/>
          </a:xfrm>
          <a:prstGeom prst="roundRect">
            <a:avLst>
              <a:gd name="adj" fmla="val 3704"/>
            </a:avLst>
          </a:prstGeom>
          <a:solidFill>
            <a:srgbClr val="1E2761"/>
          </a:solidFill>
          <a:ln w="9525">
            <a:solidFill>
              <a:srgbClr val="2D3A7A"/>
            </a:solidFill>
            <a:prstDash val="solid"/>
          </a:ln>
        </p:spPr>
      </p:sp>
      <p:sp>
        <p:nvSpPr>
          <p:cNvPr id="10" name="Takeaway badge 2"/>
          <p:cNvSpPr/>
          <p:nvPr/>
        </p:nvSpPr>
        <p:spPr>
          <a:xfrm>
            <a:off x="7022592" y="2103120"/>
            <a:ext cx="457200" cy="457200"/>
          </a:xfrm>
          <a:prstGeom prst="ellipse">
            <a:avLst/>
          </a:prstGeom>
          <a:solidFill>
            <a:schemeClr val="accent1"/>
          </a:solidFill>
          <a:ln/>
        </p:spPr>
      </p:sp>
      <p:sp>
        <p:nvSpPr>
          <p:cNvPr id="11" name="Text 8"/>
          <p:cNvSpPr txBox="1"/>
          <p:nvPr/>
        </p:nvSpPr>
        <p:spPr>
          <a:xfrm>
            <a:off x="702259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9"/>
          <p:cNvSpPr txBox="1"/>
          <p:nvPr/>
        </p:nvSpPr>
        <p:spPr>
          <a:xfrm>
            <a:off x="466344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فجوة بحثية واضحة</a:t>
            </a:r>
            <a:endParaRPr lang="ar-SA" sz="1900" dirty="0"/>
          </a:p>
        </p:txBody>
      </p:sp>
      <p:sp>
        <p:nvSpPr>
          <p:cNvPr id="13" name="Text 10"/>
          <p:cNvSpPr txBox="1"/>
          <p:nvPr/>
        </p:nvSpPr>
        <p:spPr>
          <a:xfrm>
            <a:off x="466344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دمج الأكاديمي والمالي والذكاء الاصطناعي بنظام بسيط</a:t>
            </a:r>
            <a:endParaRPr lang="ar-SA" sz="1400" dirty="0"/>
          </a:p>
        </p:txBody>
      </p:sp>
      <p:sp>
        <p:nvSpPr>
          <p:cNvPr id="14" name="Takeaway card 3"/>
          <p:cNvSpPr/>
          <p:nvPr/>
        </p:nvSpPr>
        <p:spPr>
          <a:xfrm>
            <a:off x="822960" y="1828800"/>
            <a:ext cx="3319272" cy="2468880"/>
          </a:xfrm>
          <a:prstGeom prst="roundRect">
            <a:avLst>
              <a:gd name="adj" fmla="val 3704"/>
            </a:avLst>
          </a:prstGeom>
          <a:solidFill>
            <a:srgbClr val="1E2761"/>
          </a:solidFill>
          <a:ln w="9525">
            <a:solidFill>
              <a:srgbClr val="2D3A7A"/>
            </a:solidFill>
            <a:prstDash val="solid"/>
          </a:ln>
        </p:spPr>
      </p:sp>
      <p:sp>
        <p:nvSpPr>
          <p:cNvPr id="15" name="Takeaway badge 3"/>
          <p:cNvSpPr/>
          <p:nvPr/>
        </p:nvSpPr>
        <p:spPr>
          <a:xfrm>
            <a:off x="3410712" y="2103120"/>
            <a:ext cx="457200" cy="457200"/>
          </a:xfrm>
          <a:prstGeom prst="ellipse">
            <a:avLst/>
          </a:prstGeom>
          <a:solidFill>
            <a:schemeClr val="accent1"/>
          </a:solidFill>
          <a:ln/>
        </p:spPr>
      </p:sp>
      <p:sp>
        <p:nvSpPr>
          <p:cNvPr id="16" name="Text 13"/>
          <p:cNvSpPr txBox="1"/>
          <p:nvPr/>
        </p:nvSpPr>
        <p:spPr>
          <a:xfrm>
            <a:off x="341071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4"/>
          <p:cNvSpPr txBox="1"/>
          <p:nvPr/>
        </p:nvSpPr>
        <p:spPr>
          <a:xfrm>
            <a:off x="105156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تحليل وتصميم مكتمل</a:t>
            </a:r>
            <a:endParaRPr lang="ar-SA" sz="1900" dirty="0"/>
          </a:p>
        </p:txBody>
      </p:sp>
      <p:sp>
        <p:nvSpPr>
          <p:cNvPr id="18" name="Text 15"/>
          <p:cNvSpPr txBox="1"/>
          <p:nvPr/>
        </p:nvSpPr>
        <p:spPr>
          <a:xfrm>
            <a:off x="105156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حالات استخدام، ERD، مخططات سلوك وبنية</a:t>
            </a:r>
            <a:endParaRPr lang="ar-SA" sz="1400" dirty="0"/>
          </a:p>
        </p:txBody>
      </p:sp>
      <p:sp>
        <p:nvSpPr>
          <p:cNvPr id="19" name="Text 16"/>
          <p:cNvSpPr txBox="1"/>
          <p:nvPr/>
        </p:nvSpPr>
        <p:spPr>
          <a:xfrm>
            <a:off x="822960" y="4892040"/>
            <a:ext cx="10543032" cy="914400"/>
          </a:xfrm>
          <a:prstGeom prst="rect">
            <a:avLst/>
          </a:prstGeom>
          <a:noFill/>
          <a:ln/>
        </p:spPr>
        <p:txBody>
          <a:bodyPr wrap="square" lIns="0" tIns="0" rIns="0" bIns="0" rtlCol="0" anchor="ctr"/>
          <a:lstStyle/>
          <a:p>
            <a:pPr rtl="1" algn="ctr" indent="0" marL="0">
              <a:buNone/>
            </a:pPr>
            <a:r>
              <a:rPr lang="ar-SA" altLang="en-US" sz="3200" b="1" dirty="0">
                <a:solidFill>
                  <a:schemeClr val="bg1"/>
                </a:solidFill>
                <a:latin typeface="+mj-lt" pitchFamily="34" charset="0"/>
                <a:ea typeface="+mj-lt" pitchFamily="34" charset="-122"/>
                <a:cs typeface="+mj-lt" pitchFamily="34" charset="-120"/>
              </a:rPr>
              <a:t>شكراً لإصغائكم... أسئلتكم؟</a:t>
            </a:r>
            <a:endParaRPr lang="ar-SA" sz="3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IS Lecture Style">
  <a:themeElements>
    <a:clrScheme name="MIS Lecture Style">
      <a:dk1>
        <a:srgbClr val="1B2430"/>
      </a:dk1>
      <a:lt1>
        <a:srgbClr val="FFFFFF"/>
      </a:lt1>
      <a:dk2>
        <a:srgbClr val="1E2761"/>
      </a:dk2>
      <a:lt2>
        <a:srgbClr val="F7F9FC"/>
      </a:lt2>
      <a:accent1>
        <a:srgbClr val="6C5CE7"/>
      </a:accent1>
      <a:accent2>
        <a:srgbClr val="1C7293"/>
      </a:accent2>
      <a:accent3>
        <a:srgbClr val="16294A"/>
      </a:accent3>
      <a:accent4>
        <a:srgbClr val="D98E04"/>
      </a:accent4>
      <a:accent5>
        <a:srgbClr val="2F8A4F"/>
      </a:accent5>
      <a:accent6>
        <a:srgbClr val="5B6474"/>
      </a:accent6>
      <a:hlink>
        <a:srgbClr val="6C5CE7"/>
      </a:hlink>
      <a:folHlink>
        <a:srgbClr val="5B6474"/>
      </a:folHlink>
    </a:clrScheme>
    <a:fontScheme name="MIS Lecture Sty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المعهد الذكي – السيمنار الأول</dc:title>
  <dc:subject>PptxGenJS Presentation</dc:subject>
  <dc:creator>PptxGenJS</dc:creator>
  <cp:lastModifiedBy>PptxGenJS</cp:lastModifiedBy>
  <cp:revision>1</cp:revision>
  <dcterms:created xsi:type="dcterms:W3CDTF">2026-10-20T14:23:22Z</dcterms:created>
  <dcterms:modified xsi:type="dcterms:W3CDTF">2026-10-20T14:23:22Z</dcterms:modified>
</cp:coreProperties>
</file>