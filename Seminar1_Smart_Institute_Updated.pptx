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Slides/notesSlide17.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6" r:id="rId17"/>
    <p:sldId id="258" r:id="rId4"/>
    <p:sldId id="267" r:id="rId11"/>
    <p:sldId id="264" r:id="rId10"/>
    <p:sldId id="260" r:id="rId6"/>
    <p:sldId id="263" r:id="rId9"/>
    <p:sldId id="271" r:id="rId21"/>
    <p:sldId id="262" r:id="rId8"/>
    <p:sldId id="261" r:id="rId7"/>
    <p:sldId id="268" r:id="rId18"/>
    <p:sldId id="270" r:id="rId20"/>
    <p:sldId id="269" r:id="rId19"/>
    <p:sldId id="272" r:id="rId22"/>
    <p:sldId id="273" r:id="rId99"/>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السيمنار الأول" id="{a8faab51-8602-3a9b-cef6-8e897f4eb25a}">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7.xml"/><Relationship Id="rId6" Type="http://schemas.openxmlformats.org/officeDocument/2006/relationships/slide" Target="slides/slide4.xml"/><Relationship Id="rId7" Type="http://schemas.openxmlformats.org/officeDocument/2006/relationships/slide" Target="slides/slide10.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11.xml"/><Relationship Id="rId11" Type="http://schemas.openxmlformats.org/officeDocument/2006/relationships/slide" Target="slides/slide8.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9.xml"/>  <Relationship Id="rId18" Type="http://schemas.openxmlformats.org/officeDocument/2006/relationships/slide" Target="slides/slide12.xml"/>
  <Relationship Id="rId19" Type="http://schemas.openxmlformats.org/officeDocument/2006/relationships/slide" Target="slides/slide13.xml"/>
  <Relationship Id="rId20" Type="http://schemas.openxmlformats.org/officeDocument/2006/relationships/slide" Target="slides/slide14.xml"/>
  <Relationship Id="rId21" Type="http://schemas.openxmlformats.org/officeDocument/2006/relationships/slide" Target="slides/slide15.xml"/>
  <Relationship Id="rId22" Type="http://schemas.openxmlformats.org/officeDocument/2006/relationships/slide" Target="slides/slide16.xml"/>
<Relationship Id="rId99"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نرحب بكم. مشروعنا نظام ويب عربي لإدارة المعاهد التعليمية يجمع الجانب الأكاديمي والمالي مع الذكاء الاصطناعي. سنعرض في عشر دقائق الهدف، ما أنجزناه، الدراسة المرجعية، التصميم، الأدوات، والخطة.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المشكلة أن المعاهد الصغيرة والمتوسطة تستخدم أنظمة تعليمية تهمل الجانب المالي، أو أنظمة شاملة مكلفة ومعقدة، ولا توفر أي منها تنبؤاً بتعثر الطلاب. هدفنا منصة واحدة بسيطة تجمع كل ذلك.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أنجزنا مرحلة الدراسة وتحديد المتطلبات، ثم التحليل: مخطط حالات الاستخدام ووثائق التوصيف، ثم تصميم قاعدة البيانات، ثم مخططات التسلسل والنشاط للوظائف عالية الأولوية.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قارنا المشروع مع أربعة أنظمة. LMS مثل Moodle وClassroom قوية أكاديمياً وضعيفة مالياً. Fedena وTeachworks أقرب لكنها بلا ذكاء اصطناعي. مشروعنا يجمع المحاور الثلاثة بواجهة بسيطة.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النظام ثلاثة مستخدمين: المدير ويملك صلاحيات كاملة، والمدرس يتابع طلابه، والطالب يسجل ويتابع درجاته وسجله المالي. حالات الاستخدام من واحد إلى عشرين، وتسجيل الدخول مشترك.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البنية من ثلاث طبقات: واجهة Vue مع Inertia، وخادم Laravel، وقاعدة PostgreSQL. اخترنا هذه الأدوات لأنها حديثة وتدعم العربية واتجاه RTL بشكل جيد.</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القاعدة من اثني عشر جدولاً. الدفعة هي المحور: ترتبط بالكورس والمدرس والقاعة، ومنها التسجيلات والحضور والعلامات والمواد. الرواتب مرتبطة بسجل مصروف مقفل.</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أمثلة من المخططات: مخطط نشاط تسجيل دفعة مالية يتحقق من أن التسجيل نشط وأن المبلغ لا يتجاوز المتبقي، ويولّد رقم السند تلقائياً إن لم يُدخل، ومخطط تسلسل صرف الراتب يوضح التعامل بين الواجهة والمتحكم وقاعدة البيانات ضمن معاملة واحدة آمنة.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الخطة الزمنية: مدة المشروع ست عشر أسبوعاً موزعة على المراحل السبع، وننتهي بالتوثيق والمناقشة في 15 يناير 2027. ميزات الذكاء الاصطناعي تُضاف بعد استقرار النظام الأساسي. شكراً لكم ونرحب بأسئلتكم.</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منهجية العمل Agile: نطوّر النظام على دورات (Sprints) مدة كل منها أسبوعان، أي ثماني دورات خلال ستة عشر أسبوعاً. في كل دورة نخطط ونطوّر ونختبر ونراجع، ثم نكرر. اخترناها لأنها تسمح بالتسليم التدريجي للوحات، وبإضافة ميزات الذكاء الاصطناعي لاحقاً، وبمراجعة النتائج باستمرار.</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نقسم العمل على فصلين: في تخرج 1 أنجزنا الدراسة والتحليل والتصميم ونعمل على بناء لوحات المدير والمدرس والطالب، وفي تخرج 2 ندمج نماذج الذكاء الاصطناعي (التنبؤ بالتعثر والمساعد الذكي) ثم تحسين الأداء والتكامل والتوثيق النهائي. والاختبار مستمر في كل مرحلة من المشروعين.</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نلخص: أنجزنا التحليل والتصميم، وحددنا فجوة بحثية واضحة، ولدينا خطة حتى 15 يناير 2027. شكراً لكم ونرحب بأسئلتكم.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6294A"/>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6294A"/>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7F9FC"/>
        </a:solidFill>
      </p:bgPr>
    </p:bg>
    <p:spTree>
      <p:nvGrpSpPr>
        <p:cNvPr id="1" name=""/>
        <p:cNvGrpSpPr/>
        <p:nvPr/>
      </p:nvGrpSpPr>
      <p:grpSpPr>
        <a:xfrm>
          <a:off x="0" y="0"/>
          <a:ext cx="0" cy="0"/>
          <a:chOff x="0" y="0"/>
          <a:chExt cx="0" cy="0"/>
        </a:xfrm>
      </p:grpSpPr>
      <p:sp>
        <p:nvSpPr>
          <p:cNvPr id="2" name="Text 0"/>
          <p:cNvSpPr txBox="1"/>
          <p:nvPr/>
        </p:nvSpPr>
        <p:spPr>
          <a:xfrm>
            <a:off x="3931920" y="6473952"/>
            <a:ext cx="7799832" cy="274320"/>
          </a:xfrm>
          <a:prstGeom prst="rect">
            <a:avLst/>
          </a:prstGeom>
          <a:noFill/>
          <a:ln/>
        </p:spPr>
        <p:txBody>
          <a:bodyPr wrap="square" lIns="0" tIns="0" rIns="0" bIns="0" rtlCol="0" anchor="ctr"/>
          <a:lstStyle/>
          <a:p>
            <a:pPr algn="r" indent="0" marL="0">
              <a:buNone/>
            </a:pPr>
            <a:r>
              <a:rPr lang="en-US" sz="1000" dirty="0">
                <a:solidFill>
                  <a:schemeClr val="accent6"/>
                </a:solidFill>
              </a:rPr>
              <a:t>الجامعة السورية الخاصة  |  كلية هندسة الذكاء الاصطناعي  |  السيمنار الأول</a:t>
            </a:r>
            <a:endParaRPr lang="en-US" sz="1000" dirty="0"/>
          </a:p>
        </p:txBody>
      </p:sp>
      <p:sp>
        <p:nvSpPr>
          <p:cNvPr id="3" name="Text 1"/>
          <p:cNvSpPr/>
          <p:nvPr>
            <p:ph idx="101" type="body" hasCustomPrompt="1"/>
          </p:nvPr>
        </p:nvSpPr>
        <p:spPr>
          <a:xfrm>
            <a:off x="822960" y="411480"/>
            <a:ext cx="10543032" cy="320040"/>
          </a:xfrm>
          <a:prstGeom prst="rect">
            <a:avLst/>
          </a:prstGeom>
          <a:noFill/>
          <a:ln/>
        </p:spPr>
        <p:txBody>
          <a:bodyPr wrap="square" rtlCol="0"/>
          <a:lstStyle>
            <a:lvl1pPr algn="r" indent="0" marL="0">
              <a:buNone/>
              <a:defRPr lang="en-US" sz="1200" b="1" dirty="0">
                <a:solidFill>
                  <a:schemeClr val="accent1"/>
                </a:solidFill>
              </a:defRPr>
            </a:lvl1pPr>
          </a:lstStyle>
          <a:p>
            <a:pPr algn="r" indent="0" marL="0">
              <a:buNone/>
            </a:pPr>
            <a:endParaRPr lang="en-US" sz="1200" dirty="0"/>
          </a:p>
        </p:txBody>
      </p:sp>
      <p:sp>
        <p:nvSpPr>
          <p:cNvPr id="4" name="Text 1"/>
          <p:cNvSpPr/>
          <p:nvPr>
            <p:ph idx="102" type="title" hasCustomPrompt="1"/>
          </p:nvPr>
        </p:nvSpPr>
        <p:spPr>
          <a:xfrm>
            <a:off x="822960" y="713232"/>
            <a:ext cx="10543032" cy="685800"/>
          </a:xfrm>
          <a:prstGeom prst="rect">
            <a:avLst/>
          </a:prstGeom>
          <a:noFill/>
          <a:ln/>
        </p:spPr>
        <p:txBody>
          <a:bodyPr wrap="square" rtlCol="0"/>
          <a:lstStyle>
            <a:lvl1pPr algn="r" indent="0" marL="0">
              <a:buNone/>
              <a:defRPr lang="en-US" sz="2600" b="1" dirty="0">
                <a:solidFill>
                  <a:schemeClr val="tx2"/>
                </a:solidFill>
              </a:defRPr>
            </a:lvl1pPr>
          </a:lstStyle>
          <a:p>
            <a:pPr algn="r" indent="0" marL="0">
              <a:buNone/>
            </a:pPr>
            <a:endParaRPr lang="en-US" sz="26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5.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6.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0.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University logo" descr="شعار الجامعة السورية الخاصة">    </p:cNvPr>
          <p:cNvPicPr>
            <a:picLocks noChangeAspect="1"/>
          </p:cNvPicPr>
          <p:nvPr/>
        </p:nvPicPr>
        <p:blipFill>
          <a:blip r:embed="rId1"/>
          <a:stretch>
            <a:fillRect/>
          </a:stretch>
        </p:blipFill>
        <p:spPr>
          <a:xfrm>
            <a:off x="822960" y="548640"/>
            <a:ext cx="2468880" cy="635508"/>
          </a:xfrm>
          <a:prstGeom prst="rect">
            <a:avLst/>
          </a:prstGeom>
        </p:spPr>
      </p:pic>
      <p:sp>
        <p:nvSpPr>
          <p:cNvPr id="3" name="Text 0"/>
          <p:cNvSpPr txBox="1"/>
          <p:nvPr/>
        </p:nvSpPr>
        <p:spPr>
          <a:xfrm>
            <a:off x="822960" y="1554480"/>
            <a:ext cx="10543032" cy="365760"/>
          </a:xfrm>
          <a:prstGeom prst="rect">
            <a:avLst/>
          </a:prstGeom>
          <a:noFill/>
          <a:ln/>
        </p:spPr>
        <p:txBody>
          <a:bodyPr wrap="square" lIns="0" tIns="0" rIns="0" bIns="0" rtlCol="0" anchor="ctr"/>
          <a:lstStyle/>
          <a:p>
            <a:pPr rtl="1" algn="r" indent="0" marL="0">
              <a:buNone/>
            </a:pPr>
            <a:r>
              <a:rPr lang="ar-SA" altLang="en-US" sz="1600" b="1" dirty="0">
                <a:solidFill>
                  <a:srgbClr val="A29BFE"/>
                </a:solidFill>
              </a:rPr>
              <a:t>السيمنار الأول لمشاريع التخرج</a:t>
            </a:r>
            <a:endParaRPr lang="ar-SA" sz="1600" dirty="0"/>
          </a:p>
        </p:txBody>
      </p:sp>
      <p:sp>
        <p:nvSpPr>
          <p:cNvPr id="4" name="Text 1"/>
          <p:cNvSpPr txBox="1"/>
          <p:nvPr/>
        </p:nvSpPr>
        <p:spPr>
          <a:xfrm>
            <a:off x="822960" y="2011680"/>
            <a:ext cx="10543032" cy="1005840"/>
          </a:xfrm>
          <a:prstGeom prst="rect">
            <a:avLst/>
          </a:prstGeom>
          <a:noFill/>
          <a:ln/>
        </p:spPr>
        <p:txBody>
          <a:bodyPr wrap="square" lIns="0" tIns="0" rIns="0" bIns="0" rtlCol="0" anchor="t"/>
          <a:lstStyle/>
          <a:p>
            <a:pPr rtl="1" algn="r" indent="0" marL="0">
              <a:buNone/>
            </a:pPr>
            <a:r>
              <a:rPr lang="ar-SA" altLang="en-US" sz="4000" b="1" dirty="0">
                <a:solidFill>
                  <a:schemeClr val="bg1"/>
                </a:solidFill>
                <a:latin typeface="+mj-lt" pitchFamily="34" charset="0"/>
                <a:ea typeface="+mj-lt" pitchFamily="34" charset="-122"/>
                <a:cs typeface="+mj-lt" pitchFamily="34" charset="-120"/>
              </a:rPr>
              <a:t>نظام إدارة المعهد الذكي</a:t>
            </a:r>
            <a:endParaRPr lang="ar-SA" sz="4000" dirty="0"/>
          </a:p>
        </p:txBody>
      </p:sp>
      <p:sp>
        <p:nvSpPr>
          <p:cNvPr id="5" name="Text 2"/>
          <p:cNvSpPr txBox="1"/>
          <p:nvPr/>
        </p:nvSpPr>
        <p:spPr>
          <a:xfrm>
            <a:off x="822960" y="3108960"/>
            <a:ext cx="10543032" cy="548640"/>
          </a:xfrm>
          <a:prstGeom prst="rect">
            <a:avLst/>
          </a:prstGeom>
          <a:noFill/>
          <a:ln/>
        </p:spPr>
        <p:txBody>
          <a:bodyPr wrap="square" lIns="0" tIns="0" rIns="0" bIns="0" rtlCol="0" anchor="ctr"/>
          <a:lstStyle/>
          <a:p>
            <a:pPr algn="r" indent="0" marL="0">
              <a:buNone/>
            </a:pPr>
            <a:r>
              <a:rPr lang="en-US" sz="2000" i="1" dirty="0">
                <a:solidFill>
                  <a:srgbClr val="CADCFC"/>
                </a:solidFill>
              </a:rPr>
              <a:t>Smart Institute Management System</a:t>
            </a:r>
            <a:endParaRPr lang="en-US" sz="2000" dirty="0"/>
          </a:p>
        </p:txBody>
      </p:sp>
      <p:sp>
        <p:nvSpPr>
          <p:cNvPr id="6" name="Text 3"/>
          <p:cNvSpPr txBox="1"/>
          <p:nvPr/>
        </p:nvSpPr>
        <p:spPr>
          <a:xfrm>
            <a:off x="822960" y="4206240"/>
            <a:ext cx="10543032" cy="411480"/>
          </a:xfrm>
          <a:prstGeom prst="rect">
            <a:avLst/>
          </a:prstGeom>
          <a:noFill/>
          <a:ln/>
        </p:spPr>
        <p:txBody>
          <a:bodyPr wrap="square" lIns="0" tIns="0" rIns="0" bIns="0" rtlCol="0" anchor="ctr"/>
          <a:lstStyle/>
          <a:p>
            <a:pPr rtl="1" algn="r" indent="0" marL="0">
              <a:buNone/>
            </a:pPr>
            <a:r>
              <a:rPr lang="ar-SA" altLang="en-US" sz="1800" dirty="0">
                <a:solidFill>
                  <a:schemeClr val="bg1"/>
                </a:solidFill>
              </a:rPr>
              <a:t>إعداد الطالبين: إبراهيم نزار خميس  –  عائشة عرفان نشأة</a:t>
            </a:r>
            <a:endParaRPr lang="ar-SA" sz="1800" dirty="0"/>
          </a:p>
        </p:txBody>
      </p:sp>
      <p:sp>
        <p:nvSpPr>
          <p:cNvPr id="7" name="Text 4"/>
          <p:cNvSpPr txBox="1"/>
          <p:nvPr/>
        </p:nvSpPr>
        <p:spPr>
          <a:xfrm>
            <a:off x="822960" y="4709160"/>
            <a:ext cx="10543032" cy="411480"/>
          </a:xfrm>
          <a:prstGeom prst="rect">
            <a:avLst/>
          </a:prstGeom>
          <a:noFill/>
          <a:ln/>
        </p:spPr>
        <p:txBody>
          <a:bodyPr wrap="square" lIns="0" tIns="0" rIns="0" bIns="0" rtlCol="0" anchor="ctr"/>
          <a:lstStyle/>
          <a:p>
            <a:pPr rtl="1" algn="r" indent="0" marL="0">
              <a:buNone/>
            </a:pPr>
            <a:r>
              <a:rPr lang="ar-SA" altLang="en-US" sz="1600" dirty="0">
                <a:solidFill>
                  <a:srgbClr val="CADCFC"/>
                </a:solidFill>
              </a:rPr>
              <a:t>بإشراف: م. رانيا رجب   |   قسم هندسة البرمجيات   |   الفصل الأول 2026-2027</a:t>
            </a:r>
            <a:endParaRPr lang="ar-SA" sz="1600" dirty="0"/>
          </a:p>
        </p:txBody>
      </p:sp>
      <p:sp>
        <p:nvSpPr>
          <p:cNvPr id="8" name="Text 5"/>
          <p:cNvSpPr txBox="1"/>
          <p:nvPr/>
        </p:nvSpPr>
        <p:spPr>
          <a:xfrm>
            <a:off x="822960" y="6080760"/>
            <a:ext cx="10543032" cy="365760"/>
          </a:xfrm>
          <a:prstGeom prst="rect">
            <a:avLst/>
          </a:prstGeom>
          <a:noFill/>
          <a:ln/>
        </p:spPr>
        <p:txBody>
          <a:bodyPr wrap="square" lIns="0" tIns="0" rIns="0" bIns="0" rtlCol="0" anchor="ctr"/>
          <a:lstStyle/>
          <a:p>
            <a:pPr rtl="1" algn="r" indent="0" marL="0">
              <a:buNone/>
            </a:pPr>
            <a:r>
              <a:rPr lang="ar-SA" altLang="en-US" sz="1100" dirty="0">
                <a:solidFill>
                  <a:srgbClr val="8FA3C4"/>
                </a:solidFill>
              </a:rPr>
              <a:t>الجامعة السورية الخاصة  |  كلية هندسة الذكاء الاصطناعي  |  السيمنار الأول</a:t>
            </a:r>
            <a:endParaRPr lang="ar-SA"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نظرة عامة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أهمية المشروع</a:t>
            </a:r>
            <a:endParaRPr lang="ar-SA" sz="2600" dirty="0"/>
          </a:p>
        </p:txBody>
      </p:sp>
      <p:sp>
        <p:nvSpPr>
          <p:cNvPr id="5" name="Goal statement card"/>
          <p:cNvSpPr/>
          <p:nvPr/>
        </p:nvSpPr>
        <p:spPr>
          <a:xfrm>
            <a:off x="822960" y="1508760"/>
            <a:ext cx="10543032" cy="777240"/>
          </a:xfrm>
          <a:prstGeom prst="roundRect">
            <a:avLst>
              <a:gd name="adj" fmla="val 8000"/>
            </a:avLst>
          </a:prstGeom>
          <a:solidFill>
            <a:srgbClr val="16294A"/>
          </a:solidFill>
          <a:ln/>
        </p:spPr>
      </p:sp>
      <p:sp>
        <p:nvSpPr>
          <p:cNvPr id="6" name="Text 3"/>
          <p:cNvSpPr txBox="1"/>
          <p:nvPr/>
        </p:nvSpPr>
        <p:spPr>
          <a:xfrm>
            <a:off x="1143000" y="1554480"/>
            <a:ext cx="9902952" cy="685800"/>
          </a:xfrm>
          <a:prstGeom prst="rect">
            <a:avLst/>
          </a:prstGeom>
          <a:noFill/>
          <a:ln/>
        </p:spPr>
        <p:txBody>
          <a:bodyPr wrap="square" lIns="0" tIns="0" rIns="0" bIns="0" rtlCol="0" anchor="ctr"/>
          <a:lstStyle/>
          <a:p>
            <a:pPr rtl="1" algn="r" indent="0" marL="0">
              <a:buNone/>
            </a:pPr>
            <a:r>
              <a:rPr lang="ar-SA" altLang="en-US" sz="1800" b="1" dirty="0">
                <a:solidFill>
                  <a:schemeClr val="bg1"/>
                </a:solidFill>
              </a:rPr>
              <a:t>منصة ويب عربية موحّدة تجمع الإدارة الأكاديمية والتشغيلية والمالية للمعهد، وتدعمها ميزات الذكاء الاصطناعي لمتابعة الطلاب</a:t>
            </a:r>
            <a:endParaRPr lang="ar-SA" sz="1800" dirty="0"/>
          </a:p>
        </p:txBody>
      </p:sp>
      <p:sp>
        <p:nvSpPr>
          <p:cNvPr id="31" name="Importance card 1"/>
          <p:cNvSpPr/>
          <p:nvPr/>
        </p:nvSpPr>
        <p:spPr>
          <a:xfrm>
            <a:off x="8046720" y="2468880"/>
            <a:ext cx="3319272" cy="164592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32" name="Importance header 1"/>
          <p:cNvSpPr/>
          <p:nvPr/>
        </p:nvSpPr>
        <p:spPr>
          <a:xfrm>
            <a:off x="8046720" y="2468880"/>
            <a:ext cx="3319272" cy="457200"/>
          </a:xfrm>
          <a:prstGeom prst="rect">
            <a:avLst/>
          </a:prstGeom>
          <a:solidFill>
            <a:schemeClr val="accent1"/>
          </a:solidFill>
          <a:ln/>
        </p:spPr>
      </p:sp>
      <p:sp>
        <p:nvSpPr>
          <p:cNvPr id="33" name="Importance title 1"/>
          <p:cNvSpPr txBox="1"/>
          <p:nvPr/>
        </p:nvSpPr>
        <p:spPr>
          <a:xfrm>
            <a:off x="8229600" y="2468880"/>
            <a:ext cx="295351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التحول الرقمي المباشر</a:t>
            </a:r>
          </a:p>
        </p:txBody>
      </p:sp>
      <p:sp>
        <p:nvSpPr>
          <p:cNvPr id="34" name="Importance text 1"/>
          <p:cNvSpPr txBox="1"/>
          <p:nvPr/>
        </p:nvSpPr>
        <p:spPr>
          <a:xfrm>
            <a:off x="8275320" y="3063240"/>
            <a:ext cx="2862072" cy="960120"/>
          </a:xfrm>
          <a:prstGeom prst="rect">
            <a:avLst/>
          </a:prstGeom>
          <a:noFill/>
          <a:ln/>
        </p:spPr>
        <p:txBody>
          <a:bodyPr wrap="square" lIns="0" tIns="0" rIns="0" bIns="0" rtlCol="0" anchor="t"/>
          <a:lstStyle/>
          <a:p>
            <a:pPr rtl="1" algn="r" indent="0" marL="0">
              <a:buNone/>
            </a:pPr>
            <a:r>
              <a:rPr lang="ar-SA" altLang="en-US" sz="1500" dirty="0">
                <a:solidFill>
                  <a:schemeClr val="tx1"/>
                </a:solidFill>
              </a:rPr>
              <a:t>الانتقال من الإدارة التقليدية المشتتة إلى نظام موحّد يقلل الأخطاء البشرية والورقية.</a:t>
            </a:r>
          </a:p>
        </p:txBody>
      </p:sp>
      <p:sp>
        <p:nvSpPr>
          <p:cNvPr id="35" name="Importance card 2"/>
          <p:cNvSpPr/>
          <p:nvPr/>
        </p:nvSpPr>
        <p:spPr>
          <a:xfrm>
            <a:off x="4434840" y="2468880"/>
            <a:ext cx="3319272" cy="164592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36" name="Importance header 2"/>
          <p:cNvSpPr/>
          <p:nvPr/>
        </p:nvSpPr>
        <p:spPr>
          <a:xfrm>
            <a:off x="4434840" y="2468880"/>
            <a:ext cx="3319272" cy="457200"/>
          </a:xfrm>
          <a:prstGeom prst="rect">
            <a:avLst/>
          </a:prstGeom>
          <a:solidFill>
            <a:schemeClr val="accent1"/>
          </a:solidFill>
          <a:ln/>
        </p:spPr>
      </p:sp>
      <p:sp>
        <p:nvSpPr>
          <p:cNvPr id="37" name="Importance title 2"/>
          <p:cNvSpPr txBox="1"/>
          <p:nvPr/>
        </p:nvSpPr>
        <p:spPr>
          <a:xfrm>
            <a:off x="4617720" y="2468880"/>
            <a:ext cx="295351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رفع كفاءة اتخاذ القرار</a:t>
            </a:r>
          </a:p>
        </p:txBody>
      </p:sp>
      <p:sp>
        <p:nvSpPr>
          <p:cNvPr id="38" name="Importance text 2"/>
          <p:cNvSpPr txBox="1"/>
          <p:nvPr/>
        </p:nvSpPr>
        <p:spPr>
          <a:xfrm>
            <a:off x="4663440" y="3063240"/>
            <a:ext cx="2862072" cy="960120"/>
          </a:xfrm>
          <a:prstGeom prst="rect">
            <a:avLst/>
          </a:prstGeom>
          <a:noFill/>
          <a:ln/>
        </p:spPr>
        <p:txBody>
          <a:bodyPr wrap="square" lIns="0" tIns="0" rIns="0" bIns="0" rtlCol="0" anchor="t"/>
          <a:lstStyle/>
          <a:p>
            <a:pPr rtl="1" algn="r" indent="0" marL="0">
              <a:buNone/>
            </a:pPr>
            <a:r>
              <a:rPr lang="ar-SA" altLang="en-US" sz="1500" dirty="0">
                <a:solidFill>
                  <a:schemeClr val="tx1"/>
                </a:solidFill>
              </a:rPr>
              <a:t>بيانات وإحصائيات دقيقة ومباشرة لمدير المعهد عن الوضع المالي والأكاديمي.</a:t>
            </a:r>
          </a:p>
        </p:txBody>
      </p:sp>
      <p:sp>
        <p:nvSpPr>
          <p:cNvPr id="39" name="Importance card 3"/>
          <p:cNvSpPr/>
          <p:nvPr/>
        </p:nvSpPr>
        <p:spPr>
          <a:xfrm>
            <a:off x="822960" y="2468880"/>
            <a:ext cx="3319272" cy="164592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0" name="Importance header 3"/>
          <p:cNvSpPr/>
          <p:nvPr/>
        </p:nvSpPr>
        <p:spPr>
          <a:xfrm>
            <a:off x="822960" y="2468880"/>
            <a:ext cx="3319272" cy="457200"/>
          </a:xfrm>
          <a:prstGeom prst="rect">
            <a:avLst/>
          </a:prstGeom>
          <a:solidFill>
            <a:schemeClr val="accent1"/>
          </a:solidFill>
          <a:ln/>
        </p:spPr>
      </p:sp>
      <p:sp>
        <p:nvSpPr>
          <p:cNvPr id="41" name="Importance title 3"/>
          <p:cNvSpPr txBox="1"/>
          <p:nvPr/>
        </p:nvSpPr>
        <p:spPr>
          <a:xfrm>
            <a:off x="1005840" y="2468880"/>
            <a:ext cx="295351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دعم الاستدامة والتطوير</a:t>
            </a:r>
          </a:p>
        </p:txBody>
      </p:sp>
      <p:sp>
        <p:nvSpPr>
          <p:cNvPr id="42" name="Importance text 3"/>
          <p:cNvSpPr txBox="1"/>
          <p:nvPr/>
        </p:nvSpPr>
        <p:spPr>
          <a:xfrm>
            <a:off x="1051560" y="3063240"/>
            <a:ext cx="2862072" cy="960120"/>
          </a:xfrm>
          <a:prstGeom prst="rect">
            <a:avLst/>
          </a:prstGeom>
          <a:noFill/>
          <a:ln/>
        </p:spPr>
        <p:txBody>
          <a:bodyPr wrap="square" lIns="0" tIns="0" rIns="0" bIns="0" rtlCol="0" anchor="t"/>
          <a:lstStyle/>
          <a:p>
            <a:pPr rtl="1" algn="r" indent="0" marL="0">
              <a:buNone/>
            </a:pPr>
            <a:r>
              <a:rPr lang="ar-SA" altLang="en-US" sz="1500" dirty="0">
                <a:solidFill>
                  <a:schemeClr val="tx1"/>
                </a:solidFill>
              </a:rPr>
              <a:t>حل مرن وقابل للتوسع يلبّي احتياجات المعاهد الصغيرة والمتوسطة بتكلفة مناسبة.</a:t>
            </a:r>
          </a:p>
        </p:txBody>
      </p:sp>
      <p:sp>
        <p:nvSpPr>
          <p:cNvPr id="43" name="Gaps heading"/>
          <p:cNvSpPr txBox="1"/>
          <p:nvPr/>
        </p:nvSpPr>
        <p:spPr>
          <a:xfrm>
            <a:off x="822960" y="4297680"/>
            <a:ext cx="10543032" cy="365760"/>
          </a:xfrm>
          <a:prstGeom prst="rect">
            <a:avLst/>
          </a:prstGeom>
          <a:noFill/>
          <a:ln/>
        </p:spPr>
        <p:txBody>
          <a:bodyPr wrap="square" lIns="0" tIns="0" rIns="0" bIns="0" rtlCol="0" anchor="ctr"/>
          <a:lstStyle/>
          <a:p>
            <a:pPr rtl="1" algn="r" indent="0" marL="0">
              <a:buNone/>
            </a:pPr>
            <a:r>
              <a:rPr lang="ar-SA" altLang="en-US" sz="1800" b="1" dirty="0">
                <a:solidFill>
                  <a:schemeClr val="accent1"/>
                </a:solidFill>
                <a:latin typeface="+mj-lt" pitchFamily="34" charset="0"/>
                <a:ea typeface="+mj-lt" pitchFamily="34" charset="-122"/>
                <a:cs typeface="+mj-lt" pitchFamily="34" charset="-120"/>
              </a:rPr>
              <a:t>الفجوات التي يعالجها المشروع</a:t>
            </a:r>
          </a:p>
        </p:txBody>
      </p:sp>
      <p:sp>
        <p:nvSpPr>
          <p:cNvPr id="44" name="Gap card 1"/>
          <p:cNvSpPr/>
          <p:nvPr/>
        </p:nvSpPr>
        <p:spPr>
          <a:xfrm>
            <a:off x="8046720" y="4754880"/>
            <a:ext cx="3319272" cy="137160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5" name="Gap text 1"/>
          <p:cNvSpPr txBox="1"/>
          <p:nvPr/>
        </p:nvSpPr>
        <p:spPr>
          <a:xfrm>
            <a:off x="8275320" y="4892040"/>
            <a:ext cx="2862072" cy="1097280"/>
          </a:xfrm>
          <a:prstGeom prst="rect">
            <a:avLst/>
          </a:prstGeom>
          <a:noFill/>
          <a:ln/>
        </p:spPr>
        <p:txBody>
          <a:bodyPr wrap="square" lIns="0" tIns="0" rIns="0" bIns="0" rtlCol="0" anchor="t"/>
          <a:lstStyle/>
          <a:p>
            <a:pPr rtl="1" algn="r" indent="0" marL="0">
              <a:buNone/>
            </a:pPr>
            <a:r>
              <a:rPr lang="ar-SA" altLang="en-US" sz="1500" b="1" dirty="0">
                <a:solidFill>
                  <a:schemeClr val="accent1"/>
                </a:solidFill>
                <a:latin typeface="+mj-lt" pitchFamily="34" charset="0"/>
                <a:ea typeface="+mj-lt" pitchFamily="34" charset="-122"/>
                <a:cs typeface="+mj-lt" pitchFamily="34" charset="-120"/>
              </a:rPr>
              <a:t>التعقيد والتكلفة</a:t>
            </a:r>
          </a:p>
          <a:p>
            <a:pPr rtl="1" algn="r" indent="0" marL="0">
              <a:spcBef>
                <a:spcPts val="400"/>
              </a:spcBef>
              <a:buNone/>
            </a:pPr>
            <a:r>
              <a:rPr lang="ar-SA" altLang="en-US" sz="1500" dirty="0">
                <a:solidFill>
                  <a:schemeClr val="tx1"/>
                </a:solidFill>
              </a:rPr>
              <a:t>الأنظمة الشاملة معقدة ومكلفة جداً للمؤسسات الصغيرة والمتوسطة.</a:t>
            </a:r>
          </a:p>
        </p:txBody>
      </p:sp>
      <p:sp>
        <p:nvSpPr>
          <p:cNvPr id="46" name="Gap card 2"/>
          <p:cNvSpPr/>
          <p:nvPr/>
        </p:nvSpPr>
        <p:spPr>
          <a:xfrm>
            <a:off x="4434840" y="4754880"/>
            <a:ext cx="3319272" cy="137160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7" name="Gap text 2"/>
          <p:cNvSpPr txBox="1"/>
          <p:nvPr/>
        </p:nvSpPr>
        <p:spPr>
          <a:xfrm>
            <a:off x="4663440" y="4892040"/>
            <a:ext cx="2862072" cy="1097280"/>
          </a:xfrm>
          <a:prstGeom prst="rect">
            <a:avLst/>
          </a:prstGeom>
          <a:noFill/>
          <a:ln/>
        </p:spPr>
        <p:txBody>
          <a:bodyPr wrap="square" lIns="0" tIns="0" rIns="0" bIns="0" rtlCol="0" anchor="t"/>
          <a:lstStyle/>
          <a:p>
            <a:pPr rtl="1" algn="r" indent="0" marL="0">
              <a:buNone/>
            </a:pPr>
            <a:r>
              <a:rPr lang="ar-SA" altLang="en-US" sz="1500" b="1" dirty="0">
                <a:solidFill>
                  <a:schemeClr val="accent1"/>
                </a:solidFill>
                <a:latin typeface="+mj-lt" pitchFamily="34" charset="0"/>
                <a:ea typeface="+mj-lt" pitchFamily="34" charset="-122"/>
                <a:cs typeface="+mj-lt" pitchFamily="34" charset="-120"/>
              </a:rPr>
              <a:t>غياب الذكاء الاصطناعي</a:t>
            </a:r>
          </a:p>
          <a:p>
            <a:pPr rtl="1" algn="r" indent="0" marL="0">
              <a:spcBef>
                <a:spcPts val="400"/>
              </a:spcBef>
              <a:buNone/>
            </a:pPr>
            <a:r>
              <a:rPr lang="ar-SA" altLang="en-US" sz="1500" dirty="0">
                <a:solidFill>
                  <a:schemeClr val="tx1"/>
                </a:solidFill>
              </a:rPr>
              <a:t>لا تنبؤ مبكر بتعثر الطلاب ولا مساعد ذكي يعتمد على بيانات المعهد نفسه.</a:t>
            </a:r>
          </a:p>
        </p:txBody>
      </p:sp>
      <p:sp>
        <p:nvSpPr>
          <p:cNvPr id="48" name="Gap card 3"/>
          <p:cNvSpPr/>
          <p:nvPr/>
        </p:nvSpPr>
        <p:spPr>
          <a:xfrm>
            <a:off x="822960" y="4754880"/>
            <a:ext cx="3319272" cy="137160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49" name="Gap text 3"/>
          <p:cNvSpPr txBox="1"/>
          <p:nvPr/>
        </p:nvSpPr>
        <p:spPr>
          <a:xfrm>
            <a:off x="1051560" y="4892040"/>
            <a:ext cx="2862072" cy="1097280"/>
          </a:xfrm>
          <a:prstGeom prst="rect">
            <a:avLst/>
          </a:prstGeom>
          <a:noFill/>
          <a:ln/>
        </p:spPr>
        <p:txBody>
          <a:bodyPr wrap="square" lIns="0" tIns="0" rIns="0" bIns="0" rtlCol="0" anchor="t"/>
          <a:lstStyle/>
          <a:p>
            <a:pPr rtl="1" algn="r" indent="0" marL="0">
              <a:buNone/>
            </a:pPr>
            <a:r>
              <a:rPr lang="ar-SA" altLang="en-US" sz="1500" b="1" dirty="0">
                <a:solidFill>
                  <a:schemeClr val="accent1"/>
                </a:solidFill>
                <a:latin typeface="+mj-lt" pitchFamily="34" charset="0"/>
                <a:ea typeface="+mj-lt" pitchFamily="34" charset="-122"/>
                <a:cs typeface="+mj-lt" pitchFamily="34" charset="-120"/>
              </a:rPr>
              <a:t>فصل الأكاديمي عن المالي</a:t>
            </a:r>
          </a:p>
          <a:p>
            <a:pPr rtl="1" algn="r" indent="0" marL="0">
              <a:spcBef>
                <a:spcPts val="400"/>
              </a:spcBef>
              <a:buNone/>
            </a:pPr>
            <a:r>
              <a:rPr lang="ar-SA" altLang="en-US" sz="1500" dirty="0">
                <a:solidFill>
                  <a:schemeClr val="tx1"/>
                </a:solidFill>
              </a:rPr>
              <a:t>أنظمة LMS مثل Moodle تهمل الأقساط والرواتب والمصاريف، وتضعف إدارة الحضور.</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ما أُنجز</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المراحل المنفذة سابقاً</a:t>
            </a:r>
            <a:endParaRPr lang="ar-SA" sz="2600" dirty="0"/>
          </a:p>
        </p:txBody>
      </p:sp>
      <p:sp>
        <p:nvSpPr>
          <p:cNvPr id="5" name="Phase card 1"/>
          <p:cNvSpPr/>
          <p:nvPr/>
        </p:nvSpPr>
        <p:spPr>
          <a:xfrm>
            <a:off x="6245352" y="16916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6" name="Phase badge 1"/>
          <p:cNvSpPr/>
          <p:nvPr/>
        </p:nvSpPr>
        <p:spPr>
          <a:xfrm>
            <a:off x="10634472" y="1965960"/>
            <a:ext cx="475488" cy="475488"/>
          </a:xfrm>
          <a:prstGeom prst="ellipse">
            <a:avLst/>
          </a:prstGeom>
          <a:solidFill>
            <a:schemeClr val="accent1"/>
          </a:solidFill>
          <a:ln/>
        </p:spPr>
      </p:sp>
      <p:sp>
        <p:nvSpPr>
          <p:cNvPr id="7" name="Text 4"/>
          <p:cNvSpPr txBox="1"/>
          <p:nvPr/>
        </p:nvSpPr>
        <p:spPr>
          <a:xfrm>
            <a:off x="10634472" y="1965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1</a:t>
            </a:r>
            <a:endParaRPr lang="en-US" sz="1600" dirty="0"/>
          </a:p>
        </p:txBody>
      </p:sp>
      <p:sp>
        <p:nvSpPr>
          <p:cNvPr id="8" name="Text 5"/>
          <p:cNvSpPr txBox="1"/>
          <p:nvPr/>
        </p:nvSpPr>
        <p:spPr>
          <a:xfrm>
            <a:off x="6519672" y="19659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دراسة المتطلبات</a:t>
            </a:r>
            <a:endParaRPr lang="ar-SA" sz="1900" dirty="0"/>
          </a:p>
        </p:txBody>
      </p:sp>
      <p:sp>
        <p:nvSpPr>
          <p:cNvPr id="9" name="Text 6"/>
          <p:cNvSpPr txBox="1"/>
          <p:nvPr/>
        </p:nvSpPr>
        <p:spPr>
          <a:xfrm>
            <a:off x="6519672" y="26060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تحديد النطاق والمستخدمين وحالات الاستخدام من 1 إلى 20</a:t>
            </a:r>
            <a:endParaRPr lang="ar-SA" sz="1500" dirty="0"/>
          </a:p>
        </p:txBody>
      </p:sp>
      <p:sp>
        <p:nvSpPr>
          <p:cNvPr id="10" name="Phase card 2"/>
          <p:cNvSpPr/>
          <p:nvPr/>
        </p:nvSpPr>
        <p:spPr>
          <a:xfrm>
            <a:off x="822960" y="16916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1" name="Phase badge 2"/>
          <p:cNvSpPr/>
          <p:nvPr/>
        </p:nvSpPr>
        <p:spPr>
          <a:xfrm>
            <a:off x="5212080" y="1965960"/>
            <a:ext cx="475488" cy="475488"/>
          </a:xfrm>
          <a:prstGeom prst="ellipse">
            <a:avLst/>
          </a:prstGeom>
          <a:solidFill>
            <a:schemeClr val="accent1"/>
          </a:solidFill>
          <a:ln/>
        </p:spPr>
      </p:sp>
      <p:sp>
        <p:nvSpPr>
          <p:cNvPr id="12" name="Text 9"/>
          <p:cNvSpPr txBox="1"/>
          <p:nvPr/>
        </p:nvSpPr>
        <p:spPr>
          <a:xfrm>
            <a:off x="5212080" y="19659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2</a:t>
            </a:r>
            <a:endParaRPr lang="en-US" sz="1600" dirty="0"/>
          </a:p>
        </p:txBody>
      </p:sp>
      <p:sp>
        <p:nvSpPr>
          <p:cNvPr id="13" name="Text 10"/>
          <p:cNvSpPr txBox="1"/>
          <p:nvPr/>
        </p:nvSpPr>
        <p:spPr>
          <a:xfrm>
            <a:off x="1097280" y="19659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مخطط حالات الاستخدام</a:t>
            </a:r>
            <a:endParaRPr lang="ar-SA" sz="1900" dirty="0"/>
          </a:p>
        </p:txBody>
      </p:sp>
      <p:sp>
        <p:nvSpPr>
          <p:cNvPr id="14" name="Text 11"/>
          <p:cNvSpPr txBox="1"/>
          <p:nvPr/>
        </p:nvSpPr>
        <p:spPr>
          <a:xfrm>
            <a:off x="1097280" y="26060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المخطط العام + وثائق التوصيف التفصيلية للوظائف ذات الأولوية العالية</a:t>
            </a:r>
            <a:endParaRPr lang="ar-SA" sz="1500" dirty="0"/>
          </a:p>
        </p:txBody>
      </p:sp>
      <p:sp>
        <p:nvSpPr>
          <p:cNvPr id="15" name="Phase card 3"/>
          <p:cNvSpPr/>
          <p:nvPr/>
        </p:nvSpPr>
        <p:spPr>
          <a:xfrm>
            <a:off x="6245352" y="42062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6" name="Phase badge 3"/>
          <p:cNvSpPr/>
          <p:nvPr/>
        </p:nvSpPr>
        <p:spPr>
          <a:xfrm>
            <a:off x="10634472" y="4480560"/>
            <a:ext cx="475488" cy="475488"/>
          </a:xfrm>
          <a:prstGeom prst="ellipse">
            <a:avLst/>
          </a:prstGeom>
          <a:solidFill>
            <a:schemeClr val="accent1"/>
          </a:solidFill>
          <a:ln/>
        </p:spPr>
      </p:sp>
      <p:sp>
        <p:nvSpPr>
          <p:cNvPr id="17" name="Text 14"/>
          <p:cNvSpPr txBox="1"/>
          <p:nvPr/>
        </p:nvSpPr>
        <p:spPr>
          <a:xfrm>
            <a:off x="10634472" y="4480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3</a:t>
            </a:r>
            <a:endParaRPr lang="en-US" sz="1600" dirty="0"/>
          </a:p>
        </p:txBody>
      </p:sp>
      <p:sp>
        <p:nvSpPr>
          <p:cNvPr id="18" name="Text 15"/>
          <p:cNvSpPr txBox="1"/>
          <p:nvPr/>
        </p:nvSpPr>
        <p:spPr>
          <a:xfrm>
            <a:off x="6519672" y="44805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تصميم قاعدة البيانات</a:t>
            </a:r>
            <a:endParaRPr lang="ar-SA" sz="1900" dirty="0"/>
          </a:p>
        </p:txBody>
      </p:sp>
      <p:sp>
        <p:nvSpPr>
          <p:cNvPr id="19" name="Text 16"/>
          <p:cNvSpPr txBox="1"/>
          <p:nvPr/>
        </p:nvSpPr>
        <p:spPr>
          <a:xfrm>
            <a:off x="6519672" y="51206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مخطط ERD والمخطط العلائقي لـ 12 جدولاً</a:t>
            </a:r>
            <a:endParaRPr lang="ar-SA" sz="1500" dirty="0"/>
          </a:p>
        </p:txBody>
      </p:sp>
      <p:sp>
        <p:nvSpPr>
          <p:cNvPr id="20" name="Phase card 4"/>
          <p:cNvSpPr/>
          <p:nvPr/>
        </p:nvSpPr>
        <p:spPr>
          <a:xfrm>
            <a:off x="822960" y="4206240"/>
            <a:ext cx="5120640" cy="2148840"/>
          </a:xfrm>
          <a:prstGeom prst="roundRect">
            <a:avLst>
              <a:gd name="adj" fmla="val 4255"/>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21" name="Phase badge 4"/>
          <p:cNvSpPr/>
          <p:nvPr/>
        </p:nvSpPr>
        <p:spPr>
          <a:xfrm>
            <a:off x="5212080" y="4480560"/>
            <a:ext cx="475488" cy="475488"/>
          </a:xfrm>
          <a:prstGeom prst="ellipse">
            <a:avLst/>
          </a:prstGeom>
          <a:solidFill>
            <a:schemeClr val="accent1"/>
          </a:solidFill>
          <a:ln/>
        </p:spPr>
      </p:sp>
      <p:sp>
        <p:nvSpPr>
          <p:cNvPr id="22" name="Text 19"/>
          <p:cNvSpPr txBox="1"/>
          <p:nvPr/>
        </p:nvSpPr>
        <p:spPr>
          <a:xfrm>
            <a:off x="5212080" y="4480560"/>
            <a:ext cx="475488" cy="475488"/>
          </a:xfrm>
          <a:prstGeom prst="rect">
            <a:avLst/>
          </a:prstGeom>
          <a:noFill/>
          <a:ln/>
        </p:spPr>
        <p:txBody>
          <a:bodyPr wrap="square" lIns="0" tIns="0" rIns="0" bIns="0" rtlCol="0" anchor="ctr"/>
          <a:lstStyle/>
          <a:p>
            <a:pPr algn="ctr" indent="0" marL="0">
              <a:buNone/>
            </a:pPr>
            <a:r>
              <a:rPr lang="en-US" sz="1600" b="1" dirty="0">
                <a:solidFill>
                  <a:schemeClr val="bg1"/>
                </a:solidFill>
                <a:latin typeface="+mj-lt" pitchFamily="34" charset="0"/>
                <a:ea typeface="+mj-lt" pitchFamily="34" charset="-122"/>
                <a:cs typeface="+mj-lt" pitchFamily="34" charset="-120"/>
              </a:rPr>
              <a:t>4</a:t>
            </a:r>
            <a:endParaRPr lang="en-US" sz="1600" dirty="0"/>
          </a:p>
        </p:txBody>
      </p:sp>
      <p:sp>
        <p:nvSpPr>
          <p:cNvPr id="23" name="Text 20"/>
          <p:cNvSpPr txBox="1"/>
          <p:nvPr/>
        </p:nvSpPr>
        <p:spPr>
          <a:xfrm>
            <a:off x="1097280" y="4480560"/>
            <a:ext cx="3886200" cy="475488"/>
          </a:xfrm>
          <a:prstGeom prst="rect">
            <a:avLst/>
          </a:prstGeom>
          <a:noFill/>
          <a:ln/>
        </p:spPr>
        <p:txBody>
          <a:bodyPr wrap="square" lIns="0" tIns="0" rIns="0" bIns="0" rtlCol="0" anchor="ctr"/>
          <a:lstStyle/>
          <a:p>
            <a:pPr rtl="1" algn="r" indent="0" marL="0">
              <a:buNone/>
            </a:pPr>
            <a:r>
              <a:rPr lang="ar-SA" altLang="en-US" sz="1900" b="1" dirty="0">
                <a:solidFill>
                  <a:schemeClr val="tx2"/>
                </a:solidFill>
                <a:latin typeface="+mj-lt" pitchFamily="34" charset="0"/>
                <a:ea typeface="+mj-lt" pitchFamily="34" charset="-122"/>
                <a:cs typeface="+mj-lt" pitchFamily="34" charset="-120"/>
              </a:rPr>
              <a:t>مخططات السلوك والبنية</a:t>
            </a:r>
            <a:endParaRPr lang="ar-SA" sz="1900" dirty="0"/>
          </a:p>
        </p:txBody>
      </p:sp>
      <p:sp>
        <p:nvSpPr>
          <p:cNvPr id="24" name="Text 21"/>
          <p:cNvSpPr txBox="1"/>
          <p:nvPr/>
        </p:nvSpPr>
        <p:spPr>
          <a:xfrm>
            <a:off x="1097280" y="5120640"/>
            <a:ext cx="4572000" cy="1005840"/>
          </a:xfrm>
          <a:prstGeom prst="rect">
            <a:avLst/>
          </a:prstGeom>
          <a:noFill/>
          <a:ln/>
        </p:spPr>
        <p:txBody>
          <a:bodyPr wrap="square" lIns="0" tIns="0" rIns="0" bIns="0" rtlCol="0" anchor="t"/>
          <a:lstStyle/>
          <a:p>
            <a:pPr rtl="1" algn="r" indent="0" marL="0">
              <a:buNone/>
            </a:pPr>
            <a:r>
              <a:rPr lang="ar-SA" altLang="en-US" sz="1500" dirty="0">
                <a:solidFill>
                  <a:schemeClr val="tx1"/>
                </a:solidFill>
              </a:rPr>
              <a:t>مخططات التسلسل والنشاط للوظائف العالية، والبنية المعمارية للنظام</a:t>
            </a:r>
            <a:endParaRPr lang="ar-SA" sz="15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المستخدمون</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المستخدمون وحالات الاستخدام</a:t>
            </a:r>
            <a:endParaRPr lang="ar-SA" sz="2600" dirty="0"/>
          </a:p>
        </p:txBody>
      </p:sp>
      <p:sp>
        <p:nvSpPr>
          <p:cNvPr id="5" name="Use case diagram card"/>
          <p:cNvSpPr/>
          <p:nvPr/>
        </p:nvSpPr>
        <p:spPr>
          <a:xfrm>
            <a:off x="822960" y="1600200"/>
            <a:ext cx="4480560" cy="4709160"/>
          </a:xfrm>
          <a:prstGeom prst="roundRect">
            <a:avLst>
              <a:gd name="adj" fmla="val 204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حالات الاستخدام" descr="مخطط حالات الاستخدام">    </p:cNvPr>
          <p:cNvPicPr>
            <a:picLocks noChangeAspect="1"/>
          </p:cNvPicPr>
          <p:nvPr/>
        </p:nvPicPr>
        <p:blipFill>
          <a:blip r:embed="rId1"/>
          <a:stretch>
            <a:fillRect/>
          </a:stretch>
        </p:blipFill>
        <p:spPr>
          <a:xfrm>
            <a:off x="1168801" y="1737360"/>
            <a:ext cx="3788877" cy="4434840"/>
          </a:xfrm>
          <a:prstGeom prst="rect">
            <a:avLst/>
          </a:prstGeom>
        </p:spPr>
      </p:pic>
      <p:sp>
        <p:nvSpPr>
          <p:cNvPr id="7" name="User role card 1"/>
          <p:cNvSpPr/>
          <p:nvPr/>
        </p:nvSpPr>
        <p:spPr>
          <a:xfrm>
            <a:off x="5623560" y="1600200"/>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Role badge 1"/>
          <p:cNvSpPr/>
          <p:nvPr/>
        </p:nvSpPr>
        <p:spPr>
          <a:xfrm>
            <a:off x="10680192" y="1783080"/>
            <a:ext cx="411480" cy="411480"/>
          </a:xfrm>
          <a:prstGeom prst="ellipse">
            <a:avLst/>
          </a:prstGeom>
          <a:solidFill>
            <a:schemeClr val="accent1"/>
          </a:solidFill>
          <a:ln/>
        </p:spPr>
      </p:sp>
      <p:sp>
        <p:nvSpPr>
          <p:cNvPr id="9" name="Text 5"/>
          <p:cNvSpPr txBox="1"/>
          <p:nvPr/>
        </p:nvSpPr>
        <p:spPr>
          <a:xfrm>
            <a:off x="10680192" y="17830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1</a:t>
            </a:r>
            <a:endParaRPr lang="en-US" sz="1400" dirty="0"/>
          </a:p>
        </p:txBody>
      </p:sp>
      <p:sp>
        <p:nvSpPr>
          <p:cNvPr id="10" name="Text 6"/>
          <p:cNvSpPr txBox="1"/>
          <p:nvPr/>
        </p:nvSpPr>
        <p:spPr>
          <a:xfrm>
            <a:off x="5897880" y="1783080"/>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مدير النظام (حالات 02 إلى 09)</a:t>
            </a:r>
            <a:endParaRPr lang="ar-SA" sz="1700" dirty="0"/>
          </a:p>
        </p:txBody>
      </p:sp>
      <p:sp>
        <p:nvSpPr>
          <p:cNvPr id="11" name="Text 7"/>
          <p:cNvSpPr txBox="1"/>
          <p:nvPr/>
        </p:nvSpPr>
        <p:spPr>
          <a:xfrm>
            <a:off x="5897880" y="2313432"/>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المستخدمون، القاعات، الكورسات، الدفعات، الأقساط، الرواتب، المصاريف، التقارير</a:t>
            </a:r>
            <a:endParaRPr lang="ar-SA" sz="1400" dirty="0"/>
          </a:p>
        </p:txBody>
      </p:sp>
      <p:sp>
        <p:nvSpPr>
          <p:cNvPr id="12" name="User role card 2"/>
          <p:cNvSpPr/>
          <p:nvPr/>
        </p:nvSpPr>
        <p:spPr>
          <a:xfrm>
            <a:off x="5623560" y="3232404"/>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3" name="Role badge 2"/>
          <p:cNvSpPr/>
          <p:nvPr/>
        </p:nvSpPr>
        <p:spPr>
          <a:xfrm>
            <a:off x="10680192" y="3415284"/>
            <a:ext cx="411480" cy="411480"/>
          </a:xfrm>
          <a:prstGeom prst="ellipse">
            <a:avLst/>
          </a:prstGeom>
          <a:solidFill>
            <a:schemeClr val="accent1"/>
          </a:solidFill>
          <a:ln/>
        </p:spPr>
      </p:sp>
      <p:sp>
        <p:nvSpPr>
          <p:cNvPr id="14" name="Text 10"/>
          <p:cNvSpPr txBox="1"/>
          <p:nvPr/>
        </p:nvSpPr>
        <p:spPr>
          <a:xfrm>
            <a:off x="10680192" y="3415284"/>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2</a:t>
            </a:r>
            <a:endParaRPr lang="en-US" sz="1400" dirty="0"/>
          </a:p>
        </p:txBody>
      </p:sp>
      <p:sp>
        <p:nvSpPr>
          <p:cNvPr id="15" name="Text 11"/>
          <p:cNvSpPr txBox="1"/>
          <p:nvPr/>
        </p:nvSpPr>
        <p:spPr>
          <a:xfrm>
            <a:off x="5897880" y="3415284"/>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المدرّس (حالات 10 إلى 14)</a:t>
            </a:r>
            <a:endParaRPr lang="ar-SA" sz="1700" dirty="0"/>
          </a:p>
        </p:txBody>
      </p:sp>
      <p:sp>
        <p:nvSpPr>
          <p:cNvPr id="16" name="Text 12"/>
          <p:cNvSpPr txBox="1"/>
          <p:nvPr/>
        </p:nvSpPr>
        <p:spPr>
          <a:xfrm>
            <a:off x="5897880" y="3945636"/>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الجدول، الحضور والغياب، رفع المواد، العلامات والتقييمات، الملاحظات</a:t>
            </a:r>
            <a:endParaRPr lang="ar-SA" sz="1400" dirty="0"/>
          </a:p>
        </p:txBody>
      </p:sp>
      <p:sp>
        <p:nvSpPr>
          <p:cNvPr id="17" name="User role card 3"/>
          <p:cNvSpPr/>
          <p:nvPr/>
        </p:nvSpPr>
        <p:spPr>
          <a:xfrm>
            <a:off x="5623560" y="4864608"/>
            <a:ext cx="574243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8" name="Role badge 3"/>
          <p:cNvSpPr/>
          <p:nvPr/>
        </p:nvSpPr>
        <p:spPr>
          <a:xfrm>
            <a:off x="10680192" y="5047488"/>
            <a:ext cx="411480" cy="411480"/>
          </a:xfrm>
          <a:prstGeom prst="ellipse">
            <a:avLst/>
          </a:prstGeom>
          <a:solidFill>
            <a:schemeClr val="accent1"/>
          </a:solidFill>
          <a:ln/>
        </p:spPr>
      </p:sp>
      <p:sp>
        <p:nvSpPr>
          <p:cNvPr id="19" name="Text 15"/>
          <p:cNvSpPr txBox="1"/>
          <p:nvPr/>
        </p:nvSpPr>
        <p:spPr>
          <a:xfrm>
            <a:off x="10680192" y="5047488"/>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latin typeface="+mj-lt" pitchFamily="34" charset="0"/>
                <a:ea typeface="+mj-lt" pitchFamily="34" charset="-122"/>
                <a:cs typeface="+mj-lt" pitchFamily="34" charset="-120"/>
              </a:rPr>
              <a:t>3</a:t>
            </a:r>
            <a:endParaRPr lang="en-US" sz="1400" dirty="0"/>
          </a:p>
        </p:txBody>
      </p:sp>
      <p:sp>
        <p:nvSpPr>
          <p:cNvPr id="20" name="Text 16"/>
          <p:cNvSpPr txBox="1"/>
          <p:nvPr/>
        </p:nvSpPr>
        <p:spPr>
          <a:xfrm>
            <a:off x="5897880" y="5047488"/>
            <a:ext cx="4553712" cy="411480"/>
          </a:xfrm>
          <a:prstGeom prst="rect">
            <a:avLst/>
          </a:prstGeom>
          <a:noFill/>
          <a:ln/>
        </p:spPr>
        <p:txBody>
          <a:bodyPr wrap="square" lIns="0" tIns="0" rIns="0" bIns="0" rtlCol="0" anchor="ctr"/>
          <a:lstStyle/>
          <a:p>
            <a:pPr rtl="1" algn="r" indent="0" marL="0">
              <a:buNone/>
            </a:pPr>
            <a:r>
              <a:rPr lang="ar-SA" altLang="en-US" sz="1700" b="1" dirty="0">
                <a:solidFill>
                  <a:schemeClr val="accent1"/>
                </a:solidFill>
                <a:latin typeface="+mj-lt" pitchFamily="34" charset="0"/>
                <a:ea typeface="+mj-lt" pitchFamily="34" charset="-122"/>
                <a:cs typeface="+mj-lt" pitchFamily="34" charset="-120"/>
              </a:rPr>
              <a:t>الطالب (حالات 15 إلى 20)</a:t>
            </a:r>
            <a:endParaRPr lang="ar-SA" sz="1700" dirty="0"/>
          </a:p>
        </p:txBody>
      </p:sp>
      <p:sp>
        <p:nvSpPr>
          <p:cNvPr id="21" name="Text 17"/>
          <p:cNvSpPr txBox="1"/>
          <p:nvPr/>
        </p:nvSpPr>
        <p:spPr>
          <a:xfrm>
            <a:off x="5897880" y="5577840"/>
            <a:ext cx="5193792" cy="640080"/>
          </a:xfrm>
          <a:prstGeom prst="rect">
            <a:avLst/>
          </a:prstGeom>
          <a:noFill/>
          <a:ln/>
        </p:spPr>
        <p:txBody>
          <a:bodyPr wrap="square" lIns="0" tIns="0" rIns="0" bIns="0" rtlCol="0" anchor="t"/>
          <a:lstStyle/>
          <a:p>
            <a:pPr rtl="1" algn="r" indent="0" marL="0">
              <a:buNone/>
            </a:pPr>
            <a:r>
              <a:rPr lang="ar-SA" altLang="en-US" sz="1400" dirty="0">
                <a:solidFill>
                  <a:schemeClr val="tx1"/>
                </a:solidFill>
              </a:rPr>
              <a:t>تصفح الكورسات والتسجيل، الجدول، الحضور، العلامات، المواد، السجل المالي</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5</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البيانات</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تصميم قاعدة البيانات (ERD)</a:t>
            </a:r>
            <a:endParaRPr lang="ar-SA" sz="2600" dirty="0"/>
          </a:p>
        </p:txBody>
      </p:sp>
      <p:sp>
        <p:nvSpPr>
          <p:cNvPr id="5" name="ERD card"/>
          <p:cNvSpPr/>
          <p:nvPr/>
        </p:nvSpPr>
        <p:spPr>
          <a:xfrm>
            <a:off x="822960" y="1600200"/>
            <a:ext cx="4572000" cy="4709160"/>
          </a:xfrm>
          <a:prstGeom prst="roundRect">
            <a:avLst>
              <a:gd name="adj" fmla="val 200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ERD" descr="مخطط ERD">    </p:cNvPr>
          <p:cNvPicPr>
            <a:picLocks noChangeAspect="1"/>
          </p:cNvPicPr>
          <p:nvPr/>
        </p:nvPicPr>
        <p:blipFill>
          <a:blip r:embed="rId1"/>
          <a:stretch>
            <a:fillRect/>
          </a:stretch>
        </p:blipFill>
        <p:spPr>
          <a:xfrm>
            <a:off x="1103920" y="1737360"/>
            <a:ext cx="4010079" cy="4434840"/>
          </a:xfrm>
          <a:prstGeom prst="rect">
            <a:avLst/>
          </a:prstGeom>
        </p:spPr>
      </p:pic>
      <p:sp>
        <p:nvSpPr>
          <p:cNvPr id="7" name="ERD note card 1"/>
          <p:cNvSpPr/>
          <p:nvPr/>
        </p:nvSpPr>
        <p:spPr>
          <a:xfrm>
            <a:off x="5715000" y="1600200"/>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ERD note header 1"/>
          <p:cNvSpPr/>
          <p:nvPr/>
        </p:nvSpPr>
        <p:spPr>
          <a:xfrm>
            <a:off x="5715000" y="1600200"/>
            <a:ext cx="5650992" cy="457200"/>
          </a:xfrm>
          <a:prstGeom prst="rect">
            <a:avLst/>
          </a:prstGeom>
          <a:solidFill>
            <a:schemeClr val="accent1"/>
          </a:solidFill>
          <a:ln/>
        </p:spPr>
      </p:sp>
      <p:sp>
        <p:nvSpPr>
          <p:cNvPr id="9" name="Text 5"/>
          <p:cNvSpPr txBox="1"/>
          <p:nvPr/>
        </p:nvSpPr>
        <p:spPr>
          <a:xfrm>
            <a:off x="5943600" y="1600200"/>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محور النظام: الدفعة (Batch)</a:t>
            </a:r>
            <a:endParaRPr lang="ar-SA" sz="1600" dirty="0"/>
          </a:p>
        </p:txBody>
      </p:sp>
      <p:sp>
        <p:nvSpPr>
          <p:cNvPr id="10" name="Text 6"/>
          <p:cNvSpPr txBox="1"/>
          <p:nvPr/>
        </p:nvSpPr>
        <p:spPr>
          <a:xfrm>
            <a:off x="5943600" y="2148840"/>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ترتبط بالكورس والمدرّس والقاعة، وتتفرع عنها التسجيلات والحضور والعلامات والمواد</a:t>
            </a:r>
            <a:endParaRPr lang="ar-SA" sz="1400" dirty="0"/>
          </a:p>
        </p:txBody>
      </p:sp>
      <p:sp>
        <p:nvSpPr>
          <p:cNvPr id="11" name="ERD note card 2"/>
          <p:cNvSpPr/>
          <p:nvPr/>
        </p:nvSpPr>
        <p:spPr>
          <a:xfrm>
            <a:off x="5715000" y="3232404"/>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2" name="ERD note header 2"/>
          <p:cNvSpPr/>
          <p:nvPr/>
        </p:nvSpPr>
        <p:spPr>
          <a:xfrm>
            <a:off x="5715000" y="3232404"/>
            <a:ext cx="5650992" cy="457200"/>
          </a:xfrm>
          <a:prstGeom prst="rect">
            <a:avLst/>
          </a:prstGeom>
          <a:solidFill>
            <a:schemeClr val="accent1"/>
          </a:solidFill>
          <a:ln/>
        </p:spPr>
      </p:sp>
      <p:sp>
        <p:nvSpPr>
          <p:cNvPr id="13" name="Text 9"/>
          <p:cNvSpPr txBox="1"/>
          <p:nvPr/>
        </p:nvSpPr>
        <p:spPr>
          <a:xfrm>
            <a:off x="5943600" y="3232404"/>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الجانب المالي</a:t>
            </a:r>
            <a:endParaRPr lang="ar-SA" sz="1600" dirty="0"/>
          </a:p>
        </p:txBody>
      </p:sp>
      <p:sp>
        <p:nvSpPr>
          <p:cNvPr id="14" name="Text 10"/>
          <p:cNvSpPr txBox="1"/>
          <p:nvPr/>
        </p:nvSpPr>
        <p:spPr>
          <a:xfrm>
            <a:off x="5943600" y="3781044"/>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المدفوعات مرتبطة بالتسجيل بإيصال فريد، والرواتب مرتبطة بسجل مصروف مقفل</a:t>
            </a:r>
            <a:endParaRPr lang="ar-SA" sz="1400" dirty="0"/>
          </a:p>
        </p:txBody>
      </p:sp>
      <p:sp>
        <p:nvSpPr>
          <p:cNvPr id="15" name="ERD note card 3"/>
          <p:cNvSpPr/>
          <p:nvPr/>
        </p:nvSpPr>
        <p:spPr>
          <a:xfrm>
            <a:off x="5715000" y="4864608"/>
            <a:ext cx="5650992" cy="1444752"/>
          </a:xfrm>
          <a:prstGeom prst="roundRect">
            <a:avLst>
              <a:gd name="adj" fmla="val 6329"/>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6" name="ERD note header 3"/>
          <p:cNvSpPr/>
          <p:nvPr/>
        </p:nvSpPr>
        <p:spPr>
          <a:xfrm>
            <a:off x="5715000" y="4864608"/>
            <a:ext cx="5650992" cy="457200"/>
          </a:xfrm>
          <a:prstGeom prst="rect">
            <a:avLst/>
          </a:prstGeom>
          <a:solidFill>
            <a:schemeClr val="accent1"/>
          </a:solidFill>
          <a:ln/>
        </p:spPr>
      </p:sp>
      <p:sp>
        <p:nvSpPr>
          <p:cNvPr id="17" name="Text 13"/>
          <p:cNvSpPr txBox="1"/>
          <p:nvPr/>
        </p:nvSpPr>
        <p:spPr>
          <a:xfrm>
            <a:off x="5943600" y="4864608"/>
            <a:ext cx="5193792"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المستخدمون والأدوار</a:t>
            </a:r>
            <a:endParaRPr lang="ar-SA" sz="1600" dirty="0"/>
          </a:p>
        </p:txBody>
      </p:sp>
      <p:sp>
        <p:nvSpPr>
          <p:cNvPr id="18" name="Text 14"/>
          <p:cNvSpPr txBox="1"/>
          <p:nvPr/>
        </p:nvSpPr>
        <p:spPr>
          <a:xfrm>
            <a:off x="5943600" y="5413248"/>
            <a:ext cx="5193792" cy="804672"/>
          </a:xfrm>
          <a:prstGeom prst="rect">
            <a:avLst/>
          </a:prstGeom>
          <a:noFill/>
          <a:ln/>
        </p:spPr>
        <p:txBody>
          <a:bodyPr wrap="square" lIns="0" tIns="0" rIns="0" bIns="0" rtlCol="0" anchor="t"/>
          <a:lstStyle/>
          <a:p>
            <a:pPr rtl="1" algn="r" indent="0" marL="0">
              <a:buNone/>
            </a:pPr>
            <a:r>
              <a:rPr lang="ar-SA" altLang="en-US" sz="1400" dirty="0">
                <a:solidFill>
                  <a:schemeClr val="tx1"/>
                </a:solidFill>
              </a:rPr>
              <a:t>جدول users واحد بحقل role للمدير والمدرس والطالب مع صلاحيات على مستوى المسارات</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7</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السلوك</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تصميم السلوك: مخططات النشاط والتسلسل</a:t>
            </a:r>
            <a:endParaRPr lang="ar-SA" sz="2600" dirty="0"/>
          </a:p>
        </p:txBody>
      </p:sp>
      <p:sp>
        <p:nvSpPr>
          <p:cNvPr id="5" name="Sequence diagram card"/>
          <p:cNvSpPr/>
          <p:nvPr/>
        </p:nvSpPr>
        <p:spPr>
          <a:xfrm>
            <a:off x="822960" y="1600200"/>
            <a:ext cx="6583680" cy="4160520"/>
          </a:xfrm>
          <a:prstGeom prst="roundRect">
            <a:avLst>
              <a:gd name="adj" fmla="val 2198"/>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تسلسل صرف راتب" descr="مخطط تسلسل صرف راتب">    </p:cNvPr>
          <p:cNvPicPr>
            <a:picLocks noChangeAspect="1"/>
          </p:cNvPicPr>
          <p:nvPr/>
        </p:nvPicPr>
        <p:blipFill>
          <a:blip r:embed="rId1"/>
          <a:stretch>
            <a:fillRect/>
          </a:stretch>
        </p:blipFill>
        <p:spPr>
          <a:xfrm>
            <a:off x="1047645" y="1737360"/>
            <a:ext cx="6134309" cy="3886200"/>
          </a:xfrm>
          <a:prstGeom prst="rect">
            <a:avLst/>
          </a:prstGeom>
        </p:spPr>
      </p:pic>
      <p:sp>
        <p:nvSpPr>
          <p:cNvPr id="7" name="Activity diagram card"/>
          <p:cNvSpPr/>
          <p:nvPr/>
        </p:nvSpPr>
        <p:spPr>
          <a:xfrm>
            <a:off x="7680960" y="1600200"/>
            <a:ext cx="3685032" cy="4160520"/>
          </a:xfrm>
          <a:prstGeom prst="roundRect">
            <a:avLst>
              <a:gd name="adj" fmla="val 248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8" name="مخطط نشاط تسجيل دفعة مالية" descr="مخطط نشاط تسجيل دفعة مالية">    </p:cNvPr>
          <p:cNvPicPr>
            <a:picLocks noChangeAspect="1"/>
          </p:cNvPicPr>
          <p:nvPr/>
        </p:nvPicPr>
        <p:blipFill>
          <a:blip r:embed="rId2"/>
          <a:stretch>
            <a:fillRect/>
          </a:stretch>
        </p:blipFill>
        <p:spPr>
          <a:xfrm>
            <a:off x="7878533" y="1737360"/>
            <a:ext cx="3289887" cy="3886200"/>
          </a:xfrm>
          <a:prstGeom prst="rect">
            <a:avLst/>
          </a:prstGeom>
        </p:spPr>
      </p:pic>
      <p:sp>
        <p:nvSpPr>
          <p:cNvPr id="9" name="Text 4"/>
          <p:cNvSpPr txBox="1"/>
          <p:nvPr/>
        </p:nvSpPr>
        <p:spPr>
          <a:xfrm>
            <a:off x="822960" y="5897880"/>
            <a:ext cx="6583680" cy="365760"/>
          </a:xfrm>
          <a:prstGeom prst="rect">
            <a:avLst/>
          </a:prstGeom>
          <a:noFill/>
          <a:ln/>
        </p:spPr>
        <p:txBody>
          <a:bodyPr wrap="square" lIns="0" tIns="0" rIns="0" bIns="0" rtlCol="0" anchor="ctr"/>
          <a:lstStyle/>
          <a:p>
            <a:pPr rtl="1" algn="ctr" indent="0" marL="0">
              <a:buNone/>
            </a:pPr>
            <a:r>
              <a:rPr lang="ar-SA" altLang="en-US" sz="1400" b="1" dirty="0">
                <a:solidFill>
                  <a:schemeClr val="accent1"/>
                </a:solidFill>
              </a:rPr>
              <a:t>تسلسل: صرف راتب</a:t>
            </a:r>
            <a:endParaRPr lang="ar-SA" sz="1400" dirty="0"/>
          </a:p>
        </p:txBody>
      </p:sp>
      <p:sp>
        <p:nvSpPr>
          <p:cNvPr id="10" name="Text 5"/>
          <p:cNvSpPr txBox="1"/>
          <p:nvPr/>
        </p:nvSpPr>
        <p:spPr>
          <a:xfrm>
            <a:off x="7680960" y="5897880"/>
            <a:ext cx="3685032" cy="365760"/>
          </a:xfrm>
          <a:prstGeom prst="rect">
            <a:avLst/>
          </a:prstGeom>
          <a:noFill/>
          <a:ln/>
        </p:spPr>
        <p:txBody>
          <a:bodyPr wrap="square" lIns="0" tIns="0" rIns="0" bIns="0" rtlCol="0" anchor="ctr"/>
          <a:lstStyle/>
          <a:p>
            <a:pPr rtl="1" algn="ctr" indent="0" marL="0">
              <a:buNone/>
            </a:pPr>
            <a:r>
              <a:rPr lang="ar-SA" altLang="en-US" sz="1400" b="1" dirty="0">
                <a:solidFill>
                  <a:schemeClr val="accent1"/>
                </a:solidFill>
              </a:rPr>
              <a:t>نشاط: تسجيل دفعة مالية</a:t>
            </a:r>
            <a:endParaRPr lang="ar-SA" sz="14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8</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المقارنة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الدراسة المرجعية: مقارنة مع أنظمة مشابهة</a:t>
            </a:r>
            <a:endParaRPr lang="ar-SA" sz="2600" dirty="0"/>
          </a:p>
        </p:txBody>
      </p:sp>
      <p:graphicFrame>
        <p:nvGraphicFramePr>
          <p:cNvPr id="5" name="Comparison table"/>
          <p:cNvGraphicFramePr>
            <a:graphicFrameLocks noGrp="1"/>
          </p:cNvGraphicFramePr>
          <p:nvPr>
            <p:extLst>
              <p:ext uri="{D42A27DB-BD31-4B8C-83A1-F6EECF244321}">
                <p14:modId xmlns:p14="http://schemas.microsoft.com/office/powerpoint/2010/main" val="1579011935"/>
              </p:ext>
            </p:extLst>
          </p:nvPr>
        </p:nvGraphicFramePr>
        <p:xfrm>
          <a:off x="822960" y="1645920"/>
          <a:ext cx="10543032" cy="914400"/>
        </p:xfrm>
        <a:graphic>
          <a:graphicData uri="http://schemas.openxmlformats.org/drawingml/2006/table">
            <a:tbl>
              <a:tblPr/>
              <a:tblGrid>
                <a:gridCol w="1417320"/>
                <a:gridCol w="1371600"/>
                <a:gridCol w="1371600"/>
                <a:gridCol w="1371600"/>
                <a:gridCol w="1371600"/>
                <a:gridCol w="3639312"/>
              </a:tblGrid>
              <a:tr h="475488">
                <a:tc>
                  <a:txBody>
                    <a:bodyPr/>
                    <a:lstStyle/>
                    <a:p>
                      <a:pPr rtl="1" algn="ctr" indent="0" marL="0">
                        <a:buNone/>
                      </a:pPr>
                      <a:r>
                        <a:rPr lang="ar-SA" altLang="en-US" sz="1400" b="1" dirty="0">
                          <a:solidFill>
                            <a:srgbClr val="FFFFFF"/>
                          </a:solidFill>
                          <a:latin typeface="Calibri" pitchFamily="34" charset="0"/>
                          <a:ea typeface="Calibri" pitchFamily="34" charset="-122"/>
                          <a:cs typeface="Calibri" pitchFamily="34" charset="-120"/>
                        </a:rPr>
                        <a:t>المشروع</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16294A"/>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Teachworks</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Fedena</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Classroom</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algn="ctr" indent="0" marL="0">
                        <a:buNone/>
                      </a:pPr>
                      <a:r>
                        <a:rPr lang="en-US" sz="1400" b="1" dirty="0">
                          <a:solidFill>
                            <a:srgbClr val="FFFFFF"/>
                          </a:solidFill>
                          <a:latin typeface="Calibri" pitchFamily="34" charset="0"/>
                          <a:ea typeface="Calibri" pitchFamily="34" charset="-122"/>
                          <a:cs typeface="Calibri" pitchFamily="34" charset="-120"/>
                        </a:rPr>
                        <a:t>Moodle</a:t>
                      </a:r>
                      <a:endParaRPr lang="en-US"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c>
                  <a:txBody>
                    <a:bodyPr/>
                    <a:lstStyle/>
                    <a:p>
                      <a:pPr rtl="1" algn="r" indent="0" marL="0">
                        <a:buNone/>
                      </a:pPr>
                      <a:r>
                        <a:rPr lang="ar-SA" altLang="en-US" sz="1400" b="1" dirty="0">
                          <a:solidFill>
                            <a:srgbClr val="FFFFFF"/>
                          </a:solidFill>
                          <a:latin typeface="Calibri" pitchFamily="34" charset="0"/>
                          <a:ea typeface="Calibri" pitchFamily="34" charset="-122"/>
                          <a:cs typeface="Calibri" pitchFamily="34" charset="-120"/>
                        </a:rPr>
                        <a:t>الميزة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6C5CE7"/>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الكورسات والمواد التعليمية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الحضور والغياب</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الأقساط والفوترة</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الرواتب والمصاريف</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D98E04"/>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إدارة القاعات والمختبرات</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التنبؤ بتعثر الطلاب (AI)</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1F2FB"/>
                    </a:solidFill>
                  </a:tcPr>
                </a:tc>
              </a:tr>
              <a:tr h="475488">
                <a:tc>
                  <a:txBody>
                    <a:bodyPr/>
                    <a:lstStyle/>
                    <a:p>
                      <a:pPr algn="ctr" indent="0" marL="0">
                        <a:buNone/>
                      </a:pPr>
                      <a:r>
                        <a:rPr lang="en-US" sz="1600" b="1" dirty="0">
                          <a:solidFill>
                            <a:srgbClr val="2F8A4F"/>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E9E6FC"/>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algn="ctr" indent="0" marL="0">
                        <a:buNone/>
                      </a:pPr>
                      <a:r>
                        <a:rPr lang="en-US" sz="1600" b="1" dirty="0">
                          <a:solidFill>
                            <a:srgbClr val="C0392B"/>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c>
                  <a:txBody>
                    <a:bodyPr/>
                    <a:lstStyle/>
                    <a:p>
                      <a:pPr rtl="1" algn="r" indent="0" marL="0">
                        <a:buNone/>
                      </a:pPr>
                      <a:r>
                        <a:rPr lang="ar-SA" altLang="en-US" sz="1400" b="1" dirty="0">
                          <a:solidFill>
                            <a:srgbClr val="1E2761"/>
                          </a:solidFill>
                          <a:latin typeface="Calibri" pitchFamily="34" charset="0"/>
                          <a:ea typeface="Calibri" pitchFamily="34" charset="-122"/>
                          <a:cs typeface="Calibri" pitchFamily="34" charset="-120"/>
                        </a:rPr>
                        <a:t>مساعد ذكي وتوصيات (AI)</a:t>
                      </a:r>
                      <a:endParaRPr lang="ar-SA" sz="1400" dirty="0">
                        <a:latin typeface="Calibri" charset="0"/>
                        <a:ea typeface="Calibri" charset="0"/>
                        <a:cs typeface="Calibri" charset="0"/>
                      </a:endParaRPr>
                    </a:p>
                  </a:txBody>
                  <a:tcPr marL="109728" marR="109728" marT="36576" marB="36576" anchor="ctr">
                    <a:lnL w="9525" cap="flat" cmpd="sng" algn="ctr">
                      <a:solidFill>
                        <a:srgbClr val="D7DEE9"/>
                      </a:solidFill>
                      <a:prstDash val="solid"/>
                      <a:round/>
                      <a:headEnd type="none" w="med" len="med"/>
                      <a:tailEnd type="none" w="med" len="med"/>
                    </a:lnL>
                    <a:lnR w="9525" cap="flat" cmpd="sng" algn="ctr">
                      <a:solidFill>
                        <a:srgbClr val="D7DEE9"/>
                      </a:solidFill>
                      <a:prstDash val="solid"/>
                      <a:round/>
                      <a:headEnd type="none" w="med" len="med"/>
                      <a:tailEnd type="none" w="med" len="med"/>
                    </a:lnR>
                    <a:lnT w="9525" cap="flat" cmpd="sng" algn="ctr">
                      <a:solidFill>
                        <a:srgbClr val="D7DEE9"/>
                      </a:solidFill>
                      <a:prstDash val="solid"/>
                      <a:round/>
                      <a:headEnd type="none" w="med" len="med"/>
                      <a:tailEnd type="none" w="med" len="med"/>
                    </a:lnT>
                    <a:lnB w="9525" cap="flat" cmpd="sng" algn="ctr">
                      <a:solidFill>
                        <a:srgbClr val="D7DEE9"/>
                      </a:solidFill>
                      <a:prstDash val="solid"/>
                      <a:round/>
                      <a:headEnd type="none" w="med" len="med"/>
                      <a:tailEnd type="none" w="med" len="med"/>
                    </a:lnB>
                    <a:solidFill>
                      <a:srgbClr val="FFFFFF"/>
                    </a:solidFill>
                  </a:tcPr>
                </a:tc>
              </a:tr>
            </a:tbl>
          </a:graphicData>
        </a:graphic>
      </p:graphicFrame>
      <p:sp>
        <p:nvSpPr>
          <p:cNvPr id="6" name="Text 2"/>
          <p:cNvSpPr txBox="1"/>
          <p:nvPr/>
        </p:nvSpPr>
        <p:spPr>
          <a:xfrm>
            <a:off x="822960" y="5669280"/>
            <a:ext cx="10543032" cy="365760"/>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 متوفر   ~ جزئي   ✗ غير متوفر   * ميزات الذكاء الاصطناعي (حالات الاستخدام 21 إلى 23) ضمن المرحلة القادمة</a:t>
            </a:r>
            <a:endParaRPr lang="ar-SA" sz="13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4</a:t>
            </a:fld>
            <a:endParaRPr lang="en-US"/>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المنهجية</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منهجية العمل: Agile</a:t>
            </a:r>
            <a:endParaRPr lang="ar-SA" sz="26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
        <p:nvSpPr>
          <p:cNvPr id="26" name="TextBox 25"/>
          <p:cNvSpPr txBox="1"/>
          <p:nvPr/>
        </p:nvSpPr>
        <p:spPr>
          <a:xfrm>
            <a:off x="822960" y="1500000"/>
            <a:ext cx="10543032" cy="420000"/>
          </a:xfrm>
          <a:prstGeom prst="rect">
            <a:avLst/>
          </a:prstGeom>
          <a:noFill/>
        </p:spPr>
        <p:txBody>
          <a:bodyPr wrap="square" lIns="0" rIns="0" tIns="0" bIns="0" anchor="ctr">
            <a:spAutoFit/>
          </a:bodyPr>
          <a:lstStyle/>
          <a:p>
            <a:pPr algn="r" rtl="1"/>
            <a:r>
              <a:rPr sz="1500" b="0" lang="ar-SA">
                <a:solidFill>
                  <a:schemeClr val="tx1"/>
                </a:solidFill>
              </a:rPr>
              <a:t>نعتمد منهجية Agile: تطوير تكراري تدريجي بدورات قصيرة (Sprints) مدة كل دورة أسبوعان، يُسلَّم فيها جزء عامل من النظام.</a:t>
            </a:r>
          </a:p>
        </p:txBody>
      </p:sp>
      <p:sp>
        <p:nvSpPr>
          <p:cNvPr id="27" name="Rounded Rectangle 26"/>
          <p:cNvSpPr/>
          <p:nvPr/>
        </p:nvSpPr>
        <p:spPr>
          <a:xfrm>
            <a:off x="9515992"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10250992"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1</a:t>
            </a:r>
          </a:p>
        </p:txBody>
      </p:sp>
      <p:sp>
        <p:nvSpPr>
          <p:cNvPr id="29" name="TextBox 28"/>
          <p:cNvSpPr txBox="1"/>
          <p:nvPr/>
        </p:nvSpPr>
        <p:spPr>
          <a:xfrm>
            <a:off x="9595992" y="2660000"/>
            <a:ext cx="1690000" cy="300000"/>
          </a:xfrm>
          <a:prstGeom prst="rect">
            <a:avLst/>
          </a:prstGeom>
          <a:noFill/>
        </p:spPr>
        <p:txBody>
          <a:bodyPr wrap="square" lIns="0" rIns="0" tIns="0" bIns="0" anchor="ctr">
            <a:spAutoFit/>
          </a:bodyPr>
          <a:lstStyle/>
          <a:p>
            <a:pPr algn="ctr" rtl="1"/>
            <a:r>
              <a:rPr sz="1600" b="1" lang="ar-SA">
                <a:solidFill>
                  <a:schemeClr val="bg1"/>
                </a:solidFill>
              </a:rPr>
              <a:t>تحديد المتطلبات</a:t>
            </a:r>
          </a:p>
        </p:txBody>
      </p:sp>
      <p:sp>
        <p:nvSpPr>
          <p:cNvPr id="30" name="TextBox 29"/>
          <p:cNvSpPr txBox="1"/>
          <p:nvPr/>
        </p:nvSpPr>
        <p:spPr>
          <a:xfrm>
            <a:off x="9615992" y="2980000"/>
            <a:ext cx="1650000" cy="400000"/>
          </a:xfrm>
          <a:prstGeom prst="rect">
            <a:avLst/>
          </a:prstGeom>
          <a:noFill/>
        </p:spPr>
        <p:txBody>
          <a:bodyPr wrap="square" lIns="0" rIns="0" tIns="0" bIns="0" anchor="t">
            <a:spAutoFit/>
          </a:bodyPr>
          <a:lstStyle/>
          <a:p>
            <a:pPr algn="ctr" rtl="1"/>
            <a:r>
              <a:rPr sz="1100" b="0" lang="ar-SA">
                <a:solidFill>
                  <a:schemeClr val="bg1"/>
                </a:solidFill>
              </a:rPr>
              <a:t>قائمة المهام (Backlog) من حالات الاستخدام</a:t>
            </a:r>
          </a:p>
        </p:txBody>
      </p:sp>
      <p:sp>
        <p:nvSpPr>
          <p:cNvPr id="31" name="Left Arrow 30"/>
          <p:cNvSpPr/>
          <p:nvPr/>
        </p:nvSpPr>
        <p:spPr>
          <a:xfrm>
            <a:off x="9252734"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7342734"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077734"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2</a:t>
            </a:r>
          </a:p>
        </p:txBody>
      </p:sp>
      <p:sp>
        <p:nvSpPr>
          <p:cNvPr id="34" name="TextBox 33"/>
          <p:cNvSpPr txBox="1"/>
          <p:nvPr/>
        </p:nvSpPr>
        <p:spPr>
          <a:xfrm>
            <a:off x="7422734" y="2660000"/>
            <a:ext cx="1690000" cy="300000"/>
          </a:xfrm>
          <a:prstGeom prst="rect">
            <a:avLst/>
          </a:prstGeom>
          <a:noFill/>
        </p:spPr>
        <p:txBody>
          <a:bodyPr wrap="square" lIns="0" rIns="0" tIns="0" bIns="0" anchor="ctr">
            <a:spAutoFit/>
          </a:bodyPr>
          <a:lstStyle/>
          <a:p>
            <a:pPr algn="ctr" rtl="1"/>
            <a:r>
              <a:rPr sz="1600" b="1" lang="ar-SA">
                <a:solidFill>
                  <a:schemeClr val="bg1"/>
                </a:solidFill>
              </a:rPr>
              <a:t>تخطيط الدورة</a:t>
            </a:r>
          </a:p>
        </p:txBody>
      </p:sp>
      <p:sp>
        <p:nvSpPr>
          <p:cNvPr id="35" name="TextBox 34"/>
          <p:cNvSpPr txBox="1"/>
          <p:nvPr/>
        </p:nvSpPr>
        <p:spPr>
          <a:xfrm>
            <a:off x="7442734" y="2980000"/>
            <a:ext cx="1650000" cy="400000"/>
          </a:xfrm>
          <a:prstGeom prst="rect">
            <a:avLst/>
          </a:prstGeom>
          <a:noFill/>
        </p:spPr>
        <p:txBody>
          <a:bodyPr wrap="square" lIns="0" rIns="0" tIns="0" bIns="0" anchor="t">
            <a:spAutoFit/>
          </a:bodyPr>
          <a:lstStyle/>
          <a:p>
            <a:pPr algn="ctr" rtl="1"/>
            <a:r>
              <a:rPr sz="1100" b="0" lang="ar-SA">
                <a:solidFill>
                  <a:schemeClr val="bg1"/>
                </a:solidFill>
              </a:rPr>
              <a:t>اختيار المهام ذات الأولوية</a:t>
            </a:r>
          </a:p>
        </p:txBody>
      </p:sp>
      <p:sp>
        <p:nvSpPr>
          <p:cNvPr id="36" name="Left Arrow 35"/>
          <p:cNvSpPr/>
          <p:nvPr/>
        </p:nvSpPr>
        <p:spPr>
          <a:xfrm>
            <a:off x="7079476"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5169476"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5904476"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3</a:t>
            </a:r>
          </a:p>
        </p:txBody>
      </p:sp>
      <p:sp>
        <p:nvSpPr>
          <p:cNvPr id="39" name="TextBox 38"/>
          <p:cNvSpPr txBox="1"/>
          <p:nvPr/>
        </p:nvSpPr>
        <p:spPr>
          <a:xfrm>
            <a:off x="5249476" y="2660000"/>
            <a:ext cx="1690000" cy="300000"/>
          </a:xfrm>
          <a:prstGeom prst="rect">
            <a:avLst/>
          </a:prstGeom>
          <a:noFill/>
        </p:spPr>
        <p:txBody>
          <a:bodyPr wrap="square" lIns="0" rIns="0" tIns="0" bIns="0" anchor="ctr">
            <a:spAutoFit/>
          </a:bodyPr>
          <a:lstStyle/>
          <a:p>
            <a:pPr algn="ctr" rtl="1"/>
            <a:r>
              <a:rPr sz="1600" b="1" lang="ar-SA">
                <a:solidFill>
                  <a:schemeClr val="bg1"/>
                </a:solidFill>
              </a:rPr>
              <a:t>التطوير</a:t>
            </a:r>
          </a:p>
        </p:txBody>
      </p:sp>
      <p:sp>
        <p:nvSpPr>
          <p:cNvPr id="40" name="TextBox 39"/>
          <p:cNvSpPr txBox="1"/>
          <p:nvPr/>
        </p:nvSpPr>
        <p:spPr>
          <a:xfrm>
            <a:off x="5269476" y="2980000"/>
            <a:ext cx="1650000" cy="400000"/>
          </a:xfrm>
          <a:prstGeom prst="rect">
            <a:avLst/>
          </a:prstGeom>
          <a:noFill/>
        </p:spPr>
        <p:txBody>
          <a:bodyPr wrap="square" lIns="0" rIns="0" tIns="0" bIns="0" anchor="t">
            <a:spAutoFit/>
          </a:bodyPr>
          <a:lstStyle/>
          <a:p>
            <a:pPr algn="ctr" rtl="1"/>
            <a:r>
              <a:rPr sz="1100" b="0" lang="ar-SA">
                <a:solidFill>
                  <a:schemeClr val="bg1"/>
                </a:solidFill>
              </a:rPr>
              <a:t>بناء الوظائف المختارة</a:t>
            </a:r>
          </a:p>
        </p:txBody>
      </p:sp>
      <p:sp>
        <p:nvSpPr>
          <p:cNvPr id="41" name="Left Arrow 40"/>
          <p:cNvSpPr/>
          <p:nvPr/>
        </p:nvSpPr>
        <p:spPr>
          <a:xfrm>
            <a:off x="4906218"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996218"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3731218"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4</a:t>
            </a:r>
          </a:p>
        </p:txBody>
      </p:sp>
      <p:sp>
        <p:nvSpPr>
          <p:cNvPr id="44" name="TextBox 43"/>
          <p:cNvSpPr txBox="1"/>
          <p:nvPr/>
        </p:nvSpPr>
        <p:spPr>
          <a:xfrm>
            <a:off x="3076218" y="2660000"/>
            <a:ext cx="1690000" cy="300000"/>
          </a:xfrm>
          <a:prstGeom prst="rect">
            <a:avLst/>
          </a:prstGeom>
          <a:noFill/>
        </p:spPr>
        <p:txBody>
          <a:bodyPr wrap="square" lIns="0" rIns="0" tIns="0" bIns="0" anchor="ctr">
            <a:spAutoFit/>
          </a:bodyPr>
          <a:lstStyle/>
          <a:p>
            <a:pPr algn="ctr" rtl="1"/>
            <a:r>
              <a:rPr sz="1600" b="1" lang="ar-SA">
                <a:solidFill>
                  <a:schemeClr val="bg1"/>
                </a:solidFill>
              </a:rPr>
              <a:t>الاختبار</a:t>
            </a:r>
          </a:p>
        </p:txBody>
      </p:sp>
      <p:sp>
        <p:nvSpPr>
          <p:cNvPr id="45" name="TextBox 44"/>
          <p:cNvSpPr txBox="1"/>
          <p:nvPr/>
        </p:nvSpPr>
        <p:spPr>
          <a:xfrm>
            <a:off x="3096218" y="2980000"/>
            <a:ext cx="1650000" cy="400000"/>
          </a:xfrm>
          <a:prstGeom prst="rect">
            <a:avLst/>
          </a:prstGeom>
          <a:noFill/>
        </p:spPr>
        <p:txBody>
          <a:bodyPr wrap="square" lIns="0" rIns="0" tIns="0" bIns="0" anchor="t">
            <a:spAutoFit/>
          </a:bodyPr>
          <a:lstStyle/>
          <a:p>
            <a:pPr algn="ctr" rtl="1"/>
            <a:r>
              <a:rPr sz="1100" b="0" lang="ar-SA">
                <a:solidFill>
                  <a:schemeClr val="bg1"/>
                </a:solidFill>
              </a:rPr>
              <a:t>التحقق من عمل الوظائف</a:t>
            </a:r>
          </a:p>
        </p:txBody>
      </p:sp>
      <p:sp>
        <p:nvSpPr>
          <p:cNvPr id="46" name="Left Arrow 45"/>
          <p:cNvSpPr/>
          <p:nvPr/>
        </p:nvSpPr>
        <p:spPr>
          <a:xfrm>
            <a:off x="2732960" y="2665000"/>
            <a:ext cx="203258" cy="220000"/>
          </a:xfrm>
          <a:prstGeom prst="leftArrow">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822960" y="2100000"/>
            <a:ext cx="1850000" cy="1350000"/>
          </a:xfrm>
          <a:prstGeom prst="roundRect">
            <a:avLst>
              <a:gd name="adj" fmla="val 800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1557960" y="2220000"/>
            <a:ext cx="380000" cy="380000"/>
          </a:xfrm>
          <a:prstGeom prst="ellipse">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chemeClr val="accent1"/>
                </a:solidFill>
              </a:rPr>
              <a:t>5</a:t>
            </a:r>
          </a:p>
        </p:txBody>
      </p:sp>
      <p:sp>
        <p:nvSpPr>
          <p:cNvPr id="49" name="TextBox 48"/>
          <p:cNvSpPr txBox="1"/>
          <p:nvPr/>
        </p:nvSpPr>
        <p:spPr>
          <a:xfrm>
            <a:off x="902960" y="2660000"/>
            <a:ext cx="1690000" cy="300000"/>
          </a:xfrm>
          <a:prstGeom prst="rect">
            <a:avLst/>
          </a:prstGeom>
          <a:noFill/>
        </p:spPr>
        <p:txBody>
          <a:bodyPr wrap="square" lIns="0" rIns="0" tIns="0" bIns="0" anchor="ctr">
            <a:spAutoFit/>
          </a:bodyPr>
          <a:lstStyle/>
          <a:p>
            <a:pPr algn="ctr" rtl="1"/>
            <a:r>
              <a:rPr sz="1600" b="1" lang="ar-SA">
                <a:solidFill>
                  <a:schemeClr val="bg1"/>
                </a:solidFill>
              </a:rPr>
              <a:t>المراجعة</a:t>
            </a:r>
          </a:p>
        </p:txBody>
      </p:sp>
      <p:sp>
        <p:nvSpPr>
          <p:cNvPr id="50" name="TextBox 49"/>
          <p:cNvSpPr txBox="1"/>
          <p:nvPr/>
        </p:nvSpPr>
        <p:spPr>
          <a:xfrm>
            <a:off x="922960" y="2980000"/>
            <a:ext cx="1650000" cy="400000"/>
          </a:xfrm>
          <a:prstGeom prst="rect">
            <a:avLst/>
          </a:prstGeom>
          <a:noFill/>
        </p:spPr>
        <p:txBody>
          <a:bodyPr wrap="square" lIns="0" rIns="0" tIns="0" bIns="0" anchor="t">
            <a:spAutoFit/>
          </a:bodyPr>
          <a:lstStyle/>
          <a:p>
            <a:pPr algn="ctr" rtl="1"/>
            <a:r>
              <a:rPr sz="1100" b="0" lang="ar-SA">
                <a:solidFill>
                  <a:schemeClr val="bg1"/>
                </a:solidFill>
              </a:rPr>
              <a:t>تقييم الناتج وتعديل الأولويات</a:t>
            </a:r>
          </a:p>
        </p:txBody>
      </p:sp>
      <p:sp>
        <p:nvSpPr>
          <p:cNvPr id="51" name="TextBox 50"/>
          <p:cNvSpPr txBox="1"/>
          <p:nvPr/>
        </p:nvSpPr>
        <p:spPr>
          <a:xfrm>
            <a:off x="822960" y="3510000"/>
            <a:ext cx="10543032" cy="260000"/>
          </a:xfrm>
          <a:prstGeom prst="rect">
            <a:avLst/>
          </a:prstGeom>
          <a:noFill/>
        </p:spPr>
        <p:txBody>
          <a:bodyPr wrap="square" lIns="0" rIns="0" tIns="0" bIns="0" anchor="ctr">
            <a:spAutoFit/>
          </a:bodyPr>
          <a:lstStyle/>
          <a:p>
            <a:pPr algn="ctr" rtl="1"/>
            <a:r>
              <a:rPr sz="1200" b="0" lang="ar-SA">
                <a:solidFill>
                  <a:schemeClr val="tx2"/>
                </a:solidFill>
              </a:rPr>
              <a:t>تتكرر الدورة كل أسبوعين (8 دورات خلال 16 أسبوعاً) حتى اكتمال المراحل السبع</a:t>
            </a:r>
          </a:p>
        </p:txBody>
      </p:sp>
      <p:sp>
        <p:nvSpPr>
          <p:cNvPr id="52" name="TextBox 51"/>
          <p:cNvSpPr txBox="1"/>
          <p:nvPr/>
        </p:nvSpPr>
        <p:spPr>
          <a:xfrm>
            <a:off x="822960" y="4000000"/>
            <a:ext cx="10543032" cy="320000"/>
          </a:xfrm>
          <a:prstGeom prst="rect">
            <a:avLst/>
          </a:prstGeom>
          <a:noFill/>
        </p:spPr>
        <p:txBody>
          <a:bodyPr wrap="square" lIns="0" rIns="0" tIns="0" bIns="0" anchor="ctr">
            <a:spAutoFit/>
          </a:bodyPr>
          <a:lstStyle/>
          <a:p>
            <a:pPr algn="r" rtl="1"/>
            <a:r>
              <a:rPr sz="1800" b="1" lang="ar-SA">
                <a:solidFill>
                  <a:schemeClr val="tx2"/>
                </a:solidFill>
              </a:rPr>
              <a:t>لماذا Agile في هذا المشروع؟</a:t>
            </a:r>
          </a:p>
        </p:txBody>
      </p:sp>
      <p:sp>
        <p:nvSpPr>
          <p:cNvPr id="53" name="Rounded Rectangle 52"/>
          <p:cNvSpPr/>
          <p:nvPr/>
        </p:nvSpPr>
        <p:spPr>
          <a:xfrm>
            <a:off x="7984982" y="4400000"/>
            <a:ext cx="3381010" cy="1450000"/>
          </a:xfrm>
          <a:prstGeom prst="roundRect">
            <a:avLst>
              <a:gd name="adj" fmla="val 8000"/>
            </a:avLst>
          </a:prstGeom>
          <a:solidFill>
            <a:schemeClr val="bg1"/>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8164982" y="4520000"/>
            <a:ext cx="3021010" cy="380000"/>
          </a:xfrm>
          <a:prstGeom prst="rect">
            <a:avLst/>
          </a:prstGeom>
          <a:noFill/>
        </p:spPr>
        <p:txBody>
          <a:bodyPr wrap="square" lIns="0" rIns="0" tIns="0" bIns="0" anchor="ctr">
            <a:spAutoFit/>
          </a:bodyPr>
          <a:lstStyle/>
          <a:p>
            <a:pPr algn="r" rtl="1"/>
            <a:r>
              <a:rPr sz="1600" b="1" lang="ar-SA">
                <a:solidFill>
                  <a:schemeClr val="accent1"/>
                </a:solidFill>
              </a:rPr>
              <a:t>تسليم تدريجي</a:t>
            </a:r>
          </a:p>
        </p:txBody>
      </p:sp>
      <p:sp>
        <p:nvSpPr>
          <p:cNvPr id="55" name="TextBox 54"/>
          <p:cNvSpPr txBox="1"/>
          <p:nvPr/>
        </p:nvSpPr>
        <p:spPr>
          <a:xfrm>
            <a:off x="8164982" y="4950000"/>
            <a:ext cx="3021010" cy="800000"/>
          </a:xfrm>
          <a:prstGeom prst="rect">
            <a:avLst/>
          </a:prstGeom>
          <a:noFill/>
        </p:spPr>
        <p:txBody>
          <a:bodyPr wrap="square" lIns="0" rIns="0" tIns="0" bIns="0" anchor="t">
            <a:spAutoFit/>
          </a:bodyPr>
          <a:lstStyle/>
          <a:p>
            <a:pPr algn="r" rtl="1"/>
            <a:r>
              <a:rPr sz="1300" b="0" lang="ar-SA">
                <a:solidFill>
                  <a:schemeClr val="tx1"/>
                </a:solidFill>
              </a:rPr>
              <a:t>بناء النظام لوحة بعد لوحة: المدير، ثم المدرّس والطالب، ثم المالية</a:t>
            </a:r>
          </a:p>
        </p:txBody>
      </p:sp>
      <p:sp>
        <p:nvSpPr>
          <p:cNvPr id="56" name="Rounded Rectangle 55"/>
          <p:cNvSpPr/>
          <p:nvPr/>
        </p:nvSpPr>
        <p:spPr>
          <a:xfrm>
            <a:off x="4403972" y="4400000"/>
            <a:ext cx="3381010" cy="1450000"/>
          </a:xfrm>
          <a:prstGeom prst="roundRect">
            <a:avLst>
              <a:gd name="adj" fmla="val 8000"/>
            </a:avLst>
          </a:prstGeom>
          <a:solidFill>
            <a:schemeClr val="bg1"/>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83972" y="4520000"/>
            <a:ext cx="3021010" cy="380000"/>
          </a:xfrm>
          <a:prstGeom prst="rect">
            <a:avLst/>
          </a:prstGeom>
          <a:noFill/>
        </p:spPr>
        <p:txBody>
          <a:bodyPr wrap="square" lIns="0" rIns="0" tIns="0" bIns="0" anchor="ctr">
            <a:spAutoFit/>
          </a:bodyPr>
          <a:lstStyle/>
          <a:p>
            <a:pPr algn="r" rtl="1"/>
            <a:r>
              <a:rPr sz="1600" b="1" lang="ar-SA">
                <a:solidFill>
                  <a:schemeClr val="accent1"/>
                </a:solidFill>
              </a:rPr>
              <a:t>مرونة في المتطلبات</a:t>
            </a:r>
          </a:p>
        </p:txBody>
      </p:sp>
      <p:sp>
        <p:nvSpPr>
          <p:cNvPr id="58" name="TextBox 57"/>
          <p:cNvSpPr txBox="1"/>
          <p:nvPr/>
        </p:nvSpPr>
        <p:spPr>
          <a:xfrm>
            <a:off x="4583972" y="4950000"/>
            <a:ext cx="3021010" cy="800000"/>
          </a:xfrm>
          <a:prstGeom prst="rect">
            <a:avLst/>
          </a:prstGeom>
          <a:noFill/>
        </p:spPr>
        <p:txBody>
          <a:bodyPr wrap="square" lIns="0" rIns="0" tIns="0" bIns="0" anchor="t">
            <a:spAutoFit/>
          </a:bodyPr>
          <a:lstStyle/>
          <a:p>
            <a:pPr algn="r" rtl="1"/>
            <a:r>
              <a:rPr sz="1300" b="0" lang="ar-SA">
                <a:solidFill>
                  <a:schemeClr val="tx1"/>
                </a:solidFill>
              </a:rPr>
              <a:t>إضافة ميزات الذكاء الاصطناعي (21 إلى 23) بعد استقرار النظام الأساسي</a:t>
            </a:r>
          </a:p>
        </p:txBody>
      </p:sp>
      <p:sp>
        <p:nvSpPr>
          <p:cNvPr id="59" name="Rounded Rectangle 58"/>
          <p:cNvSpPr/>
          <p:nvPr/>
        </p:nvSpPr>
        <p:spPr>
          <a:xfrm>
            <a:off x="822962" y="4400000"/>
            <a:ext cx="3381010" cy="1450000"/>
          </a:xfrm>
          <a:prstGeom prst="roundRect">
            <a:avLst>
              <a:gd name="adj" fmla="val 8000"/>
            </a:avLst>
          </a:prstGeom>
          <a:solidFill>
            <a:schemeClr val="bg1"/>
          </a:solidFill>
          <a:ln w="9525">
            <a:solidFill>
              <a:srgbClr val="E3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2962" y="4520000"/>
            <a:ext cx="3021010" cy="380000"/>
          </a:xfrm>
          <a:prstGeom prst="rect">
            <a:avLst/>
          </a:prstGeom>
          <a:noFill/>
        </p:spPr>
        <p:txBody>
          <a:bodyPr wrap="square" lIns="0" rIns="0" tIns="0" bIns="0" anchor="ctr">
            <a:spAutoFit/>
          </a:bodyPr>
          <a:lstStyle/>
          <a:p>
            <a:pPr algn="r" rtl="1"/>
            <a:r>
              <a:rPr sz="1600" b="1" lang="ar-SA">
                <a:solidFill>
                  <a:schemeClr val="accent1"/>
                </a:solidFill>
              </a:rPr>
              <a:t>مراجعة مستمرة</a:t>
            </a:r>
          </a:p>
        </p:txBody>
      </p:sp>
      <p:sp>
        <p:nvSpPr>
          <p:cNvPr id="61" name="TextBox 60"/>
          <p:cNvSpPr txBox="1"/>
          <p:nvPr/>
        </p:nvSpPr>
        <p:spPr>
          <a:xfrm>
            <a:off x="1002962" y="4950000"/>
            <a:ext cx="3021010" cy="800000"/>
          </a:xfrm>
          <a:prstGeom prst="rect">
            <a:avLst/>
          </a:prstGeom>
          <a:noFill/>
        </p:spPr>
        <p:txBody>
          <a:bodyPr wrap="square" lIns="0" rIns="0" tIns="0" bIns="0" anchor="t">
            <a:spAutoFit/>
          </a:bodyPr>
          <a:lstStyle/>
          <a:p>
            <a:pPr algn="r" rtl="1"/>
            <a:r>
              <a:rPr sz="1300" b="0" lang="ar-SA">
                <a:solidFill>
                  <a:schemeClr val="tx1"/>
                </a:solidFill>
              </a:rPr>
              <a:t>اختبار ومراجعة كل جزء مبكراً وتعديل الأولويات عند الحاجة</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مراحل التنفيذ</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نطاق العمل عبر الفصلين: تخرج 1 وتخرج 2</a:t>
            </a:r>
            <a:endParaRPr lang="ar-SA" sz="2600" dirty="0"/>
          </a:p>
        </p:txBody>
      </p:sp>
      <p:graphicFrame>
        <p:nvGraphicFramePr>
          <p:cNvPr id="40" name="Scope table"/>
          <p:cNvGraphicFramePr>
            <a:graphicFrameLocks noGrp="1"/>
          </p:cNvGraphicFramePr>
          <p:nvPr/>
        </p:nvGraphicFramePr>
        <p:xfrm>
          <a:off x="822960" y="1645920"/>
          <a:ext cx="10543032" cy="4069080"/>
        </p:xfrm>
        <a:graphic>
          <a:graphicData uri="http://schemas.openxmlformats.org/drawingml/2006/table">
            <a:tbl>
              <a:tblPr firstRow="1"/>
              <a:tblGrid>
                <a:gridCol w="5271516"/>
                <a:gridCol w="5271516"/>
              </a:tblGrid>
              <a:tr h="594360">
                <a:tc>
                  <a:txBody>
                    <a:bodyPr/>
                    <a:lstStyle/>
                    <a:p>
                      <a:pPr rtl="1" algn="r" indent="0" marL="0">
                        <a:buNone/>
                      </a:pPr>
                      <a:r>
                        <a:rPr lang="ar-SA" altLang="en-US" sz="2000" b="1" dirty="0">
                          <a:solidFill>
                            <a:schemeClr val="bg1"/>
                          </a:solidFill>
                        </a:rPr>
                        <a:t>مشروع تخرج 2</a:t>
                      </a:r>
                      <a:r>
                        <a:rPr lang="ar-SA" altLang="en-US" sz="1600" dirty="0">
                          <a:solidFill>
                            <a:schemeClr val="bg1"/>
                          </a:solidFill>
                        </a:rPr>
                        <a:t>  |  الفصل القادم</a:t>
                      </a:r>
                    </a:p>
                  </a:txBody>
                  <a:tcPr marL="228600" marR="228600" marT="91440" marB="91440" anchor="ctr">
                    <a:lnL w="9525">
                      <a:solidFill>
                        <a:srgbClr val="E3E8F0"/>
                      </a:solidFill>
                    </a:lnL>
                    <a:lnR w="9525">
                      <a:solidFill>
                        <a:srgbClr val="E3E8F0"/>
                      </a:solidFill>
                    </a:lnR>
                    <a:lnT w="9525">
                      <a:solidFill>
                        <a:srgbClr val="E3E8F0"/>
                      </a:solidFill>
                    </a:lnT>
                    <a:lnB w="9525">
                      <a:solidFill>
                        <a:srgbClr val="E3E8F0"/>
                      </a:solidFill>
                    </a:lnB>
                    <a:solidFill>
                      <a:srgbClr val="16294A"/>
                    </a:solidFill>
                  </a:tcPr>
                </a:tc>
                <a:tc>
                  <a:txBody>
                    <a:bodyPr/>
                    <a:lstStyle/>
                    <a:p>
                      <a:pPr rtl="1" algn="r" indent="0" marL="0">
                        <a:buNone/>
                      </a:pPr>
                      <a:r>
                        <a:rPr lang="ar-SA" altLang="en-US" sz="2000" b="1" dirty="0">
                          <a:solidFill>
                            <a:schemeClr val="bg1"/>
                          </a:solidFill>
                        </a:rPr>
                        <a:t>مشروع تخرج 1</a:t>
                      </a:r>
                      <a:r>
                        <a:rPr lang="ar-SA" altLang="en-US" sz="1600" dirty="0">
                          <a:solidFill>
                            <a:schemeClr val="bg1"/>
                          </a:solidFill>
                        </a:rPr>
                        <a:t>  |  الفصل الحالي</a:t>
                      </a:r>
                    </a:p>
                  </a:txBody>
                  <a:tcPr marL="228600" marR="22860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r>
              <a:tr h="1737360">
                <a:tc>
                  <a:txBody>
                    <a:bodyPr/>
                    <a:lstStyle/>
                    <a:p>
                      <a:pPr marL="285750" indent="-285750" rtl="1" algn="r">
                        <a:spcBef>
                          <a:spcPts val="600"/>
                        </a:spcBef>
                        <a:buFont typeface="Arial"/>
                        <a:buChar char="•"/>
                      </a:pPr>
                      <a:r>
                        <a:rPr lang="ar-SA" altLang="en-US" sz="1800" dirty="0">
                          <a:solidFill>
                            <a:schemeClr val="tx1"/>
                          </a:solidFill>
                        </a:rPr>
                        <a:t>إدماج وتدريب نماذج الذكاء الاصطناعي</a:t>
                      </a:r>
                    </a:p>
                    <a:p>
                      <a:pPr marL="285750" indent="-285750" rtl="1" algn="r">
                        <a:spcBef>
                          <a:spcPts val="600"/>
                        </a:spcBef>
                        <a:buFont typeface="Arial"/>
                        <a:buChar char="•"/>
                      </a:pPr>
                      <a:r>
                        <a:rPr lang="ar-SA" altLang="en-US" sz="1800" dirty="0">
                          <a:solidFill>
                            <a:schemeClr val="tx1"/>
                          </a:solidFill>
                        </a:rPr>
                        <a:t>التنبؤ بتعثر الطلاب (UC-21)</a:t>
                      </a:r>
                    </a:p>
                    <a:p>
                      <a:pPr marL="285750" indent="-285750" rtl="1" algn="r">
                        <a:spcBef>
                          <a:spcPts val="600"/>
                        </a:spcBef>
                        <a:buFont typeface="Arial"/>
                        <a:buChar char="•"/>
                      </a:pPr>
                      <a:r>
                        <a:rPr lang="ar-SA" altLang="en-US" sz="1800" dirty="0">
                          <a:solidFill>
                            <a:schemeClr val="tx1"/>
                          </a:solidFill>
                        </a:rPr>
                        <a:t>المساعد الذكي (UC-22 وUC-23)</a:t>
                      </a:r>
                    </a:p>
                    <a:p>
                      <a:pPr marL="285750" indent="-285750" rtl="1" algn="r">
                        <a:spcBef>
                          <a:spcPts val="600"/>
                        </a:spcBef>
                        <a:buFont typeface="Arial"/>
                        <a:buChar char="•"/>
                      </a:pPr>
                      <a:r>
                        <a:rPr lang="ar-SA" altLang="en-US" sz="1800" dirty="0">
                          <a:solidFill>
                            <a:schemeClr val="tx1"/>
                          </a:solidFill>
                        </a:rPr>
                        <a:t>اختبار النماذج أثناء التدريب</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marL="285750" indent="-285750" rtl="1" algn="r">
                        <a:spcBef>
                          <a:spcPts val="600"/>
                        </a:spcBef>
                        <a:buFont typeface="Arial"/>
                        <a:buChar char="•"/>
                      </a:pPr>
                      <a:r>
                        <a:rPr lang="ar-SA" altLang="en-US" sz="1800" dirty="0">
                          <a:solidFill>
                            <a:schemeClr val="tx1"/>
                          </a:solidFill>
                        </a:rPr>
                        <a:t>دراسة المتطلبات وتحديد حالات الاستخدام</a:t>
                      </a:r>
                    </a:p>
                    <a:p>
                      <a:pPr marL="285750" indent="-285750" rtl="1" algn="r">
                        <a:spcBef>
                          <a:spcPts val="600"/>
                        </a:spcBef>
                        <a:buFont typeface="Arial"/>
                        <a:buChar char="•"/>
                      </a:pPr>
                      <a:r>
                        <a:rPr lang="ar-SA" altLang="en-US" sz="1800" dirty="0">
                          <a:solidFill>
                            <a:schemeClr val="tx1"/>
                          </a:solidFill>
                        </a:rPr>
                        <a:t>التحليل والتصميم: UML وERD ومخططات التسلسل والنشاط</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1737360">
                <a:tc>
                  <a:txBody>
                    <a:bodyPr/>
                    <a:lstStyle/>
                    <a:p>
                      <a:pPr marL="285750" indent="-285750" rtl="1" algn="r">
                        <a:spcBef>
                          <a:spcPts val="600"/>
                        </a:spcBef>
                        <a:buFont typeface="Arial"/>
                        <a:buChar char="•"/>
                      </a:pPr>
                      <a:r>
                        <a:rPr lang="ar-SA" altLang="en-US" sz="1800" dirty="0">
                          <a:solidFill>
                            <a:schemeClr val="tx1"/>
                          </a:solidFill>
                        </a:rPr>
                        <a:t>تحسين الأداء</a:t>
                      </a:r>
                    </a:p>
                    <a:p>
                      <a:pPr marL="285750" indent="-285750" rtl="1" algn="r">
                        <a:spcBef>
                          <a:spcPts val="600"/>
                        </a:spcBef>
                        <a:buFont typeface="Arial"/>
                        <a:buChar char="•"/>
                      </a:pPr>
                      <a:r>
                        <a:rPr lang="ar-SA" altLang="en-US" sz="1800" dirty="0">
                          <a:solidFill>
                            <a:schemeClr val="tx1"/>
                          </a:solidFill>
                        </a:rPr>
                        <a:t>التكامل النهائي</a:t>
                      </a:r>
                    </a:p>
                    <a:p>
                      <a:pPr marL="285750" indent="-285750" rtl="1" algn="r">
                        <a:spcBef>
                          <a:spcPts val="600"/>
                        </a:spcBef>
                        <a:buFont typeface="Arial"/>
                        <a:buChar char="•"/>
                      </a:pPr>
                      <a:r>
                        <a:rPr lang="ar-SA" altLang="en-US" sz="1800" dirty="0">
                          <a:solidFill>
                            <a:schemeClr val="tx1"/>
                          </a:solidFill>
                        </a:rPr>
                        <a:t>التوثيق النهائي</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marL="285750" indent="-285750" rtl="1" algn="r">
                        <a:spcBef>
                          <a:spcPts val="600"/>
                        </a:spcBef>
                        <a:buFont typeface="Arial"/>
                        <a:buChar char="•"/>
                      </a:pPr>
                      <a:r>
                        <a:rPr lang="ar-SA" altLang="en-US" sz="1800" dirty="0">
                          <a:solidFill>
                            <a:schemeClr val="tx1"/>
                          </a:solidFill>
                        </a:rPr>
                        <a:t>بناء لوحات المدير والمدرّس والطالب</a:t>
                      </a:r>
                    </a:p>
                    <a:p>
                      <a:pPr marL="285750" indent="-285750" rtl="1" algn="r">
                        <a:spcBef>
                          <a:spcPts val="600"/>
                        </a:spcBef>
                        <a:buFont typeface="Arial"/>
                        <a:buChar char="•"/>
                      </a:pPr>
                      <a:r>
                        <a:rPr lang="ar-SA" altLang="en-US" sz="1800" dirty="0">
                          <a:solidFill>
                            <a:schemeClr val="tx1"/>
                          </a:solidFill>
                        </a:rPr>
                        <a:t>الحسابات والقاعات والكورسات والجداول</a:t>
                      </a:r>
                    </a:p>
                    <a:p>
                      <a:pPr marL="285750" indent="-285750" rtl="1" algn="r">
                        <a:spcBef>
                          <a:spcPts val="600"/>
                        </a:spcBef>
                        <a:buFont typeface="Arial"/>
                        <a:buChar char="•"/>
                      </a:pPr>
                      <a:r>
                        <a:rPr lang="ar-SA" altLang="en-US" sz="1800" dirty="0">
                          <a:solidFill>
                            <a:schemeClr val="tx1"/>
                          </a:solidFill>
                        </a:rPr>
                        <a:t>الحضور والعلامات والمالية الأساسية</a:t>
                      </a:r>
                    </a:p>
                    <a:p>
                      <a:pPr marL="285750" indent="-285750" rtl="1" algn="r">
                        <a:spcBef>
                          <a:spcPts val="600"/>
                        </a:spcBef>
                        <a:buFont typeface="Arial"/>
                        <a:buChar char="•"/>
                      </a:pPr>
                      <a:r>
                        <a:rPr lang="ar-SA" altLang="en-US" sz="1800" dirty="0">
                          <a:solidFill>
                            <a:schemeClr val="tx1"/>
                          </a:solidFill>
                        </a:rPr>
                        <a:t>اختبار كل لوحة عند إنجازها</a:t>
                      </a:r>
                    </a:p>
                  </a:txBody>
                  <a:tcPr marL="228600" marR="228600" marT="182880" marB="182880" anchor="t">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bl>
          </a:graphicData>
        </a:graphic>
      </p:graphicFrame>
      <p:sp>
        <p:nvSpPr>
          <p:cNvPr id="41" name="Testing note"/>
          <p:cNvSpPr txBox="1"/>
          <p:nvPr/>
        </p:nvSpPr>
        <p:spPr>
          <a:xfrm>
            <a:off x="822960" y="5852160"/>
            <a:ext cx="10543032" cy="320040"/>
          </a:xfrm>
          <a:prstGeom prst="rect">
            <a:avLst/>
          </a:prstGeom>
          <a:noFill/>
          <a:ln/>
        </p:spPr>
        <p:txBody>
          <a:bodyPr wrap="square" lIns="0" tIns="0" rIns="0" bIns="0" rtlCol="0" anchor="ctr"/>
          <a:lstStyle/>
          <a:p>
            <a:pPr rtl="1" algn="r" indent="0" marL="0">
              <a:buNone/>
            </a:pPr>
            <a:r>
              <a:rPr lang="ar-SA" altLang="en-US" sz="1500" b="1" dirty="0">
                <a:solidFill>
                  <a:schemeClr val="accent1"/>
                </a:solidFill>
              </a:rPr>
              <a:t>الاختبار مستمر في كل مرحلة من مشروعي التخرج ضمن دورات Agile</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3</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التقنيات</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البنية المعمارية والأدوات المستخدمة</a:t>
            </a:r>
            <a:endParaRPr lang="ar-SA" sz="2600" dirty="0"/>
          </a:p>
        </p:txBody>
      </p:sp>
      <p:sp>
        <p:nvSpPr>
          <p:cNvPr id="5" name="Architecture diagram card"/>
          <p:cNvSpPr/>
          <p:nvPr/>
        </p:nvSpPr>
        <p:spPr>
          <a:xfrm>
            <a:off x="822960" y="1600200"/>
            <a:ext cx="6400800" cy="4709160"/>
          </a:xfrm>
          <a:prstGeom prst="roundRect">
            <a:avLst>
              <a:gd name="adj" fmla="val 1942"/>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pic>
        <p:nvPicPr>
          <p:cNvPr id="6" name="مخطط البنية المعمارية" descr="مخطط البنية المعمارية">    </p:cNvPr>
          <p:cNvPicPr>
            <a:picLocks noChangeAspect="1"/>
          </p:cNvPicPr>
          <p:nvPr/>
        </p:nvPicPr>
        <p:blipFill>
          <a:blip r:embed="rId1"/>
          <a:stretch>
            <a:fillRect/>
          </a:stretch>
        </p:blipFill>
        <p:spPr>
          <a:xfrm>
            <a:off x="960120" y="1826217"/>
            <a:ext cx="6126480" cy="4257126"/>
          </a:xfrm>
          <a:prstGeom prst="rect">
            <a:avLst/>
          </a:prstGeom>
        </p:spPr>
      </p:pic>
      <p:sp>
        <p:nvSpPr>
          <p:cNvPr id="7" name="Tool card 1"/>
          <p:cNvSpPr/>
          <p:nvPr/>
        </p:nvSpPr>
        <p:spPr>
          <a:xfrm>
            <a:off x="7543800" y="1600200"/>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 name="Text 4"/>
          <p:cNvSpPr txBox="1"/>
          <p:nvPr/>
        </p:nvSpPr>
        <p:spPr>
          <a:xfrm>
            <a:off x="7772400" y="1673352"/>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Laravel 12 (PHP 8.2+)</a:t>
            </a:r>
            <a:endParaRPr lang="en-US" sz="1600" dirty="0"/>
          </a:p>
        </p:txBody>
      </p:sp>
      <p:sp>
        <p:nvSpPr>
          <p:cNvPr id="9" name="Text 5"/>
          <p:cNvSpPr txBox="1"/>
          <p:nvPr/>
        </p:nvSpPr>
        <p:spPr>
          <a:xfrm>
            <a:off x="7772400" y="2057400"/>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الخادم والمنطق والصلاحيات</a:t>
            </a:r>
            <a:endParaRPr lang="ar-SA" sz="1300" dirty="0"/>
          </a:p>
        </p:txBody>
      </p:sp>
      <p:sp>
        <p:nvSpPr>
          <p:cNvPr id="10" name="Tool card 2"/>
          <p:cNvSpPr/>
          <p:nvPr/>
        </p:nvSpPr>
        <p:spPr>
          <a:xfrm>
            <a:off x="7543800" y="2569464"/>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1" name="Text 7"/>
          <p:cNvSpPr txBox="1"/>
          <p:nvPr/>
        </p:nvSpPr>
        <p:spPr>
          <a:xfrm>
            <a:off x="7772400" y="2642616"/>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Vue 3 + Inertia 2</a:t>
            </a:r>
            <a:endParaRPr lang="en-US" sz="1600" dirty="0"/>
          </a:p>
        </p:txBody>
      </p:sp>
      <p:sp>
        <p:nvSpPr>
          <p:cNvPr id="12" name="Text 8"/>
          <p:cNvSpPr txBox="1"/>
          <p:nvPr/>
        </p:nvSpPr>
        <p:spPr>
          <a:xfrm>
            <a:off x="7772400" y="3026664"/>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واجهة تفاعلية بلا API منفصل</a:t>
            </a:r>
            <a:endParaRPr lang="ar-SA" sz="1300" dirty="0"/>
          </a:p>
        </p:txBody>
      </p:sp>
      <p:sp>
        <p:nvSpPr>
          <p:cNvPr id="13" name="Tool card 3"/>
          <p:cNvSpPr/>
          <p:nvPr/>
        </p:nvSpPr>
        <p:spPr>
          <a:xfrm>
            <a:off x="7543800" y="3538728"/>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4" name="Text 10"/>
          <p:cNvSpPr txBox="1"/>
          <p:nvPr/>
        </p:nvSpPr>
        <p:spPr>
          <a:xfrm>
            <a:off x="7772400" y="3611880"/>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Tailwind CSS 3 + Vite 7</a:t>
            </a:r>
            <a:endParaRPr lang="en-US" sz="1600" dirty="0"/>
          </a:p>
        </p:txBody>
      </p:sp>
      <p:sp>
        <p:nvSpPr>
          <p:cNvPr id="15" name="Text 11"/>
          <p:cNvSpPr txBox="1"/>
          <p:nvPr/>
        </p:nvSpPr>
        <p:spPr>
          <a:xfrm>
            <a:off x="7772400" y="3995928"/>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تصميم عربي RTL</a:t>
            </a:r>
            <a:endParaRPr lang="ar-SA" sz="1300" dirty="0"/>
          </a:p>
        </p:txBody>
      </p:sp>
      <p:sp>
        <p:nvSpPr>
          <p:cNvPr id="16" name="Tool card 4"/>
          <p:cNvSpPr/>
          <p:nvPr/>
        </p:nvSpPr>
        <p:spPr>
          <a:xfrm>
            <a:off x="7543800" y="4507992"/>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7" name="Text 13"/>
          <p:cNvSpPr txBox="1"/>
          <p:nvPr/>
        </p:nvSpPr>
        <p:spPr>
          <a:xfrm>
            <a:off x="7772400" y="4581144"/>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PostgreSQL</a:t>
            </a:r>
            <a:endParaRPr lang="en-US" sz="1600" dirty="0"/>
          </a:p>
        </p:txBody>
      </p:sp>
      <p:sp>
        <p:nvSpPr>
          <p:cNvPr id="18" name="Text 14"/>
          <p:cNvSpPr txBox="1"/>
          <p:nvPr/>
        </p:nvSpPr>
        <p:spPr>
          <a:xfrm>
            <a:off x="7772400" y="4965192"/>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قاعدة البيانات العلائقية</a:t>
            </a:r>
            <a:endParaRPr lang="ar-SA" sz="1300" dirty="0"/>
          </a:p>
        </p:txBody>
      </p:sp>
      <p:sp>
        <p:nvSpPr>
          <p:cNvPr id="19" name="Tool card 5"/>
          <p:cNvSpPr/>
          <p:nvPr/>
        </p:nvSpPr>
        <p:spPr>
          <a:xfrm>
            <a:off x="7543800" y="5477256"/>
            <a:ext cx="3822192" cy="841248"/>
          </a:xfrm>
          <a:prstGeom prst="roundRect">
            <a:avLst>
              <a:gd name="adj" fmla="val 1087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20" name="Text 16"/>
          <p:cNvSpPr txBox="1"/>
          <p:nvPr/>
        </p:nvSpPr>
        <p:spPr>
          <a:xfrm>
            <a:off x="7772400" y="5550408"/>
            <a:ext cx="3364992" cy="365760"/>
          </a:xfrm>
          <a:prstGeom prst="rect">
            <a:avLst/>
          </a:prstGeom>
          <a:noFill/>
          <a:ln/>
        </p:spPr>
        <p:txBody>
          <a:bodyPr wrap="square" lIns="0" tIns="0" rIns="0" bIns="0" rtlCol="0" anchor="ctr"/>
          <a:lstStyle/>
          <a:p>
            <a:pPr algn="r" indent="0" marL="0">
              <a:buNone/>
            </a:pPr>
            <a:r>
              <a:rPr lang="en-US" sz="1600" b="1" dirty="0">
                <a:solidFill>
                  <a:schemeClr val="accent1"/>
                </a:solidFill>
                <a:latin typeface="+mj-lt" pitchFamily="34" charset="0"/>
                <a:ea typeface="+mj-lt" pitchFamily="34" charset="-122"/>
                <a:cs typeface="+mj-lt" pitchFamily="34" charset="-120"/>
              </a:rPr>
              <a:t>Chart.js  |  Python</a:t>
            </a:r>
            <a:endParaRPr lang="en-US" sz="1600" dirty="0"/>
          </a:p>
        </p:txBody>
      </p:sp>
      <p:sp>
        <p:nvSpPr>
          <p:cNvPr id="21" name="Text 17"/>
          <p:cNvSpPr txBox="1"/>
          <p:nvPr/>
        </p:nvSpPr>
        <p:spPr>
          <a:xfrm>
            <a:off x="7772400" y="5934456"/>
            <a:ext cx="3364992" cy="301752"/>
          </a:xfrm>
          <a:prstGeom prst="rect">
            <a:avLst/>
          </a:prstGeom>
          <a:noFill/>
          <a:ln/>
        </p:spPr>
        <p:txBody>
          <a:bodyPr wrap="square" lIns="0" tIns="0" rIns="0" bIns="0" rtlCol="0" anchor="ctr"/>
          <a:lstStyle/>
          <a:p>
            <a:pPr rtl="1" algn="r" indent="0" marL="0">
              <a:buNone/>
            </a:pPr>
            <a:r>
              <a:rPr lang="ar-SA" altLang="en-US" sz="1300" dirty="0">
                <a:solidFill>
                  <a:schemeClr val="accent6"/>
                </a:solidFill>
              </a:rPr>
              <a:t>المخططات الإحصائية وميزات AI</a:t>
            </a:r>
            <a:endParaRPr lang="ar-SA" sz="13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6</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خطة التنفيذ</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خطة تنفيذ المشروع حتى 15/1/2027</a:t>
            </a:r>
            <a:endParaRPr lang="ar-SA" sz="2600" dirty="0"/>
          </a:p>
        </p:txBody>
      </p:sp>
      <p:sp>
        <p:nvSpPr>
          <p:cNvPr id="5" name="Gantt card"/>
          <p:cNvSpPr/>
          <p:nvPr/>
        </p:nvSpPr>
        <p:spPr>
          <a:xfrm>
            <a:off x="822960" y="1600200"/>
            <a:ext cx="10543032" cy="4251960"/>
          </a:xfrm>
          <a:prstGeom prst="roundRect">
            <a:avLst>
              <a:gd name="adj" fmla="val 2151"/>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6" name="Text 3"/>
          <p:cNvSpPr txBox="1"/>
          <p:nvPr/>
        </p:nvSpPr>
        <p:spPr>
          <a:xfrm>
            <a:off x="808101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a:t>
            </a:r>
            <a:endParaRPr lang="en-US" sz="1000" dirty="0"/>
          </a:p>
        </p:txBody>
      </p:sp>
      <p:sp>
        <p:nvSpPr>
          <p:cNvPr id="7" name="Text 4"/>
          <p:cNvSpPr txBox="1"/>
          <p:nvPr/>
        </p:nvSpPr>
        <p:spPr>
          <a:xfrm>
            <a:off x="761238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W2</a:t>
            </a:r>
            <a:endParaRPr lang="en-US" sz="1000" dirty="0"/>
          </a:p>
        </p:txBody>
      </p:sp>
      <p:sp>
        <p:nvSpPr>
          <p:cNvPr id="8" name="Text 5"/>
          <p:cNvSpPr txBox="1"/>
          <p:nvPr/>
        </p:nvSpPr>
        <p:spPr>
          <a:xfrm>
            <a:off x="714375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W3</a:t>
            </a:r>
            <a:endParaRPr lang="en-US" sz="1000" dirty="0"/>
          </a:p>
        </p:txBody>
      </p:sp>
      <p:sp>
        <p:nvSpPr>
          <p:cNvPr id="9" name="Text 6"/>
          <p:cNvSpPr txBox="1"/>
          <p:nvPr/>
        </p:nvSpPr>
        <p:spPr>
          <a:xfrm>
            <a:off x="667512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W4</a:t>
            </a:r>
            <a:endParaRPr lang="en-US" sz="1000" dirty="0"/>
          </a:p>
        </p:txBody>
      </p:sp>
      <p:sp>
        <p:nvSpPr>
          <p:cNvPr id="10" name="Text 7"/>
          <p:cNvSpPr txBox="1"/>
          <p:nvPr/>
        </p:nvSpPr>
        <p:spPr>
          <a:xfrm>
            <a:off x="620649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W5</a:t>
            </a:r>
            <a:endParaRPr lang="en-US" sz="1000" dirty="0"/>
          </a:p>
        </p:txBody>
      </p:sp>
      <p:sp>
        <p:nvSpPr>
          <p:cNvPr id="11" name="Text 8"/>
          <p:cNvSpPr txBox="1"/>
          <p:nvPr/>
        </p:nvSpPr>
        <p:spPr>
          <a:xfrm>
            <a:off x="573786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W6</a:t>
            </a:r>
            <a:endParaRPr lang="en-US" sz="1000" dirty="0"/>
          </a:p>
        </p:txBody>
      </p:sp>
      <p:sp>
        <p:nvSpPr>
          <p:cNvPr id="12" name="Text 9"/>
          <p:cNvSpPr txBox="1"/>
          <p:nvPr/>
        </p:nvSpPr>
        <p:spPr>
          <a:xfrm>
            <a:off x="526923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W7</a:t>
            </a:r>
            <a:endParaRPr lang="en-US" sz="1000" dirty="0"/>
          </a:p>
        </p:txBody>
      </p:sp>
      <p:sp>
        <p:nvSpPr>
          <p:cNvPr id="13" name="Text 10"/>
          <p:cNvSpPr txBox="1"/>
          <p:nvPr/>
        </p:nvSpPr>
        <p:spPr>
          <a:xfrm>
            <a:off x="480060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W8</a:t>
            </a:r>
            <a:endParaRPr lang="en-US" sz="1000" dirty="0"/>
          </a:p>
        </p:txBody>
      </p:sp>
      <p:sp>
        <p:nvSpPr>
          <p:cNvPr id="14" name="Text 11"/>
          <p:cNvSpPr txBox="1"/>
          <p:nvPr/>
        </p:nvSpPr>
        <p:spPr>
          <a:xfrm>
            <a:off x="433197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W9</a:t>
            </a:r>
            <a:endParaRPr lang="en-US" sz="1000" dirty="0"/>
          </a:p>
        </p:txBody>
      </p:sp>
      <p:sp>
        <p:nvSpPr>
          <p:cNvPr id="15" name="Text 12"/>
          <p:cNvSpPr txBox="1"/>
          <p:nvPr/>
        </p:nvSpPr>
        <p:spPr>
          <a:xfrm>
            <a:off x="386334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W10</a:t>
            </a:r>
            <a:endParaRPr lang="en-US" sz="1000" dirty="0"/>
          </a:p>
        </p:txBody>
      </p:sp>
      <p:sp>
        <p:nvSpPr>
          <p:cNvPr id="16" name="Text 13"/>
          <p:cNvSpPr txBox="1"/>
          <p:nvPr/>
        </p:nvSpPr>
        <p:spPr>
          <a:xfrm>
            <a:off x="339471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W11</a:t>
            </a:r>
            <a:endParaRPr lang="en-US" sz="1000" dirty="0"/>
          </a:p>
        </p:txBody>
      </p:sp>
      <p:sp>
        <p:nvSpPr>
          <p:cNvPr id="17" name="Text 14"/>
          <p:cNvSpPr txBox="1"/>
          <p:nvPr/>
        </p:nvSpPr>
        <p:spPr>
          <a:xfrm>
            <a:off x="292608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W12</a:t>
            </a:r>
            <a:endParaRPr lang="en-US" sz="1000" dirty="0"/>
          </a:p>
        </p:txBody>
      </p:sp>
      <p:sp>
        <p:nvSpPr>
          <p:cNvPr id="18" name="Text 15"/>
          <p:cNvSpPr txBox="1"/>
          <p:nvPr/>
        </p:nvSpPr>
        <p:spPr>
          <a:xfrm>
            <a:off x="245745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W13</a:t>
            </a:r>
            <a:endParaRPr lang="en-US" sz="1000" dirty="0"/>
          </a:p>
        </p:txBody>
      </p:sp>
      <p:sp>
        <p:nvSpPr>
          <p:cNvPr id="19" name="Text 16"/>
          <p:cNvSpPr txBox="1"/>
          <p:nvPr/>
        </p:nvSpPr>
        <p:spPr>
          <a:xfrm>
            <a:off x="198882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W14</a:t>
            </a:r>
            <a:endParaRPr lang="en-US" sz="1000" dirty="0"/>
          </a:p>
        </p:txBody>
      </p:sp>
      <p:sp>
        <p:nvSpPr>
          <p:cNvPr id="20" name="Text 17"/>
          <p:cNvSpPr txBox="1"/>
          <p:nvPr/>
        </p:nvSpPr>
        <p:spPr>
          <a:xfrm>
            <a:off x="152019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W15</a:t>
            </a:r>
            <a:endParaRPr lang="en-US" sz="1000" dirty="0"/>
          </a:p>
        </p:txBody>
      </p:sp>
      <p:sp>
        <p:nvSpPr>
          <p:cNvPr id="21" name="Text 18"/>
          <p:cNvSpPr txBox="1"/>
          <p:nvPr/>
        </p:nvSpPr>
        <p:spPr>
          <a:xfrm>
            <a:off x="1051560" y="1691640"/>
            <a:ext cx="468630" cy="320040"/>
          </a:xfrm>
          <a:prstGeom prst="rect">
            <a:avLst/>
          </a:prstGeom>
          <a:noFill/>
          <a:ln/>
        </p:spPr>
        <p:txBody>
          <a:bodyPr wrap="square" lIns="0" tIns="0" rIns="0" bIns="0" rtlCol="0" anchor="ctr"/>
          <a:lstStyle/>
          <a:p>
            <a:pPr algn="ctr" indent="0" marL="0">
              <a:buNone/>
            </a:pPr>
            <a:r>
              <a:rPr lang="en-US" sz="1000" dirty="0">
                <a:solidFill>
                  <a:schemeClr val="accent6"/>
                </a:solidFill>
              </a:rPr>
              <a:t>W16</a:t>
            </a:r>
            <a:endParaRPr lang="en-US" sz="1000" dirty="0"/>
          </a:p>
        </p:txBody>
      </p:sp>
      <p:sp>
        <p:nvSpPr>
          <p:cNvPr id="22" name="Gantt row 1"/>
          <p:cNvSpPr/>
          <p:nvPr/>
        </p:nvSpPr>
        <p:spPr>
          <a:xfrm>
            <a:off x="914400" y="2103120"/>
            <a:ext cx="10360152" cy="512064"/>
          </a:xfrm>
          <a:prstGeom prst="rect">
            <a:avLst/>
          </a:prstGeom>
          <a:solidFill>
            <a:srgbClr val="F1F2FB"/>
          </a:solidFill>
          <a:ln/>
        </p:spPr>
      </p:sp>
      <p:sp>
        <p:nvSpPr>
          <p:cNvPr id="23" name="Text 20"/>
          <p:cNvSpPr txBox="1"/>
          <p:nvPr/>
        </p:nvSpPr>
        <p:spPr>
          <a:xfrm>
            <a:off x="8732520" y="2103120"/>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1. دراسة المتطلبات</a:t>
            </a:r>
            <a:endParaRPr lang="ar-SA" sz="1300" dirty="0"/>
          </a:p>
        </p:txBody>
      </p:sp>
      <p:sp>
        <p:nvSpPr>
          <p:cNvPr id="24" name="Gantt bar 1"/>
          <p:cNvSpPr/>
          <p:nvPr/>
        </p:nvSpPr>
        <p:spPr>
          <a:xfrm>
            <a:off x="7639812" y="2221992"/>
            <a:ext cx="882396" cy="274320"/>
          </a:xfrm>
          <a:prstGeom prst="roundRect">
            <a:avLst>
              <a:gd name="adj" fmla="val 26667"/>
            </a:avLst>
          </a:prstGeom>
          <a:solidFill>
            <a:schemeClr val="accent2"/>
          </a:solidFill>
          <a:ln/>
        </p:spPr>
      </p:sp>
      <p:sp>
        <p:nvSpPr>
          <p:cNvPr id="25" name="Text 22"/>
          <p:cNvSpPr txBox="1"/>
          <p:nvPr/>
        </p:nvSpPr>
        <p:spPr>
          <a:xfrm>
            <a:off x="8732520" y="2615184"/>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2. التحليل والتصميم (UML)</a:t>
            </a:r>
            <a:endParaRPr lang="ar-SA" sz="1300" dirty="0"/>
          </a:p>
        </p:txBody>
      </p:sp>
      <p:sp>
        <p:nvSpPr>
          <p:cNvPr id="26" name="Gantt bar 2"/>
          <p:cNvSpPr/>
          <p:nvPr/>
        </p:nvSpPr>
        <p:spPr>
          <a:xfrm>
            <a:off x="6702552" y="2734056"/>
            <a:ext cx="882396" cy="274320"/>
          </a:xfrm>
          <a:prstGeom prst="roundRect">
            <a:avLst>
              <a:gd name="adj" fmla="val 26667"/>
            </a:avLst>
          </a:prstGeom>
          <a:solidFill>
            <a:schemeClr val="accent2"/>
          </a:solidFill>
          <a:ln/>
        </p:spPr>
      </p:sp>
      <p:sp>
        <p:nvSpPr>
          <p:cNvPr id="27" name="Gantt row 3"/>
          <p:cNvSpPr/>
          <p:nvPr/>
        </p:nvSpPr>
        <p:spPr>
          <a:xfrm>
            <a:off x="914400" y="3127248"/>
            <a:ext cx="10360152" cy="512064"/>
          </a:xfrm>
          <a:prstGeom prst="rect">
            <a:avLst/>
          </a:prstGeom>
          <a:solidFill>
            <a:srgbClr val="F1F2FB"/>
          </a:solidFill>
          <a:ln/>
        </p:spPr>
      </p:sp>
      <p:sp>
        <p:nvSpPr>
          <p:cNvPr id="28" name="Text 25"/>
          <p:cNvSpPr txBox="1"/>
          <p:nvPr/>
        </p:nvSpPr>
        <p:spPr>
          <a:xfrm>
            <a:off x="8732520" y="3127248"/>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3. لوحة المدير والبيانات الأساسية</a:t>
            </a:r>
            <a:endParaRPr lang="ar-SA" sz="1300" dirty="0"/>
          </a:p>
        </p:txBody>
      </p:sp>
      <p:sp>
        <p:nvSpPr>
          <p:cNvPr id="29" name="Gantt bar 3"/>
          <p:cNvSpPr/>
          <p:nvPr/>
        </p:nvSpPr>
        <p:spPr>
          <a:xfrm>
            <a:off x="5296662" y="3246120"/>
            <a:ext cx="1819656" cy="274320"/>
          </a:xfrm>
          <a:prstGeom prst="roundRect">
            <a:avLst>
              <a:gd name="adj" fmla="val 26667"/>
            </a:avLst>
          </a:prstGeom>
          <a:solidFill>
            <a:schemeClr val="accent4"/>
          </a:solidFill>
          <a:ln/>
        </p:spPr>
      </p:sp>
      <p:sp>
        <p:nvSpPr>
          <p:cNvPr id="30" name="Text 27"/>
          <p:cNvSpPr txBox="1"/>
          <p:nvPr/>
        </p:nvSpPr>
        <p:spPr>
          <a:xfrm>
            <a:off x="8732520" y="3639312"/>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4. لوحتا المدرّس والطالب</a:t>
            </a:r>
            <a:endParaRPr lang="ar-SA" sz="1300" dirty="0"/>
          </a:p>
        </p:txBody>
      </p:sp>
      <p:sp>
        <p:nvSpPr>
          <p:cNvPr id="31" name="Gantt bar 4"/>
          <p:cNvSpPr/>
          <p:nvPr/>
        </p:nvSpPr>
        <p:spPr>
          <a:xfrm>
            <a:off x="3890772" y="3758184"/>
            <a:ext cx="1351026" cy="274320"/>
          </a:xfrm>
          <a:prstGeom prst="roundRect">
            <a:avLst>
              <a:gd name="adj" fmla="val 26667"/>
            </a:avLst>
          </a:prstGeom>
          <a:solidFill>
            <a:schemeClr val="accent1"/>
          </a:solidFill>
          <a:ln/>
        </p:spPr>
      </p:sp>
      <p:sp>
        <p:nvSpPr>
          <p:cNvPr id="32" name="Gantt row 5"/>
          <p:cNvSpPr/>
          <p:nvPr/>
        </p:nvSpPr>
        <p:spPr>
          <a:xfrm>
            <a:off x="914400" y="4151376"/>
            <a:ext cx="10360152" cy="512064"/>
          </a:xfrm>
          <a:prstGeom prst="rect">
            <a:avLst/>
          </a:prstGeom>
          <a:solidFill>
            <a:srgbClr val="F1F2FB"/>
          </a:solidFill>
          <a:ln/>
        </p:spPr>
      </p:sp>
      <p:sp>
        <p:nvSpPr>
          <p:cNvPr id="33" name="Text 30"/>
          <p:cNvSpPr txBox="1"/>
          <p:nvPr/>
        </p:nvSpPr>
        <p:spPr>
          <a:xfrm>
            <a:off x="8732520" y="4151376"/>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5. المالية والرواتب والتقارير</a:t>
            </a:r>
            <a:endParaRPr lang="ar-SA" sz="1300" dirty="0"/>
          </a:p>
        </p:txBody>
      </p:sp>
      <p:sp>
        <p:nvSpPr>
          <p:cNvPr id="34" name="Gantt bar 5"/>
          <p:cNvSpPr/>
          <p:nvPr/>
        </p:nvSpPr>
        <p:spPr>
          <a:xfrm>
            <a:off x="2953512" y="4270248"/>
            <a:ext cx="882396" cy="274320"/>
          </a:xfrm>
          <a:prstGeom prst="roundRect">
            <a:avLst>
              <a:gd name="adj" fmla="val 26667"/>
            </a:avLst>
          </a:prstGeom>
          <a:solidFill>
            <a:schemeClr val="accent1"/>
          </a:solidFill>
          <a:ln/>
        </p:spPr>
      </p:sp>
      <p:sp>
        <p:nvSpPr>
          <p:cNvPr id="35" name="Text 32"/>
          <p:cNvSpPr txBox="1"/>
          <p:nvPr/>
        </p:nvSpPr>
        <p:spPr>
          <a:xfrm>
            <a:off x="8732520" y="4663440"/>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6. الاختبار والتكامل</a:t>
            </a:r>
            <a:endParaRPr lang="ar-SA" sz="1300" dirty="0"/>
          </a:p>
        </p:txBody>
      </p:sp>
      <p:sp>
        <p:nvSpPr>
          <p:cNvPr id="36" name="Gantt bar 6"/>
          <p:cNvSpPr/>
          <p:nvPr/>
        </p:nvSpPr>
        <p:spPr>
          <a:xfrm>
            <a:off x="2016252" y="4782312"/>
            <a:ext cx="882396" cy="274320"/>
          </a:xfrm>
          <a:prstGeom prst="roundRect">
            <a:avLst>
              <a:gd name="adj" fmla="val 26667"/>
            </a:avLst>
          </a:prstGeom>
          <a:solidFill>
            <a:schemeClr val="accent1"/>
          </a:solidFill>
          <a:ln/>
        </p:spPr>
      </p:sp>
      <p:sp>
        <p:nvSpPr>
          <p:cNvPr id="37" name="Gantt row 7"/>
          <p:cNvSpPr/>
          <p:nvPr/>
        </p:nvSpPr>
        <p:spPr>
          <a:xfrm>
            <a:off x="914400" y="5175504"/>
            <a:ext cx="10360152" cy="512064"/>
          </a:xfrm>
          <a:prstGeom prst="rect">
            <a:avLst/>
          </a:prstGeom>
          <a:solidFill>
            <a:srgbClr val="F1F2FB"/>
          </a:solidFill>
          <a:ln/>
        </p:spPr>
      </p:sp>
      <p:sp>
        <p:nvSpPr>
          <p:cNvPr id="38" name="Text 35"/>
          <p:cNvSpPr txBox="1"/>
          <p:nvPr/>
        </p:nvSpPr>
        <p:spPr>
          <a:xfrm>
            <a:off x="8732520" y="5175504"/>
            <a:ext cx="2423160" cy="512064"/>
          </a:xfrm>
          <a:prstGeom prst="rect">
            <a:avLst/>
          </a:prstGeom>
          <a:noFill/>
          <a:ln/>
        </p:spPr>
        <p:txBody>
          <a:bodyPr wrap="square" lIns="0" tIns="0" rIns="0" bIns="0" rtlCol="0" anchor="ctr"/>
          <a:lstStyle/>
          <a:p>
            <a:pPr rtl="1" algn="r" indent="0" marL="0">
              <a:buNone/>
            </a:pPr>
            <a:r>
              <a:rPr lang="ar-SA" altLang="en-US" sz="1300" b="1" dirty="0">
                <a:solidFill>
                  <a:schemeClr val="tx2"/>
                </a:solidFill>
              </a:rPr>
              <a:t>7. التوثيق والمناقشة</a:t>
            </a:r>
            <a:endParaRPr lang="ar-SA" sz="1300" dirty="0"/>
          </a:p>
        </p:txBody>
      </p:sp>
      <p:sp>
        <p:nvSpPr>
          <p:cNvPr id="39" name="Gantt bar 7"/>
          <p:cNvSpPr/>
          <p:nvPr/>
        </p:nvSpPr>
        <p:spPr>
          <a:xfrm>
            <a:off x="1078992" y="5294376"/>
            <a:ext cx="882396" cy="274320"/>
          </a:xfrm>
          <a:prstGeom prst="roundRect">
            <a:avLst>
              <a:gd name="adj" fmla="val 26667"/>
            </a:avLst>
          </a:prstGeom>
          <a:solidFill>
            <a:schemeClr val="accent1"/>
          </a:solidFill>
          <a:ln/>
        </p:spPr>
      </p:sp>
      <p:sp>
        <p:nvSpPr>
          <p:cNvPr id="40" name="Text 37"/>
          <p:cNvSpPr txBox="1"/>
          <p:nvPr/>
        </p:nvSpPr>
        <p:spPr>
          <a:xfrm>
            <a:off x="822960" y="5989320"/>
            <a:ext cx="6400800" cy="36576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ميزات الذكاء الاصطناعي (حالات الاستخدام 21 إلى 23) تُضاف بعد استقرار النظام الأساسي</a:t>
            </a:r>
            <a:endParaRPr lang="ar-SA" sz="1200" dirty="0"/>
          </a:p>
        </p:txBody>
      </p:sp>
      <p:sp>
        <p:nvSpPr>
          <p:cNvPr id="41" name="Legend منجز"/>
          <p:cNvSpPr/>
          <p:nvPr/>
        </p:nvSpPr>
        <p:spPr>
          <a:xfrm>
            <a:off x="11183112" y="6035040"/>
            <a:ext cx="182880" cy="182880"/>
          </a:xfrm>
          <a:prstGeom prst="roundRect">
            <a:avLst>
              <a:gd name="adj" fmla="val 20000"/>
            </a:avLst>
          </a:prstGeom>
          <a:solidFill>
            <a:schemeClr val="accent2"/>
          </a:solidFill>
          <a:ln/>
        </p:spPr>
      </p:sp>
      <p:sp>
        <p:nvSpPr>
          <p:cNvPr id="42" name="Text 39"/>
          <p:cNvSpPr txBox="1"/>
          <p:nvPr/>
        </p:nvSpPr>
        <p:spPr>
          <a:xfrm>
            <a:off x="1013155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منجز</a:t>
            </a:r>
            <a:endParaRPr lang="ar-SA" sz="1200" dirty="0"/>
          </a:p>
        </p:txBody>
      </p:sp>
      <p:sp>
        <p:nvSpPr>
          <p:cNvPr id="43" name="Legend قيد العمل"/>
          <p:cNvSpPr/>
          <p:nvPr/>
        </p:nvSpPr>
        <p:spPr>
          <a:xfrm>
            <a:off x="9720072" y="6035040"/>
            <a:ext cx="182880" cy="182880"/>
          </a:xfrm>
          <a:prstGeom prst="roundRect">
            <a:avLst>
              <a:gd name="adj" fmla="val 20000"/>
            </a:avLst>
          </a:prstGeom>
          <a:solidFill>
            <a:schemeClr val="accent4"/>
          </a:solidFill>
          <a:ln/>
        </p:spPr>
      </p:sp>
      <p:sp>
        <p:nvSpPr>
          <p:cNvPr id="44" name="Text 41"/>
          <p:cNvSpPr txBox="1"/>
          <p:nvPr/>
        </p:nvSpPr>
        <p:spPr>
          <a:xfrm>
            <a:off x="866851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قيد العمل</a:t>
            </a:r>
            <a:endParaRPr lang="ar-SA" sz="1200" dirty="0"/>
          </a:p>
        </p:txBody>
      </p:sp>
      <p:sp>
        <p:nvSpPr>
          <p:cNvPr id="45" name="Legend مخطط"/>
          <p:cNvSpPr/>
          <p:nvPr/>
        </p:nvSpPr>
        <p:spPr>
          <a:xfrm>
            <a:off x="8257032" y="6035040"/>
            <a:ext cx="182880" cy="182880"/>
          </a:xfrm>
          <a:prstGeom prst="roundRect">
            <a:avLst>
              <a:gd name="adj" fmla="val 20000"/>
            </a:avLst>
          </a:prstGeom>
          <a:solidFill>
            <a:schemeClr val="accent1"/>
          </a:solidFill>
          <a:ln/>
        </p:spPr>
      </p:sp>
      <p:sp>
        <p:nvSpPr>
          <p:cNvPr id="46" name="Text 43"/>
          <p:cNvSpPr txBox="1"/>
          <p:nvPr/>
        </p:nvSpPr>
        <p:spPr>
          <a:xfrm>
            <a:off x="7205472" y="5989320"/>
            <a:ext cx="960120" cy="274320"/>
          </a:xfrm>
          <a:prstGeom prst="rect">
            <a:avLst/>
          </a:prstGeom>
          <a:noFill/>
          <a:ln/>
        </p:spPr>
        <p:txBody>
          <a:bodyPr wrap="square" lIns="0" tIns="0" rIns="0" bIns="0" rtlCol="0" anchor="ctr"/>
          <a:lstStyle/>
          <a:p>
            <a:pPr rtl="1" algn="r" indent="0" marL="0">
              <a:buNone/>
            </a:pPr>
            <a:r>
              <a:rPr lang="ar-SA" altLang="en-US" sz="1200" dirty="0">
                <a:solidFill>
                  <a:schemeClr val="accent6"/>
                </a:solidFill>
              </a:rPr>
              <a:t>مخطط</a:t>
            </a:r>
            <a:endParaRPr lang="ar-SA" sz="12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9</a:t>
            </a:fld>
            <a:endParaRPr lang="en-US"/>
          </a:p>
        </p:txBody>
      </p:sp>
      <p:sp>
        <p:nvSpPr>
          <p:cNvPr id="47" name="TextBox 46"/>
          <p:cNvSpPr txBox="1"/>
          <p:nvPr/>
        </p:nvSpPr>
        <p:spPr>
          <a:xfrm>
            <a:off x="822960" y="411480"/>
            <a:ext cx="3500000" cy="320040"/>
          </a:xfrm>
          <a:prstGeom prst="rect">
            <a:avLst/>
          </a:prstGeom>
          <a:noFill/>
        </p:spPr>
        <p:txBody>
          <a:bodyPr wrap="square" lIns="0" rIns="0" tIns="0" bIns="0" anchor="ctr">
            <a:spAutoFit/>
          </a:bodyPr>
          <a:lstStyle/>
          <a:p>
            <a:pPr algn="l" rtl="1"/>
            <a:r>
              <a:rPr sz="1200" b="1" lang="ar-SA">
                <a:solidFill>
                  <a:schemeClr val="accent1"/>
                </a:solidFill>
              </a:rPr>
              <a:t>شكراً لإصغائكم… أسئلتكم؟</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خريطة الموقع</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خريطة الموقع (Site Map): التنقل حسب الأدوار</a:t>
            </a:r>
            <a:endParaRPr lang="ar-SA" sz="2600" dirty="0"/>
          </a:p>
        </p:txBody>
      </p:sp>
      <p:cxnSp>
        <p:nvCxnSpPr>
          <p:cNvPr id="51" name="Root stem"/>
          <p:cNvCxnSpPr/>
          <p:nvPr/>
        </p:nvCxnSpPr>
        <p:spPr>
          <a:xfrm>
            <a:off x="6094476" y="2057400"/>
            <a:ext cx="0" cy="182880"/>
          </a:xfrm>
          <a:prstGeom prst="line">
            <a:avLst/>
          </a:prstGeom>
          <a:ln w="19050">
            <a:solidFill>
              <a:srgbClr val="A9B4C8"/>
            </a:solidFill>
          </a:ln>
        </p:spPr>
      </p:cxnSp>
      <p:cxnSp>
        <p:nvCxnSpPr>
          <p:cNvPr id="52" name="Branch bar"/>
          <p:cNvCxnSpPr/>
          <p:nvPr/>
        </p:nvCxnSpPr>
        <p:spPr>
          <a:xfrm>
            <a:off x="2482596" y="2240280"/>
            <a:ext cx="7223760" cy="0"/>
          </a:xfrm>
          <a:prstGeom prst="line">
            <a:avLst/>
          </a:prstGeom>
          <a:ln w="19050">
            <a:solidFill>
              <a:srgbClr val="A9B4C8"/>
            </a:solidFill>
          </a:ln>
        </p:spPr>
      </p:cxnSp>
      <p:cxnSp>
        <p:nvCxnSpPr>
          <p:cNvPr id="53" name="Branch drop"/>
          <p:cNvCxnSpPr/>
          <p:nvPr/>
        </p:nvCxnSpPr>
        <p:spPr>
          <a:xfrm>
            <a:off x="9706356" y="2240280"/>
            <a:ext cx="0" cy="182880"/>
          </a:xfrm>
          <a:prstGeom prst="line">
            <a:avLst/>
          </a:prstGeom>
          <a:ln w="19050">
            <a:solidFill>
              <a:srgbClr val="A9B4C8"/>
            </a:solidFill>
          </a:ln>
        </p:spPr>
      </p:cxnSp>
      <p:cxnSp>
        <p:nvCxnSpPr>
          <p:cNvPr id="54" name="Branch drop"/>
          <p:cNvCxnSpPr/>
          <p:nvPr/>
        </p:nvCxnSpPr>
        <p:spPr>
          <a:xfrm>
            <a:off x="6094476" y="2240280"/>
            <a:ext cx="0" cy="182880"/>
          </a:xfrm>
          <a:prstGeom prst="line">
            <a:avLst/>
          </a:prstGeom>
          <a:ln w="19050">
            <a:solidFill>
              <a:srgbClr val="A9B4C8"/>
            </a:solidFill>
          </a:ln>
        </p:spPr>
      </p:cxnSp>
      <p:cxnSp>
        <p:nvCxnSpPr>
          <p:cNvPr id="55" name="Branch drop"/>
          <p:cNvCxnSpPr/>
          <p:nvPr/>
        </p:nvCxnSpPr>
        <p:spPr>
          <a:xfrm>
            <a:off x="2482596" y="2240280"/>
            <a:ext cx="0" cy="182880"/>
          </a:xfrm>
          <a:prstGeom prst="line">
            <a:avLst/>
          </a:prstGeom>
          <a:ln w="19050">
            <a:solidFill>
              <a:srgbClr val="A9B4C8"/>
            </a:solidFill>
          </a:ln>
        </p:spPr>
      </p:cxnSp>
      <p:sp>
        <p:nvSpPr>
          <p:cNvPr id="56" name="Root node"/>
          <p:cNvSpPr/>
          <p:nvPr/>
        </p:nvSpPr>
        <p:spPr>
          <a:xfrm>
            <a:off x="3808476" y="1554480"/>
            <a:ext cx="4572000" cy="502920"/>
          </a:xfrm>
          <a:prstGeom prst="roundRect">
            <a:avLst>
              <a:gd name="adj" fmla="val 18000"/>
            </a:avLst>
          </a:prstGeom>
          <a:solidFill>
            <a:srgbClr val="16294A"/>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تسجيل الدخول والملف الشخصي (UC-01)</a:t>
            </a:r>
          </a:p>
        </p:txBody>
      </p:sp>
      <p:sp>
        <p:nvSpPr>
          <p:cNvPr id="57" name="Portal 1"/>
          <p:cNvSpPr/>
          <p:nvPr/>
        </p:nvSpPr>
        <p:spPr>
          <a:xfrm>
            <a:off x="8046720" y="2423160"/>
            <a:ext cx="3319272" cy="457200"/>
          </a:xfrm>
          <a:prstGeom prst="roundRect">
            <a:avLst>
              <a:gd name="adj" fmla="val 18000"/>
            </a:avLst>
          </a:prstGeom>
          <a:solidFill>
            <a:schemeClr val="accent1"/>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بوابة المدير: لوحة التحكم</a:t>
            </a:r>
          </a:p>
        </p:txBody>
      </p:sp>
      <p:cxnSp>
        <p:nvCxnSpPr>
          <p:cNvPr id="58" name="Trunk 1"/>
          <p:cNvCxnSpPr/>
          <p:nvPr/>
        </p:nvCxnSpPr>
        <p:spPr>
          <a:xfrm>
            <a:off x="11137392" y="2880360"/>
            <a:ext cx="0" cy="2857500"/>
          </a:xfrm>
          <a:prstGeom prst="line">
            <a:avLst/>
          </a:prstGeom>
          <a:ln w="19050">
            <a:solidFill>
              <a:srgbClr val="A9B4C8"/>
            </a:solidFill>
          </a:ln>
        </p:spPr>
      </p:cxnSp>
      <p:cxnSp>
        <p:nvCxnSpPr>
          <p:cNvPr id="59" name="Tick 1.1"/>
          <p:cNvCxnSpPr/>
          <p:nvPr/>
        </p:nvCxnSpPr>
        <p:spPr>
          <a:xfrm>
            <a:off x="10954512" y="3177540"/>
            <a:ext cx="182880" cy="0"/>
          </a:xfrm>
          <a:prstGeom prst="line">
            <a:avLst/>
          </a:prstGeom>
          <a:ln w="19050">
            <a:solidFill>
              <a:srgbClr val="A9B4C8"/>
            </a:solidFill>
          </a:ln>
        </p:spPr>
      </p:cxnSp>
      <p:sp>
        <p:nvSpPr>
          <p:cNvPr id="60" name="Page 1.1"/>
          <p:cNvSpPr/>
          <p:nvPr/>
        </p:nvSpPr>
        <p:spPr>
          <a:xfrm>
            <a:off x="8046720" y="30175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إدارة المستخدمين</a:t>
            </a:r>
          </a:p>
        </p:txBody>
      </p:sp>
      <p:cxnSp>
        <p:nvCxnSpPr>
          <p:cNvPr id="61" name="Tick 1.2"/>
          <p:cNvCxnSpPr/>
          <p:nvPr/>
        </p:nvCxnSpPr>
        <p:spPr>
          <a:xfrm>
            <a:off x="10954512" y="3543300"/>
            <a:ext cx="182880" cy="0"/>
          </a:xfrm>
          <a:prstGeom prst="line">
            <a:avLst/>
          </a:prstGeom>
          <a:ln w="19050">
            <a:solidFill>
              <a:srgbClr val="A9B4C8"/>
            </a:solidFill>
          </a:ln>
        </p:spPr>
      </p:cxnSp>
      <p:sp>
        <p:nvSpPr>
          <p:cNvPr id="62" name="Page 1.2"/>
          <p:cNvSpPr/>
          <p:nvPr/>
        </p:nvSpPr>
        <p:spPr>
          <a:xfrm>
            <a:off x="8046720" y="33832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القاعات</a:t>
            </a:r>
          </a:p>
        </p:txBody>
      </p:sp>
      <p:cxnSp>
        <p:nvCxnSpPr>
          <p:cNvPr id="63" name="Tick 1.3"/>
          <p:cNvCxnSpPr/>
          <p:nvPr/>
        </p:nvCxnSpPr>
        <p:spPr>
          <a:xfrm>
            <a:off x="10954512" y="3909060"/>
            <a:ext cx="182880" cy="0"/>
          </a:xfrm>
          <a:prstGeom prst="line">
            <a:avLst/>
          </a:prstGeom>
          <a:ln w="19050">
            <a:solidFill>
              <a:srgbClr val="A9B4C8"/>
            </a:solidFill>
          </a:ln>
        </p:spPr>
      </p:cxnSp>
      <p:sp>
        <p:nvSpPr>
          <p:cNvPr id="64" name="Page 1.3"/>
          <p:cNvSpPr/>
          <p:nvPr/>
        </p:nvSpPr>
        <p:spPr>
          <a:xfrm>
            <a:off x="8046720" y="37490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الكورسات</a:t>
            </a:r>
          </a:p>
        </p:txBody>
      </p:sp>
      <p:cxnSp>
        <p:nvCxnSpPr>
          <p:cNvPr id="65" name="Tick 1.4"/>
          <p:cNvCxnSpPr/>
          <p:nvPr/>
        </p:nvCxnSpPr>
        <p:spPr>
          <a:xfrm>
            <a:off x="10954512" y="4274820"/>
            <a:ext cx="182880" cy="0"/>
          </a:xfrm>
          <a:prstGeom prst="line">
            <a:avLst/>
          </a:prstGeom>
          <a:ln w="19050">
            <a:solidFill>
              <a:srgbClr val="A9B4C8"/>
            </a:solidFill>
          </a:ln>
        </p:spPr>
      </p:cxnSp>
      <p:sp>
        <p:nvSpPr>
          <p:cNvPr id="66" name="Page 1.4"/>
          <p:cNvSpPr/>
          <p:nvPr/>
        </p:nvSpPr>
        <p:spPr>
          <a:xfrm>
            <a:off x="8046720" y="411480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الدفعات</a:t>
            </a:r>
          </a:p>
        </p:txBody>
      </p:sp>
      <p:cxnSp>
        <p:nvCxnSpPr>
          <p:cNvPr id="67" name="Tick 1.5"/>
          <p:cNvCxnSpPr/>
          <p:nvPr/>
        </p:nvCxnSpPr>
        <p:spPr>
          <a:xfrm>
            <a:off x="10954512" y="4640580"/>
            <a:ext cx="182880" cy="0"/>
          </a:xfrm>
          <a:prstGeom prst="line">
            <a:avLst/>
          </a:prstGeom>
          <a:ln w="19050">
            <a:solidFill>
              <a:srgbClr val="A9B4C8"/>
            </a:solidFill>
          </a:ln>
        </p:spPr>
      </p:cxnSp>
      <p:sp>
        <p:nvSpPr>
          <p:cNvPr id="68" name="Page 1.5"/>
          <p:cNvSpPr/>
          <p:nvPr/>
        </p:nvSpPr>
        <p:spPr>
          <a:xfrm>
            <a:off x="8046720" y="448056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الأقساط</a:t>
            </a:r>
          </a:p>
        </p:txBody>
      </p:sp>
      <p:cxnSp>
        <p:nvCxnSpPr>
          <p:cNvPr id="69" name="Tick 1.6"/>
          <p:cNvCxnSpPr/>
          <p:nvPr/>
        </p:nvCxnSpPr>
        <p:spPr>
          <a:xfrm>
            <a:off x="10954512" y="5006340"/>
            <a:ext cx="182880" cy="0"/>
          </a:xfrm>
          <a:prstGeom prst="line">
            <a:avLst/>
          </a:prstGeom>
          <a:ln w="19050">
            <a:solidFill>
              <a:srgbClr val="A9B4C8"/>
            </a:solidFill>
          </a:ln>
        </p:spPr>
      </p:cxnSp>
      <p:sp>
        <p:nvSpPr>
          <p:cNvPr id="70" name="Page 1.6"/>
          <p:cNvSpPr/>
          <p:nvPr/>
        </p:nvSpPr>
        <p:spPr>
          <a:xfrm>
            <a:off x="8046720" y="48463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الرواتب</a:t>
            </a:r>
          </a:p>
        </p:txBody>
      </p:sp>
      <p:cxnSp>
        <p:nvCxnSpPr>
          <p:cNvPr id="71" name="Tick 1.7"/>
          <p:cNvCxnSpPr/>
          <p:nvPr/>
        </p:nvCxnSpPr>
        <p:spPr>
          <a:xfrm>
            <a:off x="10954512" y="5372100"/>
            <a:ext cx="182880" cy="0"/>
          </a:xfrm>
          <a:prstGeom prst="line">
            <a:avLst/>
          </a:prstGeom>
          <a:ln w="19050">
            <a:solidFill>
              <a:srgbClr val="A9B4C8"/>
            </a:solidFill>
          </a:ln>
        </p:spPr>
      </p:cxnSp>
      <p:sp>
        <p:nvSpPr>
          <p:cNvPr id="72" name="Page 1.7"/>
          <p:cNvSpPr/>
          <p:nvPr/>
        </p:nvSpPr>
        <p:spPr>
          <a:xfrm>
            <a:off x="8046720" y="52120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المصاريف</a:t>
            </a:r>
          </a:p>
        </p:txBody>
      </p:sp>
      <p:cxnSp>
        <p:nvCxnSpPr>
          <p:cNvPr id="73" name="Tick 1.8"/>
          <p:cNvCxnSpPr/>
          <p:nvPr/>
        </p:nvCxnSpPr>
        <p:spPr>
          <a:xfrm>
            <a:off x="10954512" y="5737860"/>
            <a:ext cx="182880" cy="0"/>
          </a:xfrm>
          <a:prstGeom prst="line">
            <a:avLst/>
          </a:prstGeom>
          <a:ln w="19050">
            <a:solidFill>
              <a:srgbClr val="A9B4C8"/>
            </a:solidFill>
          </a:ln>
        </p:spPr>
      </p:cxnSp>
      <p:sp>
        <p:nvSpPr>
          <p:cNvPr id="74" name="Page 1.8"/>
          <p:cNvSpPr/>
          <p:nvPr/>
        </p:nvSpPr>
        <p:spPr>
          <a:xfrm>
            <a:off x="8046720" y="55778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التقارير</a:t>
            </a:r>
          </a:p>
        </p:txBody>
      </p:sp>
      <p:sp>
        <p:nvSpPr>
          <p:cNvPr id="75" name="Portal 2"/>
          <p:cNvSpPr/>
          <p:nvPr/>
        </p:nvSpPr>
        <p:spPr>
          <a:xfrm>
            <a:off x="4434840" y="2423160"/>
            <a:ext cx="3319272" cy="457200"/>
          </a:xfrm>
          <a:prstGeom prst="roundRect">
            <a:avLst>
              <a:gd name="adj" fmla="val 18000"/>
            </a:avLst>
          </a:prstGeom>
          <a:solidFill>
            <a:schemeClr val="accent1"/>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بوابة المدرّس: البروفايل</a:t>
            </a:r>
          </a:p>
        </p:txBody>
      </p:sp>
      <p:cxnSp>
        <p:nvCxnSpPr>
          <p:cNvPr id="76" name="Trunk 2"/>
          <p:cNvCxnSpPr/>
          <p:nvPr/>
        </p:nvCxnSpPr>
        <p:spPr>
          <a:xfrm>
            <a:off x="7525512" y="2880360"/>
            <a:ext cx="0" cy="1760220"/>
          </a:xfrm>
          <a:prstGeom prst="line">
            <a:avLst/>
          </a:prstGeom>
          <a:ln w="19050">
            <a:solidFill>
              <a:srgbClr val="A9B4C8"/>
            </a:solidFill>
          </a:ln>
        </p:spPr>
      </p:cxnSp>
      <p:cxnSp>
        <p:nvCxnSpPr>
          <p:cNvPr id="77" name="Tick 2.1"/>
          <p:cNvCxnSpPr/>
          <p:nvPr/>
        </p:nvCxnSpPr>
        <p:spPr>
          <a:xfrm>
            <a:off x="7342632" y="3177540"/>
            <a:ext cx="182880" cy="0"/>
          </a:xfrm>
          <a:prstGeom prst="line">
            <a:avLst/>
          </a:prstGeom>
          <a:ln w="19050">
            <a:solidFill>
              <a:srgbClr val="A9B4C8"/>
            </a:solidFill>
          </a:ln>
        </p:spPr>
      </p:cxnSp>
      <p:sp>
        <p:nvSpPr>
          <p:cNvPr id="78" name="Page 2.1"/>
          <p:cNvSpPr/>
          <p:nvPr/>
        </p:nvSpPr>
        <p:spPr>
          <a:xfrm>
            <a:off x="4434840" y="30175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الجدول الأسبوعي</a:t>
            </a:r>
          </a:p>
        </p:txBody>
      </p:sp>
      <p:cxnSp>
        <p:nvCxnSpPr>
          <p:cNvPr id="79" name="Tick 2.2"/>
          <p:cNvCxnSpPr/>
          <p:nvPr/>
        </p:nvCxnSpPr>
        <p:spPr>
          <a:xfrm>
            <a:off x="7342632" y="3543300"/>
            <a:ext cx="182880" cy="0"/>
          </a:xfrm>
          <a:prstGeom prst="line">
            <a:avLst/>
          </a:prstGeom>
          <a:ln w="19050">
            <a:solidFill>
              <a:srgbClr val="A9B4C8"/>
            </a:solidFill>
          </a:ln>
        </p:spPr>
      </p:cxnSp>
      <p:sp>
        <p:nvSpPr>
          <p:cNvPr id="80" name="Page 2.2"/>
          <p:cNvSpPr/>
          <p:nvPr/>
        </p:nvSpPr>
        <p:spPr>
          <a:xfrm>
            <a:off x="4434840" y="33832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الحضور والغياب</a:t>
            </a:r>
          </a:p>
        </p:txBody>
      </p:sp>
      <p:cxnSp>
        <p:nvCxnSpPr>
          <p:cNvPr id="81" name="Tick 2.3"/>
          <p:cNvCxnSpPr/>
          <p:nvPr/>
        </p:nvCxnSpPr>
        <p:spPr>
          <a:xfrm>
            <a:off x="7342632" y="3909060"/>
            <a:ext cx="182880" cy="0"/>
          </a:xfrm>
          <a:prstGeom prst="line">
            <a:avLst/>
          </a:prstGeom>
          <a:ln w="19050">
            <a:solidFill>
              <a:srgbClr val="A9B4C8"/>
            </a:solidFill>
          </a:ln>
        </p:spPr>
      </p:cxnSp>
      <p:sp>
        <p:nvSpPr>
          <p:cNvPr id="82" name="Page 2.3"/>
          <p:cNvSpPr/>
          <p:nvPr/>
        </p:nvSpPr>
        <p:spPr>
          <a:xfrm>
            <a:off x="4434840" y="37490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رفع المواد</a:t>
            </a:r>
          </a:p>
        </p:txBody>
      </p:sp>
      <p:cxnSp>
        <p:nvCxnSpPr>
          <p:cNvPr id="83" name="Tick 2.4"/>
          <p:cNvCxnSpPr/>
          <p:nvPr/>
        </p:nvCxnSpPr>
        <p:spPr>
          <a:xfrm>
            <a:off x="7342632" y="4274820"/>
            <a:ext cx="182880" cy="0"/>
          </a:xfrm>
          <a:prstGeom prst="line">
            <a:avLst/>
          </a:prstGeom>
          <a:ln w="19050">
            <a:solidFill>
              <a:srgbClr val="A9B4C8"/>
            </a:solidFill>
          </a:ln>
        </p:spPr>
      </p:cxnSp>
      <p:sp>
        <p:nvSpPr>
          <p:cNvPr id="84" name="Page 2.4"/>
          <p:cNvSpPr/>
          <p:nvPr/>
        </p:nvSpPr>
        <p:spPr>
          <a:xfrm>
            <a:off x="4434840" y="411480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العلامات</a:t>
            </a:r>
          </a:p>
        </p:txBody>
      </p:sp>
      <p:cxnSp>
        <p:nvCxnSpPr>
          <p:cNvPr id="85" name="Tick 2.5"/>
          <p:cNvCxnSpPr/>
          <p:nvPr/>
        </p:nvCxnSpPr>
        <p:spPr>
          <a:xfrm>
            <a:off x="7342632" y="4640580"/>
            <a:ext cx="182880" cy="0"/>
          </a:xfrm>
          <a:prstGeom prst="line">
            <a:avLst/>
          </a:prstGeom>
          <a:ln w="19050">
            <a:solidFill>
              <a:srgbClr val="A9B4C8"/>
            </a:solidFill>
          </a:ln>
        </p:spPr>
      </p:cxnSp>
      <p:sp>
        <p:nvSpPr>
          <p:cNvPr id="86" name="Page 2.5"/>
          <p:cNvSpPr/>
          <p:nvPr/>
        </p:nvSpPr>
        <p:spPr>
          <a:xfrm>
            <a:off x="4434840" y="448056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الملاحظات</a:t>
            </a:r>
          </a:p>
        </p:txBody>
      </p:sp>
      <p:sp>
        <p:nvSpPr>
          <p:cNvPr id="87" name="Portal 3"/>
          <p:cNvSpPr/>
          <p:nvPr/>
        </p:nvSpPr>
        <p:spPr>
          <a:xfrm>
            <a:off x="822960" y="2423160"/>
            <a:ext cx="3319272" cy="457200"/>
          </a:xfrm>
          <a:prstGeom prst="roundRect">
            <a:avLst>
              <a:gd name="adj" fmla="val 18000"/>
            </a:avLst>
          </a:prstGeom>
          <a:solidFill>
            <a:schemeClr val="accent1"/>
          </a:solidFill>
          <a:ln/>
        </p:spPr>
        <p:txBody>
          <a:bodyPr wrap="square" lIns="137160" tIns="0" rIns="13716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بوابة الطالب: البروفايل</a:t>
            </a:r>
          </a:p>
        </p:txBody>
      </p:sp>
      <p:cxnSp>
        <p:nvCxnSpPr>
          <p:cNvPr id="88" name="Trunk 3"/>
          <p:cNvCxnSpPr/>
          <p:nvPr/>
        </p:nvCxnSpPr>
        <p:spPr>
          <a:xfrm>
            <a:off x="3913632" y="2880360"/>
            <a:ext cx="0" cy="2125980"/>
          </a:xfrm>
          <a:prstGeom prst="line">
            <a:avLst/>
          </a:prstGeom>
          <a:ln w="19050">
            <a:solidFill>
              <a:srgbClr val="A9B4C8"/>
            </a:solidFill>
          </a:ln>
        </p:spPr>
      </p:cxnSp>
      <p:cxnSp>
        <p:nvCxnSpPr>
          <p:cNvPr id="89" name="Tick 3.1"/>
          <p:cNvCxnSpPr/>
          <p:nvPr/>
        </p:nvCxnSpPr>
        <p:spPr>
          <a:xfrm>
            <a:off x="3730752" y="3177540"/>
            <a:ext cx="182880" cy="0"/>
          </a:xfrm>
          <a:prstGeom prst="line">
            <a:avLst/>
          </a:prstGeom>
          <a:ln w="19050">
            <a:solidFill>
              <a:srgbClr val="A9B4C8"/>
            </a:solidFill>
          </a:ln>
        </p:spPr>
      </p:cxnSp>
      <p:sp>
        <p:nvSpPr>
          <p:cNvPr id="90" name="Page 3.1"/>
          <p:cNvSpPr/>
          <p:nvPr/>
        </p:nvSpPr>
        <p:spPr>
          <a:xfrm>
            <a:off x="822960" y="30175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تصفح الكورسات والتسجيل</a:t>
            </a:r>
          </a:p>
        </p:txBody>
      </p:sp>
      <p:cxnSp>
        <p:nvCxnSpPr>
          <p:cNvPr id="91" name="Tick 3.2"/>
          <p:cNvCxnSpPr/>
          <p:nvPr/>
        </p:nvCxnSpPr>
        <p:spPr>
          <a:xfrm>
            <a:off x="3730752" y="3543300"/>
            <a:ext cx="182880" cy="0"/>
          </a:xfrm>
          <a:prstGeom prst="line">
            <a:avLst/>
          </a:prstGeom>
          <a:ln w="19050">
            <a:solidFill>
              <a:srgbClr val="A9B4C8"/>
            </a:solidFill>
          </a:ln>
        </p:spPr>
      </p:cxnSp>
      <p:sp>
        <p:nvSpPr>
          <p:cNvPr id="92" name="Page 3.2"/>
          <p:cNvSpPr/>
          <p:nvPr/>
        </p:nvSpPr>
        <p:spPr>
          <a:xfrm>
            <a:off x="822960" y="338328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الجدول</a:t>
            </a:r>
          </a:p>
        </p:txBody>
      </p:sp>
      <p:cxnSp>
        <p:nvCxnSpPr>
          <p:cNvPr id="93" name="Tick 3.3"/>
          <p:cNvCxnSpPr/>
          <p:nvPr/>
        </p:nvCxnSpPr>
        <p:spPr>
          <a:xfrm>
            <a:off x="3730752" y="3909060"/>
            <a:ext cx="182880" cy="0"/>
          </a:xfrm>
          <a:prstGeom prst="line">
            <a:avLst/>
          </a:prstGeom>
          <a:ln w="19050">
            <a:solidFill>
              <a:srgbClr val="A9B4C8"/>
            </a:solidFill>
          </a:ln>
        </p:spPr>
      </p:cxnSp>
      <p:sp>
        <p:nvSpPr>
          <p:cNvPr id="94" name="Page 3.3"/>
          <p:cNvSpPr/>
          <p:nvPr/>
        </p:nvSpPr>
        <p:spPr>
          <a:xfrm>
            <a:off x="822960" y="374904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الحضور</a:t>
            </a:r>
          </a:p>
        </p:txBody>
      </p:sp>
      <p:cxnSp>
        <p:nvCxnSpPr>
          <p:cNvPr id="95" name="Tick 3.4"/>
          <p:cNvCxnSpPr/>
          <p:nvPr/>
        </p:nvCxnSpPr>
        <p:spPr>
          <a:xfrm>
            <a:off x="3730752" y="4274820"/>
            <a:ext cx="182880" cy="0"/>
          </a:xfrm>
          <a:prstGeom prst="line">
            <a:avLst/>
          </a:prstGeom>
          <a:ln w="19050">
            <a:solidFill>
              <a:srgbClr val="A9B4C8"/>
            </a:solidFill>
          </a:ln>
        </p:spPr>
      </p:cxnSp>
      <p:sp>
        <p:nvSpPr>
          <p:cNvPr id="96" name="Page 3.4"/>
          <p:cNvSpPr/>
          <p:nvPr/>
        </p:nvSpPr>
        <p:spPr>
          <a:xfrm>
            <a:off x="822960" y="411480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العلامات</a:t>
            </a:r>
          </a:p>
        </p:txBody>
      </p:sp>
      <p:cxnSp>
        <p:nvCxnSpPr>
          <p:cNvPr id="97" name="Tick 3.5"/>
          <p:cNvCxnSpPr/>
          <p:nvPr/>
        </p:nvCxnSpPr>
        <p:spPr>
          <a:xfrm>
            <a:off x="3730752" y="4640580"/>
            <a:ext cx="182880" cy="0"/>
          </a:xfrm>
          <a:prstGeom prst="line">
            <a:avLst/>
          </a:prstGeom>
          <a:ln w="19050">
            <a:solidFill>
              <a:srgbClr val="A9B4C8"/>
            </a:solidFill>
          </a:ln>
        </p:spPr>
      </p:cxnSp>
      <p:sp>
        <p:nvSpPr>
          <p:cNvPr id="98" name="Page 3.5"/>
          <p:cNvSpPr/>
          <p:nvPr/>
        </p:nvSpPr>
        <p:spPr>
          <a:xfrm>
            <a:off x="822960" y="448056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تحميل المواد</a:t>
            </a:r>
          </a:p>
        </p:txBody>
      </p:sp>
      <p:cxnSp>
        <p:nvCxnSpPr>
          <p:cNvPr id="99" name="Tick 3.6"/>
          <p:cNvCxnSpPr/>
          <p:nvPr/>
        </p:nvCxnSpPr>
        <p:spPr>
          <a:xfrm>
            <a:off x="3730752" y="5006340"/>
            <a:ext cx="182880" cy="0"/>
          </a:xfrm>
          <a:prstGeom prst="line">
            <a:avLst/>
          </a:prstGeom>
          <a:ln w="19050">
            <a:solidFill>
              <a:srgbClr val="A9B4C8"/>
            </a:solidFill>
          </a:ln>
        </p:spPr>
      </p:cxnSp>
      <p:sp>
        <p:nvSpPr>
          <p:cNvPr id="100" name="Page 3.6"/>
          <p:cNvSpPr/>
          <p:nvPr/>
        </p:nvSpPr>
        <p:spPr>
          <a:xfrm>
            <a:off x="822960" y="4846320"/>
            <a:ext cx="2907792" cy="320040"/>
          </a:xfrm>
          <a:prstGeom prst="roundRect">
            <a:avLst>
              <a:gd name="adj" fmla="val 18000"/>
            </a:avLst>
          </a:prstGeom>
          <a:solidFill>
            <a:schemeClr val="bg1"/>
          </a:solidFill>
          <a:ln w="9525">
            <a:solidFill>
              <a:srgbClr val="E3E8F0"/>
            </a:solidFill>
          </a:ln>
          <a:effectLst>
            <a:outerShdw sx="100000" sy="100000" kx="0" ky="0" algn="bl" rotWithShape="0" blurRad="101600" dist="25400" dir="5400000">
              <a:srgbClr val="1B2430">
                <a:alpha val="8000"/>
              </a:srgbClr>
            </a:outerShdw>
          </a:effectLst>
        </p:spPr>
        <p:txBody>
          <a:bodyPr wrap="square" lIns="137160" tIns="0" rIns="137160" bIns="0" rtlCol="0" anchor="ctr"/>
          <a:lstStyle/>
          <a:p>
            <a:pPr rtl="1" algn="r" indent="0" marL="0">
              <a:buNone/>
            </a:pPr>
            <a:r>
              <a:rPr lang="ar-SA" altLang="en-US" sz="1400" dirty="0">
                <a:solidFill>
                  <a:schemeClr val="tx1"/>
                </a:solidFill>
              </a:rPr>
              <a:t>السجل المالي</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التتبع</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مصفوفة تتبع المتطلبات (RTM): نموذج مصغّر</a:t>
            </a:r>
            <a:endParaRPr lang="ar-SA" sz="2600" dirty="0"/>
          </a:p>
        </p:txBody>
      </p:sp>
      <p:graphicFrame>
        <p:nvGraphicFramePr>
          <p:cNvPr id="60" name="RTM table"/>
          <p:cNvGraphicFramePr>
            <a:graphicFrameLocks noGrp="1"/>
          </p:cNvGraphicFramePr>
          <p:nvPr/>
        </p:nvGraphicFramePr>
        <p:xfrm>
          <a:off x="822960" y="1554480"/>
          <a:ext cx="10543032" cy="4167200"/>
        </p:xfrm>
        <a:graphic>
          <a:graphicData uri="http://schemas.openxmlformats.org/drawingml/2006/table">
            <a:tbl>
              <a:tblPr firstRow="1"/>
              <a:tblGrid>
                <a:gridCol w="1600000"/>
                <a:gridCol w="2300000"/>
                <a:gridCol w="3000000"/>
                <a:gridCol w="2550000"/>
                <a:gridCol w="1093032"/>
              </a:tblGrid>
              <a:tr h="457200">
                <a:tc>
                  <a:txBody>
                    <a:bodyPr/>
                    <a:lstStyle/>
                    <a:p>
                      <a:pPr rtl="1" algn="r" indent="0" marL="0">
                        <a:buNone/>
                      </a:pPr>
                      <a:r>
                        <a:rPr lang="ar-SA" altLang="en-US" sz="1500" b="1" dirty="0">
                          <a:solidFill>
                            <a:schemeClr val="bg1"/>
                          </a:solidFill>
                        </a:rPr>
                        <a:t>حالة الاختبار</a:t>
                      </a:r>
                    </a:p>
                  </a:txBody>
                  <a:tcPr marL="137160" marR="13716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1" algn="r" indent="0" marL="0">
                        <a:buNone/>
                      </a:pPr>
                      <a:r>
                        <a:rPr lang="ar-SA" altLang="en-US" sz="1500" b="1" dirty="0">
                          <a:solidFill>
                            <a:schemeClr val="bg1"/>
                          </a:solidFill>
                        </a:rPr>
                        <a:t>وثيقة التصميم</a:t>
                      </a:r>
                    </a:p>
                  </a:txBody>
                  <a:tcPr marL="137160" marR="13716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1" algn="r" indent="0" marL="0">
                        <a:buNone/>
                      </a:pPr>
                      <a:r>
                        <a:rPr lang="ar-SA" altLang="en-US" sz="1500" b="1" dirty="0">
                          <a:solidFill>
                            <a:schemeClr val="bg1"/>
                          </a:solidFill>
                        </a:rPr>
                        <a:t>الجداول المرتبطة</a:t>
                      </a:r>
                    </a:p>
                  </a:txBody>
                  <a:tcPr marL="137160" marR="13716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1" algn="r" indent="0" marL="0">
                        <a:buNone/>
                      </a:pPr>
                      <a:r>
                        <a:rPr lang="ar-SA" altLang="en-US" sz="1500" b="1" dirty="0">
                          <a:solidFill>
                            <a:schemeClr val="bg1"/>
                          </a:solidFill>
                        </a:rPr>
                        <a:t>حالة الاستخدام</a:t>
                      </a:r>
                    </a:p>
                  </a:txBody>
                  <a:tcPr marL="137160" marR="13716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c>
                  <a:txBody>
                    <a:bodyPr/>
                    <a:lstStyle/>
                    <a:p>
                      <a:pPr rtl="1" algn="r" indent="0" marL="0">
                        <a:buNone/>
                      </a:pPr>
                      <a:r>
                        <a:rPr lang="ar-SA" altLang="en-US" sz="1500" b="1" dirty="0">
                          <a:solidFill>
                            <a:schemeClr val="bg1"/>
                          </a:solidFill>
                        </a:rPr>
                        <a:t>UC</a:t>
                      </a:r>
                    </a:p>
                  </a:txBody>
                  <a:tcPr marL="137160" marR="137160" marT="91440" marB="91440" anchor="ctr">
                    <a:lnL w="9525">
                      <a:solidFill>
                        <a:srgbClr val="E3E8F0"/>
                      </a:solidFill>
                    </a:lnL>
                    <a:lnR w="9525">
                      <a:solidFill>
                        <a:srgbClr val="E3E8F0"/>
                      </a:solidFill>
                    </a:lnR>
                    <a:lnT w="9525">
                      <a:solidFill>
                        <a:srgbClr val="E3E8F0"/>
                      </a:solidFill>
                    </a:lnT>
                    <a:lnB w="9525">
                      <a:solidFill>
                        <a:srgbClr val="E3E8F0"/>
                      </a:solidFill>
                    </a:lnB>
                    <a:solidFill>
                      <a:schemeClr val="accent1"/>
                    </a:solidFill>
                  </a:tcPr>
                </a:tc>
              </a:tr>
              <a:tr h="530000">
                <a:tc>
                  <a:txBody>
                    <a:bodyPr/>
                    <a:lstStyle/>
                    <a:p>
                      <a:pPr rtl="1" algn="r" indent="0" marL="0">
                        <a:buNone/>
                      </a:pPr>
                      <a:r>
                        <a:rPr lang="ar-SA" altLang="en-US" sz="1400" dirty="0">
                          <a:solidFill>
                            <a:schemeClr val="tx1"/>
                          </a:solidFill>
                        </a:rPr>
                        <a:t>TC-01</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users, audit_logs</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تسجيل الدخول وإدارة الحساب</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UC-01</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530000">
                <a:tc>
                  <a:txBody>
                    <a:bodyPr/>
                    <a:lstStyle/>
                    <a:p>
                      <a:pPr rtl="1" algn="r" indent="0" marL="0">
                        <a:buNone/>
                      </a:pPr>
                      <a:r>
                        <a:rPr lang="ar-SA" altLang="en-US" sz="1400" dirty="0">
                          <a:solidFill>
                            <a:schemeClr val="tx1"/>
                          </a:solidFill>
                        </a:rPr>
                        <a:t>TC-05</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class_groups, group_schedules, enrollments</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إنشاء المجموعات الدراسية</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UC-05</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530000">
                <a:tc>
                  <a:txBody>
                    <a:bodyPr/>
                    <a:lstStyle/>
                    <a:p>
                      <a:pPr rtl="1" algn="r" indent="0" marL="0">
                        <a:buNone/>
                      </a:pPr>
                      <a:r>
                        <a:rPr lang="ar-SA" altLang="en-US" sz="1400" dirty="0">
                          <a:solidFill>
                            <a:schemeClr val="tx1"/>
                          </a:solidFill>
                        </a:rPr>
                        <a:t>TC-PAY-01</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 + مخطط نشاط</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enrollments, installments, payments</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إدارة الأقساط والمدفوعات</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UC-06</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530000">
                <a:tc>
                  <a:txBody>
                    <a:bodyPr/>
                    <a:lstStyle/>
                    <a:p>
                      <a:pPr rtl="1" algn="r" indent="0" marL="0">
                        <a:buNone/>
                      </a:pPr>
                      <a:r>
                        <a:rPr lang="ar-SA" altLang="en-US" sz="1400" dirty="0">
                          <a:solidFill>
                            <a:schemeClr val="tx1"/>
                          </a:solidFill>
                        </a:rPr>
                        <a:t>TC-07</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 + مخطط تسلسل</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pay_profiles, salaries</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إدارة رواتب المدرسين</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UC-07</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530000">
                <a:tc>
                  <a:txBody>
                    <a:bodyPr/>
                    <a:lstStyle/>
                    <a:p>
                      <a:pPr rtl="1" algn="r" indent="0" marL="0">
                        <a:buNone/>
                      </a:pPr>
                      <a:r>
                        <a:rPr lang="ar-SA" altLang="en-US" sz="1400" dirty="0">
                          <a:solidFill>
                            <a:schemeClr val="tx1"/>
                          </a:solidFill>
                        </a:rPr>
                        <a:t>TC-11</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lectures, attendance</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رصد الحضور والغياب</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UC-11</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530000">
                <a:tc>
                  <a:txBody>
                    <a:bodyPr/>
                    <a:lstStyle/>
                    <a:p>
                      <a:pPr rtl="1" algn="r" indent="0" marL="0">
                        <a:buNone/>
                      </a:pPr>
                      <a:r>
                        <a:rPr lang="ar-SA" altLang="en-US" sz="1400" dirty="0">
                          <a:solidFill>
                            <a:schemeClr val="tx1"/>
                          </a:solidFill>
                        </a:rPr>
                        <a:t>TC-12</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assessments, grades</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إدارة العلامات والتقييمات</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UC-12</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r h="530000">
                <a:tc>
                  <a:txBody>
                    <a:bodyPr/>
                    <a:lstStyle/>
                    <a:p>
                      <a:pPr rtl="1" algn="r" indent="0" marL="0">
                        <a:buNone/>
                      </a:pPr>
                      <a:r>
                        <a:rPr lang="ar-SA" altLang="en-US" sz="1400" dirty="0">
                          <a:solidFill>
                            <a:schemeClr val="tx1"/>
                          </a:solidFill>
                        </a:rPr>
                        <a:t>TC-20</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توصيف</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installments, payments</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dirty="0">
                          <a:solidFill>
                            <a:schemeClr val="tx1"/>
                          </a:solidFill>
                        </a:rPr>
                        <a:t>استعراض السجل المالي</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c>
                  <a:txBody>
                    <a:bodyPr/>
                    <a:lstStyle/>
                    <a:p>
                      <a:pPr rtl="1" algn="r" indent="0" marL="0">
                        <a:buNone/>
                      </a:pPr>
                      <a:r>
                        <a:rPr lang="ar-SA" altLang="en-US" sz="1400" b="1" dirty="0">
                          <a:solidFill>
                            <a:schemeClr val="tx1"/>
                          </a:solidFill>
                        </a:rPr>
                        <a:t>UC-20</a:t>
                      </a:r>
                    </a:p>
                  </a:txBody>
                  <a:tcPr marL="137160" marR="137160" marT="45720" marB="45720" anchor="ctr">
                    <a:lnL w="9525">
                      <a:solidFill>
                        <a:srgbClr val="E3E8F0"/>
                      </a:solidFill>
                    </a:lnL>
                    <a:lnR w="9525">
                      <a:solidFill>
                        <a:srgbClr val="E3E8F0"/>
                      </a:solidFill>
                    </a:lnR>
                    <a:lnT w="9525">
                      <a:solidFill>
                        <a:srgbClr val="E3E8F0"/>
                      </a:solidFill>
                    </a:lnT>
                    <a:lnB w="9525">
                      <a:solidFill>
                        <a:srgbClr val="E3E8F0"/>
                      </a:solidFill>
                    </a:lnB>
                    <a:solidFill>
                      <a:schemeClr val="bg1"/>
                    </a:solidFill>
                  </a:tcPr>
                </a:tc>
              </a:tr>
            </a:tbl>
          </a:graphicData>
        </a:graphic>
      </p:graphicFrame>
      <p:sp>
        <p:nvSpPr>
          <p:cNvPr id="61" name="RTM note"/>
          <p:cNvSpPr txBox="1"/>
          <p:nvPr/>
        </p:nvSpPr>
        <p:spPr>
          <a:xfrm>
            <a:off x="822960" y="6016752"/>
            <a:ext cx="10543032" cy="320040"/>
          </a:xfrm>
          <a:prstGeom prst="rect">
            <a:avLst/>
          </a:prstGeom>
          <a:noFill/>
          <a:ln/>
        </p:spPr>
        <p:txBody>
          <a:bodyPr wrap="square" lIns="0" tIns="0" rIns="0" bIns="0" rtlCol="0" anchor="ctr"/>
          <a:lstStyle/>
          <a:p>
            <a:pPr rtl="1" algn="r" indent="0" marL="0">
              <a:buNone/>
            </a:pPr>
            <a:r>
              <a:rPr lang="ar-SA" altLang="en-US" sz="1500" b="1" dirty="0">
                <a:solidFill>
                  <a:schemeClr val="accent1"/>
                </a:solidFill>
              </a:rPr>
              <a:t>7 من 20 حالة استخدام، وحالات الاختبار قيد الإعداد وتُنفَّذ مع كل مرحلة</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حالات الاختبار</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مثال حالة اختبار: تسجيل حضور أو غياب طالب (UC-11)</a:t>
            </a:r>
            <a:endParaRPr lang="ar-SA" sz="2600" dirty="0"/>
          </a:p>
        </p:txBody>
      </p:sp>
      <p:sp>
        <p:nvSpPr>
          <p:cNvPr id="71" name="Meta card 1"/>
          <p:cNvSpPr/>
          <p:nvPr/>
        </p:nvSpPr>
        <p:spPr>
          <a:xfrm>
            <a:off x="6241212" y="1554480"/>
            <a:ext cx="5124780" cy="822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72" name="Meta label 1"/>
          <p:cNvSpPr txBox="1"/>
          <p:nvPr/>
        </p:nvSpPr>
        <p:spPr>
          <a:xfrm>
            <a:off x="6469812" y="1627632"/>
            <a:ext cx="4667580" cy="274320"/>
          </a:xfrm>
          <a:prstGeom prst="rect">
            <a:avLst/>
          </a:prstGeom>
          <a:noFill/>
          <a:ln/>
        </p:spPr>
        <p:txBody>
          <a:bodyPr wrap="square" lIns="0" tIns="0" rIns="0" bIns="0" rtlCol="0" anchor="ctr"/>
          <a:lstStyle/>
          <a:p>
            <a:pPr rtl="1" algn="r" indent="0" marL="0">
              <a:buNone/>
            </a:pPr>
            <a:r>
              <a:rPr lang="ar-SA" altLang="en-US" sz="1400" b="1" dirty="0">
                <a:solidFill>
                  <a:schemeClr val="accent1"/>
                </a:solidFill>
                <a:latin typeface="+mj-lt" pitchFamily="34" charset="0"/>
                <a:ea typeface="+mj-lt" pitchFamily="34" charset="-122"/>
                <a:cs typeface="+mj-lt" pitchFamily="34" charset="-120"/>
              </a:rPr>
              <a:t>رقم الحالة</a:t>
            </a:r>
          </a:p>
        </p:txBody>
      </p:sp>
      <p:sp>
        <p:nvSpPr>
          <p:cNvPr id="73" name="Meta value 1"/>
          <p:cNvSpPr txBox="1"/>
          <p:nvPr/>
        </p:nvSpPr>
        <p:spPr>
          <a:xfrm>
            <a:off x="6469812" y="1920240"/>
            <a:ext cx="4667580" cy="411480"/>
          </a:xfrm>
          <a:prstGeom prst="rect">
            <a:avLst/>
          </a:prstGeom>
          <a:noFill/>
          <a:ln/>
        </p:spPr>
        <p:txBody>
          <a:bodyPr wrap="square" lIns="0" tIns="0" rIns="0" bIns="0" rtlCol="0" anchor="ctr"/>
          <a:lstStyle/>
          <a:p>
            <a:pPr rtl="1" algn="r" indent="0" marL="0">
              <a:buNone/>
            </a:pPr>
            <a:r>
              <a:rPr lang="ar-SA" altLang="en-US" sz="1600" dirty="0">
                <a:solidFill>
                  <a:schemeClr val="tx1"/>
                </a:solidFill>
              </a:rPr>
              <a:t>TC-11 (خاص بـ UC-11: رصد الحضور والغياب)</a:t>
            </a:r>
          </a:p>
        </p:txBody>
      </p:sp>
      <p:sp>
        <p:nvSpPr>
          <p:cNvPr id="74" name="Meta card 2"/>
          <p:cNvSpPr/>
          <p:nvPr/>
        </p:nvSpPr>
        <p:spPr>
          <a:xfrm>
            <a:off x="822960" y="1554480"/>
            <a:ext cx="5124780" cy="822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75" name="Meta label 2"/>
          <p:cNvSpPr txBox="1"/>
          <p:nvPr/>
        </p:nvSpPr>
        <p:spPr>
          <a:xfrm>
            <a:off x="1051560" y="1627632"/>
            <a:ext cx="4667580" cy="274320"/>
          </a:xfrm>
          <a:prstGeom prst="rect">
            <a:avLst/>
          </a:prstGeom>
          <a:noFill/>
          <a:ln/>
        </p:spPr>
        <p:txBody>
          <a:bodyPr wrap="square" lIns="0" tIns="0" rIns="0" bIns="0" rtlCol="0" anchor="ctr"/>
          <a:lstStyle/>
          <a:p>
            <a:pPr rtl="1" algn="r" indent="0" marL="0">
              <a:buNone/>
            </a:pPr>
            <a:r>
              <a:rPr lang="ar-SA" altLang="en-US" sz="1400" b="1" dirty="0">
                <a:solidFill>
                  <a:schemeClr val="accent1"/>
                </a:solidFill>
                <a:latin typeface="+mj-lt" pitchFamily="34" charset="0"/>
                <a:ea typeface="+mj-lt" pitchFamily="34" charset="-122"/>
                <a:cs typeface="+mj-lt" pitchFamily="34" charset="-120"/>
              </a:rPr>
              <a:t>الشرط المسبق</a:t>
            </a:r>
          </a:p>
        </p:txBody>
      </p:sp>
      <p:sp>
        <p:nvSpPr>
          <p:cNvPr id="76" name="Meta value 2"/>
          <p:cNvSpPr txBox="1"/>
          <p:nvPr/>
        </p:nvSpPr>
        <p:spPr>
          <a:xfrm>
            <a:off x="1051560" y="1920240"/>
            <a:ext cx="4667580" cy="411480"/>
          </a:xfrm>
          <a:prstGeom prst="rect">
            <a:avLst/>
          </a:prstGeom>
          <a:noFill/>
          <a:ln/>
        </p:spPr>
        <p:txBody>
          <a:bodyPr wrap="square" lIns="0" tIns="0" rIns="0" bIns="0" rtlCol="0" anchor="ctr"/>
          <a:lstStyle/>
          <a:p>
            <a:pPr rtl="1" algn="r" indent="0" marL="0">
              <a:buNone/>
            </a:pPr>
            <a:r>
              <a:rPr lang="ar-SA" altLang="en-US" sz="1600" dirty="0">
                <a:solidFill>
                  <a:schemeClr val="tx1"/>
                </a:solidFill>
              </a:rPr>
              <a:t>المدرّس مسجّل الدخول والطالب مسجّل في الدفعة</a:t>
            </a:r>
          </a:p>
        </p:txBody>
      </p:sp>
      <p:sp>
        <p:nvSpPr>
          <p:cNvPr id="77" name="Steps heading"/>
          <p:cNvSpPr txBox="1"/>
          <p:nvPr/>
        </p:nvSpPr>
        <p:spPr>
          <a:xfrm>
            <a:off x="822960" y="2514600"/>
            <a:ext cx="10543032" cy="365760"/>
          </a:xfrm>
          <a:prstGeom prst="rect">
            <a:avLst/>
          </a:prstGeom>
          <a:noFill/>
          <a:ln/>
        </p:spPr>
        <p:txBody>
          <a:bodyPr wrap="square" lIns="0" tIns="0" rIns="0" bIns="0" rtlCol="0" anchor="ctr"/>
          <a:lstStyle/>
          <a:p>
            <a:pPr rtl="1" algn="r" indent="0" marL="0">
              <a:buNone/>
            </a:pPr>
            <a:r>
              <a:rPr lang="ar-SA" altLang="en-US" sz="1800" b="1" dirty="0">
                <a:solidFill>
                  <a:schemeClr val="accent1"/>
                </a:solidFill>
                <a:latin typeface="+mj-lt" pitchFamily="34" charset="0"/>
                <a:ea typeface="+mj-lt" pitchFamily="34" charset="-122"/>
                <a:cs typeface="+mj-lt" pitchFamily="34" charset="-120"/>
              </a:rPr>
              <a:t>خطوات الاختبار</a:t>
            </a:r>
          </a:p>
        </p:txBody>
      </p:sp>
      <p:sp>
        <p:nvSpPr>
          <p:cNvPr id="78" name="Step card 1"/>
          <p:cNvSpPr/>
          <p:nvPr/>
        </p:nvSpPr>
        <p:spPr>
          <a:xfrm>
            <a:off x="8165592" y="2971800"/>
            <a:ext cx="3200400" cy="77724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79" name="Step number 1"/>
          <p:cNvSpPr/>
          <p:nvPr/>
        </p:nvSpPr>
        <p:spPr>
          <a:xfrm>
            <a:off x="10680192" y="3131820"/>
            <a:ext cx="457200" cy="457200"/>
          </a:xfrm>
          <a:prstGeom prst="ellipse">
            <a:avLst/>
          </a:prstGeom>
          <a:solidFill>
            <a:schemeClr val="accent1"/>
          </a:solidFill>
          <a:ln/>
        </p:spPr>
      </p:sp>
      <p:sp>
        <p:nvSpPr>
          <p:cNvPr id="80" name="Step number text 1"/>
          <p:cNvSpPr txBox="1"/>
          <p:nvPr/>
        </p:nvSpPr>
        <p:spPr>
          <a:xfrm>
            <a:off x="10680192" y="3131820"/>
            <a:ext cx="45720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1</a:t>
            </a:r>
          </a:p>
        </p:txBody>
      </p:sp>
      <p:sp>
        <p:nvSpPr>
          <p:cNvPr id="81" name="Step text 1"/>
          <p:cNvSpPr txBox="1"/>
          <p:nvPr/>
        </p:nvSpPr>
        <p:spPr>
          <a:xfrm>
            <a:off x="8348472" y="2971800"/>
            <a:ext cx="2194560" cy="777240"/>
          </a:xfrm>
          <a:prstGeom prst="rect">
            <a:avLst/>
          </a:prstGeom>
          <a:noFill/>
          <a:ln/>
        </p:spPr>
        <p:txBody>
          <a:bodyPr wrap="square" lIns="0" tIns="0" rIns="0" bIns="0" rtlCol="0" anchor="ctr"/>
          <a:lstStyle/>
          <a:p>
            <a:pPr rtl="1" algn="r" indent="0" marL="0">
              <a:buNone/>
            </a:pPr>
            <a:r>
              <a:rPr lang="ar-SA" altLang="en-US" sz="1600" dirty="0">
                <a:solidFill>
                  <a:schemeClr val="tx1"/>
                </a:solidFill>
              </a:rPr>
              <a:t>اختيار الدفعة والمحاضرة</a:t>
            </a:r>
          </a:p>
        </p:txBody>
      </p:sp>
      <p:sp>
        <p:nvSpPr>
          <p:cNvPr id="82" name="Step card 2"/>
          <p:cNvSpPr/>
          <p:nvPr/>
        </p:nvSpPr>
        <p:spPr>
          <a:xfrm>
            <a:off x="4494276" y="2971800"/>
            <a:ext cx="3200400" cy="77724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3" name="Step number 2"/>
          <p:cNvSpPr/>
          <p:nvPr/>
        </p:nvSpPr>
        <p:spPr>
          <a:xfrm>
            <a:off x="7008876" y="3131820"/>
            <a:ext cx="457200" cy="457200"/>
          </a:xfrm>
          <a:prstGeom prst="ellipse">
            <a:avLst/>
          </a:prstGeom>
          <a:solidFill>
            <a:schemeClr val="accent1"/>
          </a:solidFill>
          <a:ln/>
        </p:spPr>
      </p:sp>
      <p:sp>
        <p:nvSpPr>
          <p:cNvPr id="84" name="Step number text 2"/>
          <p:cNvSpPr txBox="1"/>
          <p:nvPr/>
        </p:nvSpPr>
        <p:spPr>
          <a:xfrm>
            <a:off x="7008876" y="3131820"/>
            <a:ext cx="45720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2</a:t>
            </a:r>
          </a:p>
        </p:txBody>
      </p:sp>
      <p:sp>
        <p:nvSpPr>
          <p:cNvPr id="85" name="Step text 2"/>
          <p:cNvSpPr txBox="1"/>
          <p:nvPr/>
        </p:nvSpPr>
        <p:spPr>
          <a:xfrm>
            <a:off x="4677156" y="2971800"/>
            <a:ext cx="2194560" cy="777240"/>
          </a:xfrm>
          <a:prstGeom prst="rect">
            <a:avLst/>
          </a:prstGeom>
          <a:noFill/>
          <a:ln/>
        </p:spPr>
        <p:txBody>
          <a:bodyPr wrap="square" lIns="0" tIns="0" rIns="0" bIns="0" rtlCol="0" anchor="ctr"/>
          <a:lstStyle/>
          <a:p>
            <a:pPr rtl="1" algn="r" indent="0" marL="0">
              <a:buNone/>
            </a:pPr>
            <a:r>
              <a:rPr lang="ar-SA" altLang="en-US" sz="1600" dirty="0">
                <a:solidFill>
                  <a:schemeClr val="tx1"/>
                </a:solidFill>
              </a:rPr>
              <a:t>تحديد حالة الطالب: حاضر أو غائب</a:t>
            </a:r>
          </a:p>
        </p:txBody>
      </p:sp>
      <p:sp>
        <p:nvSpPr>
          <p:cNvPr id="86" name="Step card 3"/>
          <p:cNvSpPr/>
          <p:nvPr/>
        </p:nvSpPr>
        <p:spPr>
          <a:xfrm>
            <a:off x="822960" y="2971800"/>
            <a:ext cx="3200400" cy="77724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87" name="Step number 3"/>
          <p:cNvSpPr/>
          <p:nvPr/>
        </p:nvSpPr>
        <p:spPr>
          <a:xfrm>
            <a:off x="3337560" y="3131820"/>
            <a:ext cx="457200" cy="457200"/>
          </a:xfrm>
          <a:prstGeom prst="ellipse">
            <a:avLst/>
          </a:prstGeom>
          <a:solidFill>
            <a:schemeClr val="accent1"/>
          </a:solidFill>
          <a:ln/>
        </p:spPr>
      </p:sp>
      <p:sp>
        <p:nvSpPr>
          <p:cNvPr id="88" name="Step number text 3"/>
          <p:cNvSpPr txBox="1"/>
          <p:nvPr/>
        </p:nvSpPr>
        <p:spPr>
          <a:xfrm>
            <a:off x="3337560" y="3131820"/>
            <a:ext cx="457200" cy="457200"/>
          </a:xfrm>
          <a:prstGeom prst="rect">
            <a:avLst/>
          </a:prstGeom>
          <a:noFill/>
          <a:ln/>
        </p:spPr>
        <p:txBody>
          <a:bodyPr wrap="square" lIns="0" tIns="0" rIns="0" bIns="0" rtlCol="0" anchor="ctr"/>
          <a:lstStyle/>
          <a:p>
            <a:pPr rtl="1" algn="ctr" indent="0" marL="0">
              <a:buNone/>
            </a:pPr>
            <a:r>
              <a:rPr lang="ar-SA" altLang="en-US" sz="1600" b="1" dirty="0">
                <a:solidFill>
                  <a:schemeClr val="bg1"/>
                </a:solidFill>
                <a:latin typeface="+mj-lt" pitchFamily="34" charset="0"/>
                <a:ea typeface="+mj-lt" pitchFamily="34" charset="-122"/>
                <a:cs typeface="+mj-lt" pitchFamily="34" charset="-120"/>
              </a:rPr>
              <a:t>3</a:t>
            </a:r>
          </a:p>
        </p:txBody>
      </p:sp>
      <p:sp>
        <p:nvSpPr>
          <p:cNvPr id="89" name="Step text 3"/>
          <p:cNvSpPr txBox="1"/>
          <p:nvPr/>
        </p:nvSpPr>
        <p:spPr>
          <a:xfrm>
            <a:off x="1005840" y="2971800"/>
            <a:ext cx="2194560" cy="777240"/>
          </a:xfrm>
          <a:prstGeom prst="rect">
            <a:avLst/>
          </a:prstGeom>
          <a:noFill/>
          <a:ln/>
        </p:spPr>
        <p:txBody>
          <a:bodyPr wrap="square" lIns="0" tIns="0" rIns="0" bIns="0" rtlCol="0" anchor="ctr"/>
          <a:lstStyle/>
          <a:p>
            <a:pPr rtl="1" algn="r" indent="0" marL="0">
              <a:buNone/>
            </a:pPr>
            <a:r>
              <a:rPr lang="ar-SA" altLang="en-US" sz="1600" dirty="0">
                <a:solidFill>
                  <a:schemeClr val="tx1"/>
                </a:solidFill>
              </a:rPr>
              <a:t>حفظ سجل الحضور</a:t>
            </a:r>
          </a:p>
        </p:txBody>
      </p:sp>
      <p:sp>
        <p:nvSpPr>
          <p:cNvPr id="90" name="Step arrow 1"/>
          <p:cNvSpPr/>
          <p:nvPr/>
        </p:nvSpPr>
        <p:spPr>
          <a:xfrm>
            <a:off x="7770114" y="3223260"/>
            <a:ext cx="320040" cy="274320"/>
          </a:xfrm>
          <a:prstGeom prst="leftArrow">
            <a:avLst/>
          </a:prstGeom>
          <a:solidFill>
            <a:srgbClr val="A9B4C8"/>
          </a:solidFill>
          <a:ln/>
        </p:spPr>
      </p:sp>
      <p:sp>
        <p:nvSpPr>
          <p:cNvPr id="91" name="Step arrow 2"/>
          <p:cNvSpPr/>
          <p:nvPr/>
        </p:nvSpPr>
        <p:spPr>
          <a:xfrm>
            <a:off x="4098798" y="3223260"/>
            <a:ext cx="320040" cy="274320"/>
          </a:xfrm>
          <a:prstGeom prst="leftArrow">
            <a:avLst/>
          </a:prstGeom>
          <a:solidFill>
            <a:srgbClr val="A9B4C8"/>
          </a:solidFill>
          <a:ln/>
        </p:spPr>
      </p:sp>
      <p:sp>
        <p:nvSpPr>
          <p:cNvPr id="92" name="Result card 1"/>
          <p:cNvSpPr/>
          <p:nvPr/>
        </p:nvSpPr>
        <p:spPr>
          <a:xfrm>
            <a:off x="6241212" y="4023360"/>
            <a:ext cx="5124780" cy="17830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3" name="Result header 1"/>
          <p:cNvSpPr/>
          <p:nvPr/>
        </p:nvSpPr>
        <p:spPr>
          <a:xfrm>
            <a:off x="6241212" y="4023360"/>
            <a:ext cx="5124780" cy="457200"/>
          </a:xfrm>
          <a:prstGeom prst="rect">
            <a:avLst/>
          </a:prstGeom>
          <a:solidFill>
            <a:schemeClr val="accent1"/>
          </a:solidFill>
          <a:ln/>
        </p:spPr>
      </p:sp>
      <p:sp>
        <p:nvSpPr>
          <p:cNvPr id="94" name="Result title 1"/>
          <p:cNvSpPr txBox="1"/>
          <p:nvPr/>
        </p:nvSpPr>
        <p:spPr>
          <a:xfrm>
            <a:off x="6424092" y="4023360"/>
            <a:ext cx="4759020"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النتيجة المتوقعة (Expected Result)</a:t>
            </a:r>
          </a:p>
        </p:txBody>
      </p:sp>
      <p:sp>
        <p:nvSpPr>
          <p:cNvPr id="95" name="Result text 1"/>
          <p:cNvSpPr txBox="1"/>
          <p:nvPr/>
        </p:nvSpPr>
        <p:spPr>
          <a:xfrm>
            <a:off x="6469812" y="4617720"/>
            <a:ext cx="4667580" cy="1051560"/>
          </a:xfrm>
          <a:prstGeom prst="rect">
            <a:avLst/>
          </a:prstGeom>
          <a:noFill/>
          <a:ln/>
        </p:spPr>
        <p:txBody>
          <a:bodyPr wrap="square" lIns="0" tIns="0" rIns="0" bIns="0" rtlCol="0" anchor="t"/>
          <a:lstStyle/>
          <a:p>
            <a:pPr rtl="1" algn="r" indent="0" marL="0">
              <a:buNone/>
            </a:pPr>
            <a:r>
              <a:rPr lang="ar-SA" altLang="en-US" sz="1600" dirty="0">
                <a:solidFill>
                  <a:schemeClr val="tx1"/>
                </a:solidFill>
              </a:rPr>
              <a:t>حفظ السجل بنجاح وتحديث نسبة حضور الطالب</a:t>
            </a:r>
          </a:p>
        </p:txBody>
      </p:sp>
      <p:sp>
        <p:nvSpPr>
          <p:cNvPr id="96" name="Result card 2"/>
          <p:cNvSpPr/>
          <p:nvPr/>
        </p:nvSpPr>
        <p:spPr>
          <a:xfrm>
            <a:off x="822960" y="4023360"/>
            <a:ext cx="5124780" cy="178308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7" name="Result header 2"/>
          <p:cNvSpPr/>
          <p:nvPr/>
        </p:nvSpPr>
        <p:spPr>
          <a:xfrm>
            <a:off x="822960" y="4023360"/>
            <a:ext cx="5124780" cy="457200"/>
          </a:xfrm>
          <a:prstGeom prst="rect">
            <a:avLst/>
          </a:prstGeom>
          <a:solidFill>
            <a:srgbClr val="16294A"/>
          </a:solidFill>
          <a:ln/>
        </p:spPr>
      </p:sp>
      <p:sp>
        <p:nvSpPr>
          <p:cNvPr id="98" name="Result title 2"/>
          <p:cNvSpPr txBox="1"/>
          <p:nvPr/>
        </p:nvSpPr>
        <p:spPr>
          <a:xfrm>
            <a:off x="1005840" y="4023360"/>
            <a:ext cx="4759020" cy="457200"/>
          </a:xfrm>
          <a:prstGeom prst="rect">
            <a:avLst/>
          </a:prstGeom>
          <a:noFill/>
          <a:ln/>
        </p:spPr>
        <p:txBody>
          <a:bodyPr wrap="square" lIns="0" tIns="0" rIns="0" bIns="0" rtlCol="0" anchor="ctr"/>
          <a:lstStyle/>
          <a:p>
            <a:pPr rtl="1" algn="r" indent="0" marL="0">
              <a:buNone/>
            </a:pPr>
            <a:r>
              <a:rPr lang="ar-SA" altLang="en-US" sz="1600" b="1" dirty="0">
                <a:solidFill>
                  <a:schemeClr val="bg1"/>
                </a:solidFill>
                <a:latin typeface="+mj-lt" pitchFamily="34" charset="0"/>
                <a:ea typeface="+mj-lt" pitchFamily="34" charset="-122"/>
                <a:cs typeface="+mj-lt" pitchFamily="34" charset="-120"/>
              </a:rPr>
              <a:t>النتيجة الفعلية (Actual Result)</a:t>
            </a:r>
          </a:p>
        </p:txBody>
      </p:sp>
      <p:sp>
        <p:nvSpPr>
          <p:cNvPr id="99" name="Result text 2"/>
          <p:cNvSpPr txBox="1"/>
          <p:nvPr/>
        </p:nvSpPr>
        <p:spPr>
          <a:xfrm>
            <a:off x="1051560" y="4617720"/>
            <a:ext cx="4667580" cy="1051560"/>
          </a:xfrm>
          <a:prstGeom prst="rect">
            <a:avLst/>
          </a:prstGeom>
          <a:noFill/>
          <a:ln/>
        </p:spPr>
        <p:txBody>
          <a:bodyPr wrap="square" lIns="0" tIns="0" rIns="0" bIns="0" rtlCol="0" anchor="t"/>
          <a:lstStyle/>
          <a:p>
            <a:pPr rtl="1" algn="r" indent="0" marL="0">
              <a:buNone/>
            </a:pPr>
            <a:r>
              <a:rPr lang="ar-SA" altLang="en-US" sz="1600" dirty="0">
                <a:solidFill>
                  <a:schemeClr val="tx1"/>
                </a:solidFill>
              </a:rPr>
              <a:t>تُسجَّل عند تنفيذ الاختبار ضمن مرحلة لوحة المدرّس (مخطط)</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الأصناف</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مخطط الأصناف عالي المستوى (Class Diagram)</a:t>
            </a:r>
            <a:endParaRPr lang="ar-SA" sz="2600" dirty="0"/>
          </a:p>
        </p:txBody>
      </p:sp>
      <p:cxnSp>
        <p:nvCxnSpPr>
          <p:cNvPr id="81" name="Gen trunk"/>
          <p:cNvCxnSpPr/>
          <p:nvPr/>
        </p:nvCxnSpPr>
        <p:spPr>
          <a:xfrm>
            <a:off x="6094476" y="2560320"/>
            <a:ext cx="0" cy="228600"/>
          </a:xfrm>
          <a:prstGeom prst="line">
            <a:avLst/>
          </a:prstGeom>
          <a:ln w="19050">
            <a:solidFill>
              <a:srgbClr val="8896B0"/>
            </a:solidFill>
          </a:ln>
        </p:spPr>
      </p:cxnSp>
      <p:cxnSp>
        <p:nvCxnSpPr>
          <p:cNvPr id="82" name="Gen bar"/>
          <p:cNvCxnSpPr/>
          <p:nvPr/>
        </p:nvCxnSpPr>
        <p:spPr>
          <a:xfrm>
            <a:off x="2423160" y="2674620"/>
            <a:ext cx="7342632" cy="0"/>
          </a:xfrm>
          <a:prstGeom prst="line">
            <a:avLst/>
          </a:prstGeom>
          <a:ln w="19050">
            <a:solidFill>
              <a:srgbClr val="8896B0"/>
            </a:solidFill>
          </a:ln>
        </p:spPr>
      </p:cxnSp>
      <p:cxnSp>
        <p:nvCxnSpPr>
          <p:cNvPr id="83" name="Gen drop"/>
          <p:cNvCxnSpPr/>
          <p:nvPr/>
        </p:nvCxnSpPr>
        <p:spPr>
          <a:xfrm>
            <a:off x="9765792" y="2674620"/>
            <a:ext cx="0" cy="114300"/>
          </a:xfrm>
          <a:prstGeom prst="line">
            <a:avLst/>
          </a:prstGeom>
          <a:ln w="19050">
            <a:solidFill>
              <a:srgbClr val="8896B0"/>
            </a:solidFill>
          </a:ln>
        </p:spPr>
      </p:cxnSp>
      <p:cxnSp>
        <p:nvCxnSpPr>
          <p:cNvPr id="84" name="Gen drop"/>
          <p:cNvCxnSpPr/>
          <p:nvPr/>
        </p:nvCxnSpPr>
        <p:spPr>
          <a:xfrm>
            <a:off x="2423160" y="2674620"/>
            <a:ext cx="0" cy="114300"/>
          </a:xfrm>
          <a:prstGeom prst="line">
            <a:avLst/>
          </a:prstGeom>
          <a:ln w="19050">
            <a:solidFill>
              <a:srgbClr val="8896B0"/>
            </a:solidFill>
          </a:ln>
        </p:spPr>
      </p:cxnSp>
      <p:sp>
        <p:nvSpPr>
          <p:cNvPr id="85" name="Inheritance arrow"/>
          <p:cNvSpPr/>
          <p:nvPr/>
        </p:nvSpPr>
        <p:spPr>
          <a:xfrm>
            <a:off x="5980176" y="2377440"/>
            <a:ext cx="228600" cy="182880"/>
          </a:xfrm>
          <a:prstGeom prst="triangle">
            <a:avLst/>
          </a:prstGeom>
          <a:solidFill>
            <a:schemeClr val="bg1"/>
          </a:solidFill>
          <a:ln w="19050">
            <a:solidFill>
              <a:srgbClr val="8896B0"/>
            </a:solidFill>
          </a:ln>
        </p:spPr>
      </p:sp>
      <p:cxnSp>
        <p:nvCxnSpPr>
          <p:cNvPr id="86" name="Teacher-Batch"/>
          <p:cNvCxnSpPr/>
          <p:nvPr/>
        </p:nvCxnSpPr>
        <p:spPr>
          <a:xfrm>
            <a:off x="6094476" y="3383280"/>
            <a:ext cx="0" cy="365760"/>
          </a:xfrm>
          <a:prstGeom prst="line">
            <a:avLst/>
          </a:prstGeom>
          <a:ln w="19050">
            <a:solidFill>
              <a:srgbClr val="8896B0"/>
            </a:solidFill>
          </a:ln>
        </p:spPr>
      </p:cxnSp>
      <p:cxnSp>
        <p:nvCxnSpPr>
          <p:cNvPr id="87" name="Student-Enrollment"/>
          <p:cNvCxnSpPr/>
          <p:nvPr/>
        </p:nvCxnSpPr>
        <p:spPr>
          <a:xfrm>
            <a:off x="2423160" y="3383280"/>
            <a:ext cx="0" cy="365760"/>
          </a:xfrm>
          <a:prstGeom prst="line">
            <a:avLst/>
          </a:prstGeom>
          <a:ln w="19050">
            <a:solidFill>
              <a:srgbClr val="8896B0"/>
            </a:solidFill>
          </a:ln>
        </p:spPr>
      </p:cxnSp>
      <p:cxnSp>
        <p:nvCxnSpPr>
          <p:cNvPr id="88" name="Course-Batch"/>
          <p:cNvCxnSpPr/>
          <p:nvPr/>
        </p:nvCxnSpPr>
        <p:spPr>
          <a:xfrm>
            <a:off x="7694676" y="4206240"/>
            <a:ext cx="470916" cy="0"/>
          </a:xfrm>
          <a:prstGeom prst="line">
            <a:avLst/>
          </a:prstGeom>
          <a:ln w="19050">
            <a:solidFill>
              <a:srgbClr val="8896B0"/>
            </a:solidFill>
          </a:ln>
        </p:spPr>
      </p:cxnSp>
      <p:cxnSp>
        <p:nvCxnSpPr>
          <p:cNvPr id="89" name="Batch-Enrollment"/>
          <p:cNvCxnSpPr/>
          <p:nvPr/>
        </p:nvCxnSpPr>
        <p:spPr>
          <a:xfrm>
            <a:off x="4023360" y="4206240"/>
            <a:ext cx="470916" cy="0"/>
          </a:xfrm>
          <a:prstGeom prst="line">
            <a:avLst/>
          </a:prstGeom>
          <a:ln w="19050">
            <a:solidFill>
              <a:srgbClr val="8896B0"/>
            </a:solidFill>
          </a:ln>
        </p:spPr>
      </p:cxnSp>
      <p:cxnSp>
        <p:nvCxnSpPr>
          <p:cNvPr id="90" name="Batch-Classroom"/>
          <p:cNvCxnSpPr/>
          <p:nvPr/>
        </p:nvCxnSpPr>
        <p:spPr>
          <a:xfrm>
            <a:off x="6094476" y="4663440"/>
            <a:ext cx="0" cy="365760"/>
          </a:xfrm>
          <a:prstGeom prst="line">
            <a:avLst/>
          </a:prstGeom>
          <a:ln w="19050">
            <a:solidFill>
              <a:srgbClr val="8896B0"/>
            </a:solidFill>
          </a:ln>
        </p:spPr>
      </p:cxnSp>
      <p:cxnSp>
        <p:nvCxnSpPr>
          <p:cNvPr id="91" name="Enrollment-Payment"/>
          <p:cNvCxnSpPr/>
          <p:nvPr/>
        </p:nvCxnSpPr>
        <p:spPr>
          <a:xfrm>
            <a:off x="2423160" y="4663440"/>
            <a:ext cx="0" cy="365760"/>
          </a:xfrm>
          <a:prstGeom prst="line">
            <a:avLst/>
          </a:prstGeom>
          <a:ln w="19050">
            <a:solidFill>
              <a:srgbClr val="8896B0"/>
            </a:solidFill>
          </a:ln>
        </p:spPr>
      </p:cxnSp>
      <p:cxnSp>
        <p:nvCxnSpPr>
          <p:cNvPr id="92" name="Batch-Attendance a"/>
          <p:cNvCxnSpPr/>
          <p:nvPr/>
        </p:nvCxnSpPr>
        <p:spPr>
          <a:xfrm>
            <a:off x="7194476" y="4663440"/>
            <a:ext cx="0" cy="182880"/>
          </a:xfrm>
          <a:prstGeom prst="line">
            <a:avLst/>
          </a:prstGeom>
          <a:ln w="19050">
            <a:solidFill>
              <a:srgbClr val="8896B0"/>
            </a:solidFill>
          </a:ln>
        </p:spPr>
      </p:cxnSp>
      <p:cxnSp>
        <p:nvCxnSpPr>
          <p:cNvPr id="93" name="Batch-Attendance b"/>
          <p:cNvCxnSpPr/>
          <p:nvPr/>
        </p:nvCxnSpPr>
        <p:spPr>
          <a:xfrm>
            <a:off x="7194476" y="4846320"/>
            <a:ext cx="2571316" cy="0"/>
          </a:xfrm>
          <a:prstGeom prst="line">
            <a:avLst/>
          </a:prstGeom>
          <a:ln w="19050">
            <a:solidFill>
              <a:srgbClr val="8896B0"/>
            </a:solidFill>
          </a:ln>
        </p:spPr>
      </p:cxnSp>
      <p:cxnSp>
        <p:nvCxnSpPr>
          <p:cNvPr id="94" name="Batch-Attendance c"/>
          <p:cNvCxnSpPr/>
          <p:nvPr/>
        </p:nvCxnSpPr>
        <p:spPr>
          <a:xfrm>
            <a:off x="9765792" y="4846320"/>
            <a:ext cx="0" cy="182880"/>
          </a:xfrm>
          <a:prstGeom prst="line">
            <a:avLst/>
          </a:prstGeom>
          <a:ln w="19050">
            <a:solidFill>
              <a:srgbClr val="8896B0"/>
            </a:solidFill>
          </a:ln>
        </p:spPr>
      </p:cxnSp>
      <p:sp>
        <p:nvSpPr>
          <p:cNvPr id="109" name="User body"/>
          <p:cNvSpPr/>
          <p:nvPr/>
        </p:nvSpPr>
        <p:spPr>
          <a:xfrm>
            <a:off x="4494276" y="146304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10" name="User header"/>
          <p:cNvSpPr/>
          <p:nvPr/>
        </p:nvSpPr>
        <p:spPr>
          <a:xfrm>
            <a:off x="4494276" y="1463040"/>
            <a:ext cx="3200400" cy="292608"/>
          </a:xfrm>
          <a:prstGeom prst="rect">
            <a:avLst/>
          </a:prstGeom>
          <a:solidFill>
            <a:srgbClr val="16294A"/>
          </a:solidFill>
          <a:ln w="12700">
            <a:solidFill>
              <a:srgbClr val="8896B0"/>
            </a:solidFill>
          </a:ln>
        </p:spPr>
      </p:sp>
      <p:sp>
        <p:nvSpPr>
          <p:cNvPr id="111" name="User title"/>
          <p:cNvSpPr txBox="1"/>
          <p:nvPr/>
        </p:nvSpPr>
        <p:spPr>
          <a:xfrm>
            <a:off x="4494276" y="146304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User</a:t>
            </a:r>
          </a:p>
        </p:txBody>
      </p:sp>
      <p:sp>
        <p:nvSpPr>
          <p:cNvPr id="112" name="User members"/>
          <p:cNvSpPr txBox="1"/>
          <p:nvPr/>
        </p:nvSpPr>
        <p:spPr>
          <a:xfrm>
            <a:off x="4631436" y="180136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id, fullName, email, role, status</a:t>
            </a:r>
          </a:p>
          <a:p>
            <a:pPr rtl="0" algn="l" indent="0" marL="0">
              <a:spcBef>
                <a:spcPts val="800"/>
              </a:spcBef>
              <a:buNone/>
            </a:pPr>
            <a:r>
              <a:rPr lang="en-US" altLang="ar-SA" sz="1200" dirty="0">
                <a:solidFill>
                  <a:schemeClr val="tx1"/>
                </a:solidFill>
              </a:rPr>
              <a:t>login(), updateProfile()</a:t>
            </a:r>
          </a:p>
        </p:txBody>
      </p:sp>
      <p:cxnSp>
        <p:nvCxnSpPr>
          <p:cNvPr id="113" name="User divider"/>
          <p:cNvCxnSpPr/>
          <p:nvPr/>
        </p:nvCxnSpPr>
        <p:spPr>
          <a:xfrm>
            <a:off x="4494276" y="2023648"/>
            <a:ext cx="3200400" cy="0"/>
          </a:xfrm>
          <a:prstGeom prst="line">
            <a:avLst/>
          </a:prstGeom>
          <a:ln w="19050">
            <a:solidFill>
              <a:srgbClr val="8896B0"/>
            </a:solidFill>
          </a:ln>
        </p:spPr>
      </p:cxnSp>
      <p:sp>
        <p:nvSpPr>
          <p:cNvPr id="114" name="Admin body"/>
          <p:cNvSpPr/>
          <p:nvPr/>
        </p:nvSpPr>
        <p:spPr>
          <a:xfrm>
            <a:off x="8165592" y="2788920"/>
            <a:ext cx="3200400" cy="59436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15" name="Admin header"/>
          <p:cNvSpPr/>
          <p:nvPr/>
        </p:nvSpPr>
        <p:spPr>
          <a:xfrm>
            <a:off x="8165592" y="2788920"/>
            <a:ext cx="3200400" cy="292608"/>
          </a:xfrm>
          <a:prstGeom prst="rect">
            <a:avLst/>
          </a:prstGeom>
          <a:solidFill>
            <a:srgbClr val="16294A"/>
          </a:solidFill>
          <a:ln w="12700">
            <a:solidFill>
              <a:srgbClr val="8896B0"/>
            </a:solidFill>
          </a:ln>
        </p:spPr>
      </p:sp>
      <p:sp>
        <p:nvSpPr>
          <p:cNvPr id="116" name="Admin title"/>
          <p:cNvSpPr txBox="1"/>
          <p:nvPr/>
        </p:nvSpPr>
        <p:spPr>
          <a:xfrm>
            <a:off x="8165592" y="278892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Admin</a:t>
            </a:r>
          </a:p>
        </p:txBody>
      </p:sp>
      <p:sp>
        <p:nvSpPr>
          <p:cNvPr id="117" name="Admin members"/>
          <p:cNvSpPr txBox="1"/>
          <p:nvPr/>
        </p:nvSpPr>
        <p:spPr>
          <a:xfrm>
            <a:off x="8302752" y="3127248"/>
            <a:ext cx="2926080" cy="210312"/>
          </a:xfrm>
          <a:prstGeom prst="rect">
            <a:avLst/>
          </a:prstGeom>
          <a:noFill/>
          <a:ln/>
        </p:spPr>
        <p:txBody>
          <a:bodyPr wrap="square" lIns="0" tIns="0" rIns="0" bIns="0" rtlCol="0" anchor="t"/>
          <a:lstStyle/>
          <a:p>
            <a:pPr rtl="0" algn="l" indent="0" marL="0">
              <a:buNone/>
            </a:pPr>
            <a:r>
              <a:rPr lang="en-US" altLang="ar-SA" sz="1200" dirty="0">
                <a:solidFill>
                  <a:schemeClr val="tx1"/>
                </a:solidFill>
              </a:rPr>
              <a:t>manageUsers(), viewReports()</a:t>
            </a:r>
          </a:p>
        </p:txBody>
      </p:sp>
      <p:sp>
        <p:nvSpPr>
          <p:cNvPr id="118" name="Teacher body"/>
          <p:cNvSpPr/>
          <p:nvPr/>
        </p:nvSpPr>
        <p:spPr>
          <a:xfrm>
            <a:off x="4494276" y="2788920"/>
            <a:ext cx="3200400" cy="59436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19" name="Teacher header"/>
          <p:cNvSpPr/>
          <p:nvPr/>
        </p:nvSpPr>
        <p:spPr>
          <a:xfrm>
            <a:off x="4494276" y="2788920"/>
            <a:ext cx="3200400" cy="292608"/>
          </a:xfrm>
          <a:prstGeom prst="rect">
            <a:avLst/>
          </a:prstGeom>
          <a:solidFill>
            <a:srgbClr val="16294A"/>
          </a:solidFill>
          <a:ln w="12700">
            <a:solidFill>
              <a:srgbClr val="8896B0"/>
            </a:solidFill>
          </a:ln>
        </p:spPr>
      </p:sp>
      <p:sp>
        <p:nvSpPr>
          <p:cNvPr id="120" name="Teacher title"/>
          <p:cNvSpPr txBox="1"/>
          <p:nvPr/>
        </p:nvSpPr>
        <p:spPr>
          <a:xfrm>
            <a:off x="4494276" y="278892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Teacher</a:t>
            </a:r>
          </a:p>
        </p:txBody>
      </p:sp>
      <p:sp>
        <p:nvSpPr>
          <p:cNvPr id="121" name="Teacher members"/>
          <p:cNvSpPr txBox="1"/>
          <p:nvPr/>
        </p:nvSpPr>
        <p:spPr>
          <a:xfrm>
            <a:off x="4631436" y="3127248"/>
            <a:ext cx="2926080" cy="210312"/>
          </a:xfrm>
          <a:prstGeom prst="rect">
            <a:avLst/>
          </a:prstGeom>
          <a:noFill/>
          <a:ln/>
        </p:spPr>
        <p:txBody>
          <a:bodyPr wrap="square" lIns="0" tIns="0" rIns="0" bIns="0" rtlCol="0" anchor="t"/>
          <a:lstStyle/>
          <a:p>
            <a:pPr rtl="0" algn="l" indent="0" marL="0">
              <a:buNone/>
            </a:pPr>
            <a:r>
              <a:rPr lang="en-US" altLang="ar-SA" sz="1200" dirty="0">
                <a:solidFill>
                  <a:schemeClr val="tx1"/>
                </a:solidFill>
              </a:rPr>
              <a:t>recordAttendance(), enterGrades()</a:t>
            </a:r>
          </a:p>
        </p:txBody>
      </p:sp>
      <p:sp>
        <p:nvSpPr>
          <p:cNvPr id="122" name="Student body"/>
          <p:cNvSpPr/>
          <p:nvPr/>
        </p:nvSpPr>
        <p:spPr>
          <a:xfrm>
            <a:off x="822960" y="2788920"/>
            <a:ext cx="3200400" cy="59436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23" name="Student header"/>
          <p:cNvSpPr/>
          <p:nvPr/>
        </p:nvSpPr>
        <p:spPr>
          <a:xfrm>
            <a:off x="822960" y="2788920"/>
            <a:ext cx="3200400" cy="292608"/>
          </a:xfrm>
          <a:prstGeom prst="rect">
            <a:avLst/>
          </a:prstGeom>
          <a:solidFill>
            <a:srgbClr val="16294A"/>
          </a:solidFill>
          <a:ln w="12700">
            <a:solidFill>
              <a:srgbClr val="8896B0"/>
            </a:solidFill>
          </a:ln>
        </p:spPr>
      </p:sp>
      <p:sp>
        <p:nvSpPr>
          <p:cNvPr id="124" name="Student title"/>
          <p:cNvSpPr txBox="1"/>
          <p:nvPr/>
        </p:nvSpPr>
        <p:spPr>
          <a:xfrm>
            <a:off x="822960" y="278892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Student</a:t>
            </a:r>
          </a:p>
        </p:txBody>
      </p:sp>
      <p:sp>
        <p:nvSpPr>
          <p:cNvPr id="125" name="Student members"/>
          <p:cNvSpPr txBox="1"/>
          <p:nvPr/>
        </p:nvSpPr>
        <p:spPr>
          <a:xfrm>
            <a:off x="960120" y="3127248"/>
            <a:ext cx="2926080" cy="210312"/>
          </a:xfrm>
          <a:prstGeom prst="rect">
            <a:avLst/>
          </a:prstGeom>
          <a:noFill/>
          <a:ln/>
        </p:spPr>
        <p:txBody>
          <a:bodyPr wrap="square" lIns="0" tIns="0" rIns="0" bIns="0" rtlCol="0" anchor="t"/>
          <a:lstStyle/>
          <a:p>
            <a:pPr rtl="0" algn="l" indent="0" marL="0">
              <a:buNone/>
            </a:pPr>
            <a:r>
              <a:rPr lang="en-US" altLang="ar-SA" sz="1200" dirty="0">
                <a:solidFill>
                  <a:schemeClr val="tx1"/>
                </a:solidFill>
              </a:rPr>
              <a:t>enroll(), viewSchedule()</a:t>
            </a:r>
          </a:p>
        </p:txBody>
      </p:sp>
      <p:sp>
        <p:nvSpPr>
          <p:cNvPr id="126" name="Course body"/>
          <p:cNvSpPr/>
          <p:nvPr/>
        </p:nvSpPr>
        <p:spPr>
          <a:xfrm>
            <a:off x="8165592" y="374904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27" name="Course header"/>
          <p:cNvSpPr/>
          <p:nvPr/>
        </p:nvSpPr>
        <p:spPr>
          <a:xfrm>
            <a:off x="8165592" y="3749040"/>
            <a:ext cx="3200400" cy="292608"/>
          </a:xfrm>
          <a:prstGeom prst="rect">
            <a:avLst/>
          </a:prstGeom>
          <a:solidFill>
            <a:schemeClr val="accent1"/>
          </a:solidFill>
          <a:ln w="12700">
            <a:solidFill>
              <a:srgbClr val="8896B0"/>
            </a:solidFill>
          </a:ln>
        </p:spPr>
      </p:sp>
      <p:sp>
        <p:nvSpPr>
          <p:cNvPr id="128" name="Course title"/>
          <p:cNvSpPr txBox="1"/>
          <p:nvPr/>
        </p:nvSpPr>
        <p:spPr>
          <a:xfrm>
            <a:off x="8165592" y="374904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Course</a:t>
            </a:r>
          </a:p>
        </p:txBody>
      </p:sp>
      <p:sp>
        <p:nvSpPr>
          <p:cNvPr id="129" name="Course members"/>
          <p:cNvSpPr txBox="1"/>
          <p:nvPr/>
        </p:nvSpPr>
        <p:spPr>
          <a:xfrm>
            <a:off x="8302752" y="408736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name, price, totalHours, status</a:t>
            </a:r>
          </a:p>
          <a:p>
            <a:pPr rtl="0" algn="l" indent="0" marL="0">
              <a:spcBef>
                <a:spcPts val="800"/>
              </a:spcBef>
              <a:buNone/>
            </a:pPr>
            <a:r>
              <a:rPr lang="en-US" altLang="ar-SA" sz="1200" dirty="0">
                <a:solidFill>
                  <a:schemeClr val="tx1"/>
                </a:solidFill>
              </a:rPr>
              <a:t>create(), update(), archive()</a:t>
            </a:r>
          </a:p>
        </p:txBody>
      </p:sp>
      <p:cxnSp>
        <p:nvCxnSpPr>
          <p:cNvPr id="130" name="Course divider"/>
          <p:cNvCxnSpPr/>
          <p:nvPr/>
        </p:nvCxnSpPr>
        <p:spPr>
          <a:xfrm>
            <a:off x="8165592" y="4309648"/>
            <a:ext cx="3200400" cy="0"/>
          </a:xfrm>
          <a:prstGeom prst="line">
            <a:avLst/>
          </a:prstGeom>
          <a:ln w="19050">
            <a:solidFill>
              <a:srgbClr val="8896B0"/>
            </a:solidFill>
          </a:ln>
        </p:spPr>
      </p:cxnSp>
      <p:sp>
        <p:nvSpPr>
          <p:cNvPr id="131" name="Batch body"/>
          <p:cNvSpPr/>
          <p:nvPr/>
        </p:nvSpPr>
        <p:spPr>
          <a:xfrm>
            <a:off x="4494276" y="374904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32" name="Batch header"/>
          <p:cNvSpPr/>
          <p:nvPr/>
        </p:nvSpPr>
        <p:spPr>
          <a:xfrm>
            <a:off x="4494276" y="3749040"/>
            <a:ext cx="3200400" cy="292608"/>
          </a:xfrm>
          <a:prstGeom prst="rect">
            <a:avLst/>
          </a:prstGeom>
          <a:solidFill>
            <a:schemeClr val="accent1"/>
          </a:solidFill>
          <a:ln w="12700">
            <a:solidFill>
              <a:srgbClr val="8896B0"/>
            </a:solidFill>
          </a:ln>
        </p:spPr>
      </p:sp>
      <p:sp>
        <p:nvSpPr>
          <p:cNvPr id="133" name="Batch title"/>
          <p:cNvSpPr txBox="1"/>
          <p:nvPr/>
        </p:nvSpPr>
        <p:spPr>
          <a:xfrm>
            <a:off x="4494276" y="374904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Batch</a:t>
            </a:r>
          </a:p>
        </p:txBody>
      </p:sp>
      <p:sp>
        <p:nvSpPr>
          <p:cNvPr id="134" name="Batch members"/>
          <p:cNvSpPr txBox="1"/>
          <p:nvPr/>
        </p:nvSpPr>
        <p:spPr>
          <a:xfrm>
            <a:off x="4631436" y="408736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code, maxCapacity, startDate, status</a:t>
            </a:r>
          </a:p>
          <a:p>
            <a:pPr rtl="0" algn="l" indent="0" marL="0">
              <a:spcBef>
                <a:spcPts val="800"/>
              </a:spcBef>
              <a:buNone/>
            </a:pPr>
            <a:r>
              <a:rPr lang="en-US" altLang="ar-SA" sz="1200" dirty="0">
                <a:solidFill>
                  <a:schemeClr val="tx1"/>
                </a:solidFill>
              </a:rPr>
              <a:t>addStudent(), checkConflict()</a:t>
            </a:r>
          </a:p>
        </p:txBody>
      </p:sp>
      <p:cxnSp>
        <p:nvCxnSpPr>
          <p:cNvPr id="135" name="Batch divider"/>
          <p:cNvCxnSpPr/>
          <p:nvPr/>
        </p:nvCxnSpPr>
        <p:spPr>
          <a:xfrm>
            <a:off x="4494276" y="4309648"/>
            <a:ext cx="3200400" cy="0"/>
          </a:xfrm>
          <a:prstGeom prst="line">
            <a:avLst/>
          </a:prstGeom>
          <a:ln w="19050">
            <a:solidFill>
              <a:srgbClr val="8896B0"/>
            </a:solidFill>
          </a:ln>
        </p:spPr>
      </p:cxnSp>
      <p:sp>
        <p:nvSpPr>
          <p:cNvPr id="136" name="Enrollment body"/>
          <p:cNvSpPr/>
          <p:nvPr/>
        </p:nvSpPr>
        <p:spPr>
          <a:xfrm>
            <a:off x="822960" y="374904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37" name="Enrollment header"/>
          <p:cNvSpPr/>
          <p:nvPr/>
        </p:nvSpPr>
        <p:spPr>
          <a:xfrm>
            <a:off x="822960" y="3749040"/>
            <a:ext cx="3200400" cy="292608"/>
          </a:xfrm>
          <a:prstGeom prst="rect">
            <a:avLst/>
          </a:prstGeom>
          <a:solidFill>
            <a:schemeClr val="accent1"/>
          </a:solidFill>
          <a:ln w="12700">
            <a:solidFill>
              <a:srgbClr val="8896B0"/>
            </a:solidFill>
          </a:ln>
        </p:spPr>
      </p:sp>
      <p:sp>
        <p:nvSpPr>
          <p:cNvPr id="138" name="Enrollment title"/>
          <p:cNvSpPr txBox="1"/>
          <p:nvPr/>
        </p:nvSpPr>
        <p:spPr>
          <a:xfrm>
            <a:off x="822960" y="374904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Enrollment</a:t>
            </a:r>
          </a:p>
        </p:txBody>
      </p:sp>
      <p:sp>
        <p:nvSpPr>
          <p:cNvPr id="139" name="Enrollment members"/>
          <p:cNvSpPr txBox="1"/>
          <p:nvPr/>
        </p:nvSpPr>
        <p:spPr>
          <a:xfrm>
            <a:off x="960120" y="408736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status, totalDue, registeredAt</a:t>
            </a:r>
          </a:p>
          <a:p>
            <a:pPr rtl="0" algn="l" indent="0" marL="0">
              <a:spcBef>
                <a:spcPts val="800"/>
              </a:spcBef>
              <a:buNone/>
            </a:pPr>
            <a:r>
              <a:rPr lang="en-US" altLang="ar-SA" sz="1200" dirty="0">
                <a:solidFill>
                  <a:schemeClr val="tx1"/>
                </a:solidFill>
              </a:rPr>
              <a:t>confirm(), cancel(), assignBatch()</a:t>
            </a:r>
          </a:p>
        </p:txBody>
      </p:sp>
      <p:cxnSp>
        <p:nvCxnSpPr>
          <p:cNvPr id="140" name="Enrollment divider"/>
          <p:cNvCxnSpPr/>
          <p:nvPr/>
        </p:nvCxnSpPr>
        <p:spPr>
          <a:xfrm>
            <a:off x="822960" y="4309648"/>
            <a:ext cx="3200400" cy="0"/>
          </a:xfrm>
          <a:prstGeom prst="line">
            <a:avLst/>
          </a:prstGeom>
          <a:ln w="19050">
            <a:solidFill>
              <a:srgbClr val="8896B0"/>
            </a:solidFill>
          </a:ln>
        </p:spPr>
      </p:cxnSp>
      <p:sp>
        <p:nvSpPr>
          <p:cNvPr id="141" name="Attendance body"/>
          <p:cNvSpPr/>
          <p:nvPr/>
        </p:nvSpPr>
        <p:spPr>
          <a:xfrm>
            <a:off x="8165592" y="502920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42" name="Attendance header"/>
          <p:cNvSpPr/>
          <p:nvPr/>
        </p:nvSpPr>
        <p:spPr>
          <a:xfrm>
            <a:off x="8165592" y="5029200"/>
            <a:ext cx="3200400" cy="292608"/>
          </a:xfrm>
          <a:prstGeom prst="rect">
            <a:avLst/>
          </a:prstGeom>
          <a:solidFill>
            <a:schemeClr val="accent1"/>
          </a:solidFill>
          <a:ln w="12700">
            <a:solidFill>
              <a:srgbClr val="8896B0"/>
            </a:solidFill>
          </a:ln>
        </p:spPr>
      </p:sp>
      <p:sp>
        <p:nvSpPr>
          <p:cNvPr id="143" name="Attendance title"/>
          <p:cNvSpPr txBox="1"/>
          <p:nvPr/>
        </p:nvSpPr>
        <p:spPr>
          <a:xfrm>
            <a:off x="8165592" y="502920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Attendance</a:t>
            </a:r>
          </a:p>
        </p:txBody>
      </p:sp>
      <p:sp>
        <p:nvSpPr>
          <p:cNvPr id="144" name="Attendance members"/>
          <p:cNvSpPr txBox="1"/>
          <p:nvPr/>
        </p:nvSpPr>
        <p:spPr>
          <a:xfrm>
            <a:off x="8302752" y="536752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status, lectureDate</a:t>
            </a:r>
          </a:p>
          <a:p>
            <a:pPr rtl="0" algn="l" indent="0" marL="0">
              <a:spcBef>
                <a:spcPts val="800"/>
              </a:spcBef>
              <a:buNone/>
            </a:pPr>
            <a:r>
              <a:rPr lang="en-US" altLang="ar-SA" sz="1200" dirty="0">
                <a:solidFill>
                  <a:schemeClr val="tx1"/>
                </a:solidFill>
              </a:rPr>
              <a:t>mark(), calcRate()</a:t>
            </a:r>
          </a:p>
        </p:txBody>
      </p:sp>
      <p:cxnSp>
        <p:nvCxnSpPr>
          <p:cNvPr id="145" name="Attendance divider"/>
          <p:cNvCxnSpPr/>
          <p:nvPr/>
        </p:nvCxnSpPr>
        <p:spPr>
          <a:xfrm>
            <a:off x="8165592" y="5589808"/>
            <a:ext cx="3200400" cy="0"/>
          </a:xfrm>
          <a:prstGeom prst="line">
            <a:avLst/>
          </a:prstGeom>
          <a:ln w="19050">
            <a:solidFill>
              <a:srgbClr val="8896B0"/>
            </a:solidFill>
          </a:ln>
        </p:spPr>
      </p:cxnSp>
      <p:sp>
        <p:nvSpPr>
          <p:cNvPr id="146" name="Classroom body"/>
          <p:cNvSpPr/>
          <p:nvPr/>
        </p:nvSpPr>
        <p:spPr>
          <a:xfrm>
            <a:off x="4494276" y="502920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47" name="Classroom header"/>
          <p:cNvSpPr/>
          <p:nvPr/>
        </p:nvSpPr>
        <p:spPr>
          <a:xfrm>
            <a:off x="4494276" y="5029200"/>
            <a:ext cx="3200400" cy="292608"/>
          </a:xfrm>
          <a:prstGeom prst="rect">
            <a:avLst/>
          </a:prstGeom>
          <a:solidFill>
            <a:schemeClr val="accent1"/>
          </a:solidFill>
          <a:ln w="12700">
            <a:solidFill>
              <a:srgbClr val="8896B0"/>
            </a:solidFill>
          </a:ln>
        </p:spPr>
      </p:sp>
      <p:sp>
        <p:nvSpPr>
          <p:cNvPr id="148" name="Classroom title"/>
          <p:cNvSpPr txBox="1"/>
          <p:nvPr/>
        </p:nvSpPr>
        <p:spPr>
          <a:xfrm>
            <a:off x="4494276" y="502920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Classroom</a:t>
            </a:r>
          </a:p>
        </p:txBody>
      </p:sp>
      <p:sp>
        <p:nvSpPr>
          <p:cNvPr id="149" name="Classroom members"/>
          <p:cNvSpPr txBox="1"/>
          <p:nvPr/>
        </p:nvSpPr>
        <p:spPr>
          <a:xfrm>
            <a:off x="4631436" y="536752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name, type, capacity, status</a:t>
            </a:r>
          </a:p>
          <a:p>
            <a:pPr rtl="0" algn="l" indent="0" marL="0">
              <a:spcBef>
                <a:spcPts val="800"/>
              </a:spcBef>
              <a:buNone/>
            </a:pPr>
            <a:r>
              <a:rPr lang="en-US" altLang="ar-SA" sz="1200" dirty="0">
                <a:solidFill>
                  <a:schemeClr val="tx1"/>
                </a:solidFill>
              </a:rPr>
              <a:t>checkAvailability()</a:t>
            </a:r>
          </a:p>
        </p:txBody>
      </p:sp>
      <p:cxnSp>
        <p:nvCxnSpPr>
          <p:cNvPr id="150" name="Classroom divider"/>
          <p:cNvCxnSpPr/>
          <p:nvPr/>
        </p:nvCxnSpPr>
        <p:spPr>
          <a:xfrm>
            <a:off x="4494276" y="5589808"/>
            <a:ext cx="3200400" cy="0"/>
          </a:xfrm>
          <a:prstGeom prst="line">
            <a:avLst/>
          </a:prstGeom>
          <a:ln w="19050">
            <a:solidFill>
              <a:srgbClr val="8896B0"/>
            </a:solidFill>
          </a:ln>
        </p:spPr>
      </p:cxnSp>
      <p:sp>
        <p:nvSpPr>
          <p:cNvPr id="151" name="Payment body"/>
          <p:cNvSpPr/>
          <p:nvPr/>
        </p:nvSpPr>
        <p:spPr>
          <a:xfrm>
            <a:off x="822960" y="5029200"/>
            <a:ext cx="3200400" cy="914400"/>
          </a:xfrm>
          <a:prstGeom prst="rect">
            <a:avLst/>
          </a:prstGeom>
          <a:solidFill>
            <a:schemeClr val="bg1"/>
          </a:solidFill>
          <a:ln w="12700">
            <a:solidFill>
              <a:srgbClr val="8896B0"/>
            </a:solidFill>
          </a:ln>
          <a:effectLst>
            <a:outerShdw sx="100000" sy="100000" kx="0" ky="0" algn="bl" rotWithShape="0" blurRad="101600" dist="25400" dir="5400000">
              <a:srgbClr val="1B2430">
                <a:alpha val="8000"/>
              </a:srgbClr>
            </a:outerShdw>
          </a:effectLst>
        </p:spPr>
      </p:sp>
      <p:sp>
        <p:nvSpPr>
          <p:cNvPr id="152" name="Payment header"/>
          <p:cNvSpPr/>
          <p:nvPr/>
        </p:nvSpPr>
        <p:spPr>
          <a:xfrm>
            <a:off x="822960" y="5029200"/>
            <a:ext cx="3200400" cy="292608"/>
          </a:xfrm>
          <a:prstGeom prst="rect">
            <a:avLst/>
          </a:prstGeom>
          <a:solidFill>
            <a:schemeClr val="accent1"/>
          </a:solidFill>
          <a:ln w="12700">
            <a:solidFill>
              <a:srgbClr val="8896B0"/>
            </a:solidFill>
          </a:ln>
        </p:spPr>
      </p:sp>
      <p:sp>
        <p:nvSpPr>
          <p:cNvPr id="153" name="Payment title"/>
          <p:cNvSpPr txBox="1"/>
          <p:nvPr/>
        </p:nvSpPr>
        <p:spPr>
          <a:xfrm>
            <a:off x="822960" y="5029200"/>
            <a:ext cx="3200400" cy="292608"/>
          </a:xfrm>
          <a:prstGeom prst="rect">
            <a:avLst/>
          </a:prstGeom>
          <a:noFill/>
          <a:ln/>
        </p:spPr>
        <p:txBody>
          <a:bodyPr wrap="square" lIns="0" tIns="0" rIns="0" bIns="0" rtlCol="0" anchor="ctr"/>
          <a:lstStyle/>
          <a:p>
            <a:pPr rtl="0" algn="ctr" indent="0" marL="0">
              <a:buNone/>
            </a:pPr>
            <a:r>
              <a:rPr lang="en-US" altLang="ar-SA" sz="1400" b="1" dirty="0">
                <a:solidFill>
                  <a:schemeClr val="bg1"/>
                </a:solidFill>
                <a:latin typeface="+mj-lt" pitchFamily="34" charset="0"/>
                <a:ea typeface="+mj-lt" pitchFamily="34" charset="-122"/>
                <a:cs typeface="+mj-lt" pitchFamily="34" charset="-120"/>
              </a:rPr>
              <a:t>Payment</a:t>
            </a:r>
          </a:p>
        </p:txBody>
      </p:sp>
      <p:sp>
        <p:nvSpPr>
          <p:cNvPr id="154" name="Payment members"/>
          <p:cNvSpPr txBox="1"/>
          <p:nvPr/>
        </p:nvSpPr>
        <p:spPr>
          <a:xfrm>
            <a:off x="960120" y="5367528"/>
            <a:ext cx="2926080" cy="530352"/>
          </a:xfrm>
          <a:prstGeom prst="rect">
            <a:avLst/>
          </a:prstGeom>
          <a:noFill/>
          <a:ln/>
        </p:spPr>
        <p:txBody>
          <a:bodyPr wrap="square" lIns="0" tIns="0" rIns="0" bIns="0" rtlCol="0" anchor="t"/>
          <a:lstStyle/>
          <a:p>
            <a:pPr rtl="0" algn="l" indent="0" marL="0">
              <a:buNone/>
            </a:pPr>
            <a:r>
              <a:rPr lang="en-US" altLang="ar-SA" sz="1200" dirty="0">
                <a:solidFill>
                  <a:schemeClr val="tx1"/>
                </a:solidFill>
              </a:rPr>
              <a:t>receiptNo, amount, date, method</a:t>
            </a:r>
          </a:p>
          <a:p>
            <a:pPr rtl="0" algn="l" indent="0" marL="0">
              <a:spcBef>
                <a:spcPts val="800"/>
              </a:spcBef>
              <a:buNone/>
            </a:pPr>
            <a:r>
              <a:rPr lang="en-US" altLang="ar-SA" sz="1200" dirty="0">
                <a:solidFill>
                  <a:schemeClr val="tx1"/>
                </a:solidFill>
              </a:rPr>
              <a:t>record(), generateReceipt()</a:t>
            </a:r>
          </a:p>
        </p:txBody>
      </p:sp>
      <p:cxnSp>
        <p:nvCxnSpPr>
          <p:cNvPr id="155" name="Payment divider"/>
          <p:cNvCxnSpPr/>
          <p:nvPr/>
        </p:nvCxnSpPr>
        <p:spPr>
          <a:xfrm>
            <a:off x="822960" y="5589808"/>
            <a:ext cx="3200400" cy="0"/>
          </a:xfrm>
          <a:prstGeom prst="line">
            <a:avLst/>
          </a:prstGeom>
          <a:ln w="19050">
            <a:solidFill>
              <a:srgbClr val="8896B0"/>
            </a:solidFill>
          </a:ln>
        </p:spPr>
      </p:cxnSp>
      <p:sp>
        <p:nvSpPr>
          <p:cNvPr id="95" name="Multiplicity"/>
          <p:cNvSpPr txBox="1"/>
          <p:nvPr/>
        </p:nvSpPr>
        <p:spPr>
          <a:xfrm>
            <a:off x="6154476" y="338828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96" name="Multiplicity"/>
          <p:cNvSpPr txBox="1"/>
          <p:nvPr/>
        </p:nvSpPr>
        <p:spPr>
          <a:xfrm>
            <a:off x="6154476" y="35840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97" name="Multiplicity"/>
          <p:cNvSpPr txBox="1"/>
          <p:nvPr/>
        </p:nvSpPr>
        <p:spPr>
          <a:xfrm>
            <a:off x="2483160" y="338828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98" name="Multiplicity"/>
          <p:cNvSpPr txBox="1"/>
          <p:nvPr/>
        </p:nvSpPr>
        <p:spPr>
          <a:xfrm>
            <a:off x="2483160" y="35840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99" name="Multiplicity"/>
          <p:cNvSpPr txBox="1"/>
          <p:nvPr/>
        </p:nvSpPr>
        <p:spPr>
          <a:xfrm>
            <a:off x="7915592" y="4021240"/>
            <a:ext cx="228600" cy="160000"/>
          </a:xfrm>
          <a:prstGeom prst="rect">
            <a:avLst/>
          </a:prstGeom>
          <a:noFill/>
          <a:ln/>
        </p:spPr>
        <p:txBody>
          <a:bodyPr wrap="square" lIns="0" tIns="0" rIns="0" bIns="0" rtlCol="0" anchor="ctr"/>
          <a:lstStyle/>
          <a:p>
            <a:pPr rtl="0" algn="r" indent="0" marL="0">
              <a:buNone/>
            </a:pPr>
            <a:r>
              <a:rPr lang="en-US" altLang="ar-SA" sz="1200" b="1" dirty="0">
                <a:solidFill>
                  <a:srgbClr val="5B6B8A"/>
                </a:solidFill>
              </a:rPr>
              <a:t>1</a:t>
            </a:r>
          </a:p>
        </p:txBody>
      </p:sp>
      <p:sp>
        <p:nvSpPr>
          <p:cNvPr id="100" name="Multiplicity"/>
          <p:cNvSpPr txBox="1"/>
          <p:nvPr/>
        </p:nvSpPr>
        <p:spPr>
          <a:xfrm>
            <a:off x="7719676" y="40212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1" name="Multiplicity"/>
          <p:cNvSpPr txBox="1"/>
          <p:nvPr/>
        </p:nvSpPr>
        <p:spPr>
          <a:xfrm>
            <a:off x="4244276" y="4021240"/>
            <a:ext cx="228600" cy="160000"/>
          </a:xfrm>
          <a:prstGeom prst="rect">
            <a:avLst/>
          </a:prstGeom>
          <a:noFill/>
          <a:ln/>
        </p:spPr>
        <p:txBody>
          <a:bodyPr wrap="square" lIns="0" tIns="0" rIns="0" bIns="0" rtlCol="0" anchor="ctr"/>
          <a:lstStyle/>
          <a:p>
            <a:pPr rtl="0" algn="r" indent="0" marL="0">
              <a:buNone/>
            </a:pPr>
            <a:r>
              <a:rPr lang="en-US" altLang="ar-SA" sz="1200" b="1" dirty="0">
                <a:solidFill>
                  <a:srgbClr val="5B6B8A"/>
                </a:solidFill>
              </a:rPr>
              <a:t>1</a:t>
            </a:r>
          </a:p>
        </p:txBody>
      </p:sp>
      <p:sp>
        <p:nvSpPr>
          <p:cNvPr id="102" name="Multiplicity"/>
          <p:cNvSpPr txBox="1"/>
          <p:nvPr/>
        </p:nvSpPr>
        <p:spPr>
          <a:xfrm>
            <a:off x="4048360" y="40212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3" name="Multiplicity"/>
          <p:cNvSpPr txBox="1"/>
          <p:nvPr/>
        </p:nvSpPr>
        <p:spPr>
          <a:xfrm>
            <a:off x="6154476" y="46684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4" name="Multiplicity"/>
          <p:cNvSpPr txBox="1"/>
          <p:nvPr/>
        </p:nvSpPr>
        <p:spPr>
          <a:xfrm>
            <a:off x="6154476" y="486420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105" name="Multiplicity"/>
          <p:cNvSpPr txBox="1"/>
          <p:nvPr/>
        </p:nvSpPr>
        <p:spPr>
          <a:xfrm>
            <a:off x="2483160" y="46684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106" name="Multiplicity"/>
          <p:cNvSpPr txBox="1"/>
          <p:nvPr/>
        </p:nvSpPr>
        <p:spPr>
          <a:xfrm>
            <a:off x="2483160" y="486420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07" name="Multiplicity"/>
          <p:cNvSpPr txBox="1"/>
          <p:nvPr/>
        </p:nvSpPr>
        <p:spPr>
          <a:xfrm>
            <a:off x="7254476" y="466844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1</a:t>
            </a:r>
          </a:p>
        </p:txBody>
      </p:sp>
      <p:sp>
        <p:nvSpPr>
          <p:cNvPr id="108" name="Multiplicity"/>
          <p:cNvSpPr txBox="1"/>
          <p:nvPr/>
        </p:nvSpPr>
        <p:spPr>
          <a:xfrm>
            <a:off x="9825792" y="4864200"/>
            <a:ext cx="228600" cy="160000"/>
          </a:xfrm>
          <a:prstGeom prst="rect">
            <a:avLst/>
          </a:prstGeom>
          <a:noFill/>
          <a:ln/>
        </p:spPr>
        <p:txBody>
          <a:bodyPr wrap="square" lIns="0" tIns="0" rIns="0" bIns="0" rtlCol="0" anchor="ctr"/>
          <a:lstStyle/>
          <a:p>
            <a:pPr rtl="0" algn="l" indent="0" marL="0">
              <a:buNone/>
            </a:pPr>
            <a:r>
              <a:rPr lang="en-US" altLang="ar-SA" sz="1200" b="1" dirty="0">
                <a:solidFill>
                  <a:srgbClr val="5B6B8A"/>
                </a:solidFill>
              </a:rPr>
              <a:t>*</a:t>
            </a:r>
          </a:p>
        </p:txBody>
      </p:sp>
      <p:sp>
        <p:nvSpPr>
          <p:cNvPr id="156" name="Legend"/>
          <p:cNvSpPr txBox="1"/>
          <p:nvPr/>
        </p:nvSpPr>
        <p:spPr>
          <a:xfrm>
            <a:off x="822960" y="6035040"/>
            <a:ext cx="10543032" cy="274320"/>
          </a:xfrm>
          <a:prstGeom prst="rect">
            <a:avLst/>
          </a:prstGeom>
          <a:noFill/>
          <a:ln/>
        </p:spPr>
        <p:txBody>
          <a:bodyPr wrap="square" lIns="0" tIns="0" rIns="0" bIns="0" rtlCol="0" anchor="ctr"/>
          <a:lstStyle/>
          <a:p>
            <a:pPr rtl="1" algn="r" indent="0" marL="0">
              <a:buNone/>
            </a:pPr>
            <a:r>
              <a:rPr lang="ar-SA" altLang="en-US" sz="1300" dirty="0">
                <a:solidFill>
                  <a:srgbClr val="5B6B8A"/>
                </a:solidFill>
              </a:rPr>
              <a:t>مخطط مفاهيمي: المثلث = وراثة من User، والخط = ارتباط (1 = واحد، * = متعدد)</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822960" y="411480"/>
            <a:ext cx="10543032" cy="320040"/>
          </a:xfrm>
          <a:prstGeom prst="rect">
            <a:avLst/>
          </a:prstGeom>
          <a:noFill/>
          <a:ln/>
        </p:spPr>
        <p:txBody>
          <a:bodyPr wrap="square" lIns="0" tIns="0" rIns="0" bIns="0" rtlCol="0" anchor="ctr"/>
          <a:lstStyle/>
          <a:p>
            <a:pPr rtl="1" algn="r" indent="0" marL="0">
              <a:buNone/>
            </a:pPr>
            <a:r>
              <a:rPr lang="ar-SA" altLang="en-US" sz="1200" b="1" dirty="0">
                <a:solidFill>
                  <a:schemeClr val="accent1"/>
                </a:solidFill>
              </a:rPr>
              <a:t>الآفاق</a:t>
            </a:r>
            <a:endParaRPr lang="ar-SA" sz="1200" dirty="0"/>
          </a:p>
        </p:txBody>
      </p:sp>
      <p:sp>
        <p:nvSpPr>
          <p:cNvPr id="3" name="Text 1"/>
          <p:cNvSpPr/>
          <p:nvPr>
            <p:ph idx="102" type="title" hasCustomPrompt="1"/>
          </p:nvPr>
        </p:nvSpPr>
        <p:spPr>
          <a:xfrm>
            <a:off x="822960" y="713232"/>
            <a:ext cx="10543032" cy="685800"/>
          </a:xfrm>
          <a:prstGeom prst="rect">
            <a:avLst/>
          </a:prstGeom>
          <a:noFill/>
          <a:ln/>
        </p:spPr>
        <p:txBody>
          <a:bodyPr wrap="square" lIns="0" tIns="0" rIns="0" bIns="0" rtlCol="0" anchor="ctr"/>
          <a:lstStyle/>
          <a:p>
            <a:pPr rtl="1" algn="r" indent="0" marL="0">
              <a:buNone/>
            </a:pPr>
            <a:r>
              <a:rPr lang="ar-SA" altLang="en-US" sz="2600" b="1" dirty="0">
                <a:solidFill>
                  <a:schemeClr val="tx2"/>
                </a:solidFill>
              </a:rPr>
              <a:t>الآفاق المستقبلية للمشروع</a:t>
            </a:r>
            <a:endParaRPr lang="ar-SA" sz="2600" dirty="0"/>
          </a:p>
        </p:txBody>
      </p:sp>
      <p:sp>
        <p:nvSpPr>
          <p:cNvPr id="91" name="Prospect card 1"/>
          <p:cNvSpPr/>
          <p:nvPr/>
        </p:nvSpPr>
        <p:spPr>
          <a:xfrm>
            <a:off x="8046720" y="1920240"/>
            <a:ext cx="3319272" cy="3108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2" name="Prospect header 1"/>
          <p:cNvSpPr/>
          <p:nvPr/>
        </p:nvSpPr>
        <p:spPr>
          <a:xfrm>
            <a:off x="8046720" y="1920240"/>
            <a:ext cx="3319272" cy="594360"/>
          </a:xfrm>
          <a:prstGeom prst="rect">
            <a:avLst/>
          </a:prstGeom>
          <a:solidFill>
            <a:schemeClr val="accent1"/>
          </a:solidFill>
          <a:ln/>
        </p:spPr>
      </p:sp>
      <p:sp>
        <p:nvSpPr>
          <p:cNvPr id="93" name="Prospect title 1"/>
          <p:cNvSpPr txBox="1"/>
          <p:nvPr/>
        </p:nvSpPr>
        <p:spPr>
          <a:xfrm>
            <a:off x="8229600" y="1920240"/>
            <a:ext cx="2953512" cy="594360"/>
          </a:xfrm>
          <a:prstGeom prst="rect">
            <a:avLst/>
          </a:prstGeom>
          <a:noFill/>
          <a:ln/>
        </p:spPr>
        <p:txBody>
          <a:bodyPr wrap="square" lIns="0" tIns="0" rIns="0" bIns="0" rtlCol="0" anchor="ctr"/>
          <a:lstStyle/>
          <a:p>
            <a:pPr rtl="1" algn="r" indent="0" marL="0">
              <a:buNone/>
            </a:pPr>
            <a:r>
              <a:rPr lang="ar-SA" altLang="en-US" sz="1700" b="1" dirty="0">
                <a:solidFill>
                  <a:schemeClr val="bg1"/>
                </a:solidFill>
                <a:latin typeface="+mj-lt" pitchFamily="34" charset="0"/>
                <a:ea typeface="+mj-lt" pitchFamily="34" charset="-122"/>
                <a:cs typeface="+mj-lt" pitchFamily="34" charset="-120"/>
              </a:rPr>
              <a:t>تطبيق للهواتف المحمولة</a:t>
            </a:r>
          </a:p>
        </p:txBody>
      </p:sp>
      <p:sp>
        <p:nvSpPr>
          <p:cNvPr id="94" name="Prospect number 1"/>
          <p:cNvSpPr/>
          <p:nvPr/>
        </p:nvSpPr>
        <p:spPr>
          <a:xfrm>
            <a:off x="10497312" y="2743200"/>
            <a:ext cx="640080" cy="640080"/>
          </a:xfrm>
          <a:prstGeom prst="ellipse">
            <a:avLst/>
          </a:prstGeom>
          <a:solidFill>
            <a:schemeClr val="accent1"/>
          </a:solidFill>
          <a:ln/>
        </p:spPr>
      </p:sp>
      <p:sp>
        <p:nvSpPr>
          <p:cNvPr id="95" name="Prospect number text 1"/>
          <p:cNvSpPr txBox="1"/>
          <p:nvPr/>
        </p:nvSpPr>
        <p:spPr>
          <a:xfrm>
            <a:off x="10497312" y="2743200"/>
            <a:ext cx="640080" cy="64008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mj-lt" pitchFamily="34" charset="0"/>
                <a:ea typeface="+mj-lt" pitchFamily="34" charset="-122"/>
                <a:cs typeface="+mj-lt" pitchFamily="34" charset="-120"/>
              </a:rPr>
              <a:t>1</a:t>
            </a:r>
          </a:p>
        </p:txBody>
      </p:sp>
      <p:sp>
        <p:nvSpPr>
          <p:cNvPr id="96" name="Prospect term 1"/>
          <p:cNvSpPr txBox="1"/>
          <p:nvPr/>
        </p:nvSpPr>
        <p:spPr>
          <a:xfrm>
            <a:off x="8275320" y="2743200"/>
            <a:ext cx="2084832" cy="640080"/>
          </a:xfrm>
          <a:prstGeom prst="rect">
            <a:avLst/>
          </a:prstGeom>
          <a:noFill/>
          <a:ln/>
        </p:spPr>
        <p:txBody>
          <a:bodyPr wrap="square" lIns="0" tIns="0" rIns="0" bIns="0" rtlCol="0" anchor="ctr"/>
          <a:lstStyle/>
          <a:p>
            <a:pPr rtl="0" algn="l" indent="0" marL="0">
              <a:buNone/>
            </a:pPr>
            <a:r>
              <a:rPr lang="ar-SA" altLang="en-US" sz="1500" b="1" dirty="0">
                <a:solidFill>
                  <a:schemeClr val="accent1"/>
                </a:solidFill>
                <a:latin typeface="+mj-lt" pitchFamily="34" charset="0"/>
                <a:ea typeface="+mj-lt" pitchFamily="34" charset="-122"/>
                <a:cs typeface="+mj-lt" pitchFamily="34" charset="-120"/>
              </a:rPr>
              <a:t>Mobile App</a:t>
            </a:r>
          </a:p>
        </p:txBody>
      </p:sp>
      <p:sp>
        <p:nvSpPr>
          <p:cNvPr id="97" name="Prospect text 1"/>
          <p:cNvSpPr txBox="1"/>
          <p:nvPr/>
        </p:nvSpPr>
        <p:spPr>
          <a:xfrm>
            <a:off x="8275320" y="3566160"/>
            <a:ext cx="2862072" cy="1234440"/>
          </a:xfrm>
          <a:prstGeom prst="rect">
            <a:avLst/>
          </a:prstGeom>
          <a:noFill/>
          <a:ln/>
        </p:spPr>
        <p:txBody>
          <a:bodyPr wrap="square" lIns="0" tIns="0" rIns="0" bIns="0" rtlCol="0" anchor="t"/>
          <a:lstStyle/>
          <a:p>
            <a:pPr rtl="1" algn="r" indent="0" marL="0">
              <a:buNone/>
            </a:pPr>
            <a:r>
              <a:rPr lang="ar-SA" altLang="en-US" sz="1600" dirty="0">
                <a:solidFill>
                  <a:schemeClr val="tx1"/>
                </a:solidFill>
              </a:rPr>
              <a:t>تطوير تطبيق لنظامي Android وiOS للمدرّسين والطلاب للتنبيهات الفورية ومتابعة الحضور.</a:t>
            </a:r>
          </a:p>
        </p:txBody>
      </p:sp>
      <p:sp>
        <p:nvSpPr>
          <p:cNvPr id="98" name="Prospect card 2"/>
          <p:cNvSpPr/>
          <p:nvPr/>
        </p:nvSpPr>
        <p:spPr>
          <a:xfrm>
            <a:off x="4434840" y="1920240"/>
            <a:ext cx="3319272" cy="3108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99" name="Prospect header 2"/>
          <p:cNvSpPr/>
          <p:nvPr/>
        </p:nvSpPr>
        <p:spPr>
          <a:xfrm>
            <a:off x="4434840" y="1920240"/>
            <a:ext cx="3319272" cy="594360"/>
          </a:xfrm>
          <a:prstGeom prst="rect">
            <a:avLst/>
          </a:prstGeom>
          <a:solidFill>
            <a:schemeClr val="accent1"/>
          </a:solidFill>
          <a:ln/>
        </p:spPr>
      </p:sp>
      <p:sp>
        <p:nvSpPr>
          <p:cNvPr id="100" name="Prospect title 2"/>
          <p:cNvSpPr txBox="1"/>
          <p:nvPr/>
        </p:nvSpPr>
        <p:spPr>
          <a:xfrm>
            <a:off x="4617720" y="1920240"/>
            <a:ext cx="2953512" cy="594360"/>
          </a:xfrm>
          <a:prstGeom prst="rect">
            <a:avLst/>
          </a:prstGeom>
          <a:noFill/>
          <a:ln/>
        </p:spPr>
        <p:txBody>
          <a:bodyPr wrap="square" lIns="0" tIns="0" rIns="0" bIns="0" rtlCol="0" anchor="ctr"/>
          <a:lstStyle/>
          <a:p>
            <a:pPr rtl="1" algn="r" indent="0" marL="0">
              <a:buNone/>
            </a:pPr>
            <a:r>
              <a:rPr lang="ar-SA" altLang="en-US" sz="1700" b="1" dirty="0">
                <a:solidFill>
                  <a:schemeClr val="bg1"/>
                </a:solidFill>
                <a:latin typeface="+mj-lt" pitchFamily="34" charset="0"/>
                <a:ea typeface="+mj-lt" pitchFamily="34" charset="-122"/>
                <a:cs typeface="+mj-lt" pitchFamily="34" charset="-120"/>
              </a:rPr>
              <a:t>بوابة دفع إلكتروني</a:t>
            </a:r>
          </a:p>
        </p:txBody>
      </p:sp>
      <p:sp>
        <p:nvSpPr>
          <p:cNvPr id="101" name="Prospect number 2"/>
          <p:cNvSpPr/>
          <p:nvPr/>
        </p:nvSpPr>
        <p:spPr>
          <a:xfrm>
            <a:off x="6885432" y="2743200"/>
            <a:ext cx="640080" cy="640080"/>
          </a:xfrm>
          <a:prstGeom prst="ellipse">
            <a:avLst/>
          </a:prstGeom>
          <a:solidFill>
            <a:schemeClr val="accent1"/>
          </a:solidFill>
          <a:ln/>
        </p:spPr>
      </p:sp>
      <p:sp>
        <p:nvSpPr>
          <p:cNvPr id="102" name="Prospect number text 2"/>
          <p:cNvSpPr txBox="1"/>
          <p:nvPr/>
        </p:nvSpPr>
        <p:spPr>
          <a:xfrm>
            <a:off x="6885432" y="2743200"/>
            <a:ext cx="640080" cy="64008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mj-lt" pitchFamily="34" charset="0"/>
                <a:ea typeface="+mj-lt" pitchFamily="34" charset="-122"/>
                <a:cs typeface="+mj-lt" pitchFamily="34" charset="-120"/>
              </a:rPr>
              <a:t>2</a:t>
            </a:r>
          </a:p>
        </p:txBody>
      </p:sp>
      <p:sp>
        <p:nvSpPr>
          <p:cNvPr id="103" name="Prospect term 2"/>
          <p:cNvSpPr txBox="1"/>
          <p:nvPr/>
        </p:nvSpPr>
        <p:spPr>
          <a:xfrm>
            <a:off x="4663440" y="2743200"/>
            <a:ext cx="2084832" cy="640080"/>
          </a:xfrm>
          <a:prstGeom prst="rect">
            <a:avLst/>
          </a:prstGeom>
          <a:noFill/>
          <a:ln/>
        </p:spPr>
        <p:txBody>
          <a:bodyPr wrap="square" lIns="0" tIns="0" rIns="0" bIns="0" rtlCol="0" anchor="ctr"/>
          <a:lstStyle/>
          <a:p>
            <a:pPr rtl="0" algn="l" indent="0" marL="0">
              <a:buNone/>
            </a:pPr>
            <a:r>
              <a:rPr lang="ar-SA" altLang="en-US" sz="1500" b="1" dirty="0">
                <a:solidFill>
                  <a:schemeClr val="accent1"/>
                </a:solidFill>
                <a:latin typeface="+mj-lt" pitchFamily="34" charset="0"/>
                <a:ea typeface="+mj-lt" pitchFamily="34" charset="-122"/>
                <a:cs typeface="+mj-lt" pitchFamily="34" charset="-120"/>
              </a:rPr>
              <a:t>Payment Gateway Integration</a:t>
            </a:r>
          </a:p>
        </p:txBody>
      </p:sp>
      <p:sp>
        <p:nvSpPr>
          <p:cNvPr id="104" name="Prospect text 2"/>
          <p:cNvSpPr txBox="1"/>
          <p:nvPr/>
        </p:nvSpPr>
        <p:spPr>
          <a:xfrm>
            <a:off x="4663440" y="3566160"/>
            <a:ext cx="2862072" cy="1234440"/>
          </a:xfrm>
          <a:prstGeom prst="rect">
            <a:avLst/>
          </a:prstGeom>
          <a:noFill/>
          <a:ln/>
        </p:spPr>
        <p:txBody>
          <a:bodyPr wrap="square" lIns="0" tIns="0" rIns="0" bIns="0" rtlCol="0" anchor="t"/>
          <a:lstStyle/>
          <a:p>
            <a:pPr rtl="1" algn="r" indent="0" marL="0">
              <a:buNone/>
            </a:pPr>
            <a:r>
              <a:rPr lang="ar-SA" altLang="en-US" sz="1600" dirty="0">
                <a:solidFill>
                  <a:schemeClr val="tx1"/>
                </a:solidFill>
              </a:rPr>
              <a:t>ربط النظام بوسائل الدفع الإلكتروني المحلية لتسهيل دفع الأقساط أونلاين.</a:t>
            </a:r>
          </a:p>
        </p:txBody>
      </p:sp>
      <p:sp>
        <p:nvSpPr>
          <p:cNvPr id="105" name="Prospect card 3"/>
          <p:cNvSpPr/>
          <p:nvPr/>
        </p:nvSpPr>
        <p:spPr>
          <a:xfrm>
            <a:off x="822960" y="1920240"/>
            <a:ext cx="3319272" cy="3108960"/>
          </a:xfrm>
          <a:prstGeom prst="roundRect">
            <a:avLst>
              <a:gd name="adj" fmla="val 3390"/>
            </a:avLst>
          </a:prstGeom>
          <a:solidFill>
            <a:schemeClr val="bg1"/>
          </a:solidFill>
          <a:ln w="9525">
            <a:solidFill>
              <a:srgbClr val="E3E8F0"/>
            </a:solidFill>
            <a:prstDash val="solid"/>
          </a:ln>
          <a:effectLst>
            <a:outerShdw sx="100000" sy="100000" kx="0" ky="0" algn="bl" rotWithShape="0" blurRad="101600" dist="25400" dir="5400000">
              <a:srgbClr val="1B2430">
                <a:alpha val="8000"/>
              </a:srgbClr>
            </a:outerShdw>
          </a:effectLst>
        </p:spPr>
      </p:sp>
      <p:sp>
        <p:nvSpPr>
          <p:cNvPr id="106" name="Prospect header 3"/>
          <p:cNvSpPr/>
          <p:nvPr/>
        </p:nvSpPr>
        <p:spPr>
          <a:xfrm>
            <a:off x="822960" y="1920240"/>
            <a:ext cx="3319272" cy="594360"/>
          </a:xfrm>
          <a:prstGeom prst="rect">
            <a:avLst/>
          </a:prstGeom>
          <a:solidFill>
            <a:schemeClr val="accent1"/>
          </a:solidFill>
          <a:ln/>
        </p:spPr>
      </p:sp>
      <p:sp>
        <p:nvSpPr>
          <p:cNvPr id="107" name="Prospect title 3"/>
          <p:cNvSpPr txBox="1"/>
          <p:nvPr/>
        </p:nvSpPr>
        <p:spPr>
          <a:xfrm>
            <a:off x="1005840" y="1920240"/>
            <a:ext cx="2953512" cy="594360"/>
          </a:xfrm>
          <a:prstGeom prst="rect">
            <a:avLst/>
          </a:prstGeom>
          <a:noFill/>
          <a:ln/>
        </p:spPr>
        <p:txBody>
          <a:bodyPr wrap="square" lIns="0" tIns="0" rIns="0" bIns="0" rtlCol="0" anchor="ctr"/>
          <a:lstStyle/>
          <a:p>
            <a:pPr rtl="1" algn="r" indent="0" marL="0">
              <a:buNone/>
            </a:pPr>
            <a:r>
              <a:rPr lang="ar-SA" altLang="en-US" sz="1700" b="1" dirty="0">
                <a:solidFill>
                  <a:schemeClr val="bg1"/>
                </a:solidFill>
                <a:latin typeface="+mj-lt" pitchFamily="34" charset="0"/>
                <a:ea typeface="+mj-lt" pitchFamily="34" charset="-122"/>
                <a:cs typeface="+mj-lt" pitchFamily="34" charset="-120"/>
              </a:rPr>
              <a:t>التوسع في ميزات الذكاء الاصطناعي</a:t>
            </a:r>
          </a:p>
        </p:txBody>
      </p:sp>
      <p:sp>
        <p:nvSpPr>
          <p:cNvPr id="108" name="Prospect number 3"/>
          <p:cNvSpPr/>
          <p:nvPr/>
        </p:nvSpPr>
        <p:spPr>
          <a:xfrm>
            <a:off x="3273552" y="2743200"/>
            <a:ext cx="640080" cy="640080"/>
          </a:xfrm>
          <a:prstGeom prst="ellipse">
            <a:avLst/>
          </a:prstGeom>
          <a:solidFill>
            <a:schemeClr val="accent1"/>
          </a:solidFill>
          <a:ln/>
        </p:spPr>
      </p:sp>
      <p:sp>
        <p:nvSpPr>
          <p:cNvPr id="109" name="Prospect number text 3"/>
          <p:cNvSpPr txBox="1"/>
          <p:nvPr/>
        </p:nvSpPr>
        <p:spPr>
          <a:xfrm>
            <a:off x="3273552" y="2743200"/>
            <a:ext cx="640080" cy="640080"/>
          </a:xfrm>
          <a:prstGeom prst="rect">
            <a:avLst/>
          </a:prstGeom>
          <a:noFill/>
          <a:ln/>
        </p:spPr>
        <p:txBody>
          <a:bodyPr wrap="square" lIns="0" tIns="0" rIns="0" bIns="0" rtlCol="0" anchor="ctr"/>
          <a:lstStyle/>
          <a:p>
            <a:pPr rtl="1" algn="ctr" indent="0" marL="0">
              <a:buNone/>
            </a:pPr>
            <a:r>
              <a:rPr lang="ar-SA" altLang="en-US" sz="2200" b="1" dirty="0">
                <a:solidFill>
                  <a:schemeClr val="bg1"/>
                </a:solidFill>
                <a:latin typeface="+mj-lt" pitchFamily="34" charset="0"/>
                <a:ea typeface="+mj-lt" pitchFamily="34" charset="-122"/>
                <a:cs typeface="+mj-lt" pitchFamily="34" charset="-120"/>
              </a:rPr>
              <a:t>3</a:t>
            </a:r>
          </a:p>
        </p:txBody>
      </p:sp>
      <p:sp>
        <p:nvSpPr>
          <p:cNvPr id="110" name="Prospect term 3"/>
          <p:cNvSpPr txBox="1"/>
          <p:nvPr/>
        </p:nvSpPr>
        <p:spPr>
          <a:xfrm>
            <a:off x="1051560" y="2743200"/>
            <a:ext cx="2084832" cy="640080"/>
          </a:xfrm>
          <a:prstGeom prst="rect">
            <a:avLst/>
          </a:prstGeom>
          <a:noFill/>
          <a:ln/>
        </p:spPr>
        <p:txBody>
          <a:bodyPr wrap="square" lIns="0" tIns="0" rIns="0" bIns="0" rtlCol="0" anchor="ctr"/>
          <a:lstStyle/>
          <a:p>
            <a:pPr rtl="0" algn="l" indent="0" marL="0">
              <a:buNone/>
            </a:pPr>
            <a:r>
              <a:rPr lang="ar-SA" altLang="en-US" sz="1500" b="1" dirty="0">
                <a:solidFill>
                  <a:schemeClr val="accent1"/>
                </a:solidFill>
                <a:latin typeface="+mj-lt" pitchFamily="34" charset="0"/>
                <a:ea typeface="+mj-lt" pitchFamily="34" charset="-122"/>
                <a:cs typeface="+mj-lt" pitchFamily="34" charset="-120"/>
              </a:rPr>
              <a:t>LLM Features</a:t>
            </a:r>
          </a:p>
        </p:txBody>
      </p:sp>
      <p:sp>
        <p:nvSpPr>
          <p:cNvPr id="111" name="Prospect text 3"/>
          <p:cNvSpPr txBox="1"/>
          <p:nvPr/>
        </p:nvSpPr>
        <p:spPr>
          <a:xfrm>
            <a:off x="1051560" y="3566160"/>
            <a:ext cx="2862072" cy="1234440"/>
          </a:xfrm>
          <a:prstGeom prst="rect">
            <a:avLst/>
          </a:prstGeom>
          <a:noFill/>
          <a:ln/>
        </p:spPr>
        <p:txBody>
          <a:bodyPr wrap="square" lIns="0" tIns="0" rIns="0" bIns="0" rtlCol="0" anchor="t"/>
          <a:lstStyle/>
          <a:p>
            <a:pPr rtl="1" algn="r" indent="0" marL="0">
              <a:buNone/>
            </a:pPr>
            <a:r>
              <a:rPr lang="ar-SA" altLang="en-US" sz="1600" dirty="0">
                <a:solidFill>
                  <a:schemeClr val="tx1"/>
                </a:solidFill>
              </a:rPr>
              <a:t>إضافة التوليد التلقائي للاختبارات بناءً على المحتوى المرفوع، باستخدام نماذج اللغة الكبيرة (LLMs).</a:t>
            </a:r>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1"/>
                </a:solidFill>
              </a:defRPr>
            </a:lvl1pPr>
          </a:lstStyle>
          <a:p>
            <a:pPr algn="l"/>
            <a:fld id="{F7021451-1387-4CA6-816F-3879F97B5CBC}" type="slidenum">
              <a:rPr b="0" lang="en-US"/>
              <a:t>2</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0"/>
          <p:cNvSpPr txBox="1"/>
          <p:nvPr/>
        </p:nvSpPr>
        <p:spPr>
          <a:xfrm>
            <a:off x="822960" y="640080"/>
            <a:ext cx="10543032" cy="822960"/>
          </a:xfrm>
          <a:prstGeom prst="rect">
            <a:avLst/>
          </a:prstGeom>
          <a:noFill/>
          <a:ln/>
        </p:spPr>
        <p:txBody>
          <a:bodyPr wrap="square" lIns="0" tIns="0" rIns="0" bIns="0" rtlCol="0" anchor="ctr"/>
          <a:lstStyle/>
          <a:p>
            <a:pPr rtl="1" algn="r" indent="0" marL="0">
              <a:buNone/>
            </a:pPr>
            <a:r>
              <a:rPr lang="ar-SA" altLang="en-US" sz="3400" b="1" dirty="0">
                <a:solidFill>
                  <a:schemeClr val="bg1"/>
                </a:solidFill>
                <a:latin typeface="+mj-lt" pitchFamily="34" charset="0"/>
                <a:ea typeface="+mj-lt" pitchFamily="34" charset="-122"/>
                <a:cs typeface="+mj-lt" pitchFamily="34" charset="-120"/>
              </a:rPr>
              <a:t>الخلاصة</a:t>
            </a:r>
            <a:endParaRPr lang="ar-SA" sz="3400" dirty="0"/>
          </a:p>
        </p:txBody>
      </p:sp>
      <p:sp>
        <p:nvSpPr>
          <p:cNvPr id="4" name="Takeaway card 1"/>
          <p:cNvSpPr/>
          <p:nvPr/>
        </p:nvSpPr>
        <p:spPr>
          <a:xfrm>
            <a:off x="8046720" y="1828800"/>
            <a:ext cx="3319272" cy="2468880"/>
          </a:xfrm>
          <a:prstGeom prst="roundRect">
            <a:avLst>
              <a:gd name="adj" fmla="val 3704"/>
            </a:avLst>
          </a:prstGeom>
          <a:solidFill>
            <a:srgbClr val="1E2761"/>
          </a:solidFill>
          <a:ln w="9525">
            <a:solidFill>
              <a:srgbClr val="2D3A7A"/>
            </a:solidFill>
            <a:prstDash val="solid"/>
          </a:ln>
        </p:spPr>
      </p:sp>
      <p:sp>
        <p:nvSpPr>
          <p:cNvPr id="5" name="Takeaway badge 1"/>
          <p:cNvSpPr/>
          <p:nvPr/>
        </p:nvSpPr>
        <p:spPr>
          <a:xfrm>
            <a:off x="10634472" y="2103120"/>
            <a:ext cx="457200" cy="457200"/>
          </a:xfrm>
          <a:prstGeom prst="ellipse">
            <a:avLst/>
          </a:prstGeom>
          <a:solidFill>
            <a:schemeClr val="accent1"/>
          </a:solidFill>
          <a:ln/>
        </p:spPr>
      </p:sp>
      <p:sp>
        <p:nvSpPr>
          <p:cNvPr id="6" name="Text 3"/>
          <p:cNvSpPr txBox="1"/>
          <p:nvPr/>
        </p:nvSpPr>
        <p:spPr>
          <a:xfrm>
            <a:off x="1063447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7" name="Text 4"/>
          <p:cNvSpPr txBox="1"/>
          <p:nvPr/>
        </p:nvSpPr>
        <p:spPr>
          <a:xfrm>
            <a:off x="827532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خطة محددة</a:t>
            </a:r>
            <a:endParaRPr lang="ar-SA" sz="1900" dirty="0"/>
          </a:p>
        </p:txBody>
      </p:sp>
      <p:sp>
        <p:nvSpPr>
          <p:cNvPr id="8" name="Text 5"/>
          <p:cNvSpPr txBox="1"/>
          <p:nvPr/>
        </p:nvSpPr>
        <p:spPr>
          <a:xfrm>
            <a:off x="827532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16 أسبوعاً وتسليم نهائي في 15/1/2027</a:t>
            </a:r>
            <a:endParaRPr lang="ar-SA" sz="1400" dirty="0"/>
          </a:p>
        </p:txBody>
      </p:sp>
      <p:sp>
        <p:nvSpPr>
          <p:cNvPr id="9" name="Takeaway card 2"/>
          <p:cNvSpPr/>
          <p:nvPr/>
        </p:nvSpPr>
        <p:spPr>
          <a:xfrm>
            <a:off x="4434840" y="1828800"/>
            <a:ext cx="3319272" cy="2468880"/>
          </a:xfrm>
          <a:prstGeom prst="roundRect">
            <a:avLst>
              <a:gd name="adj" fmla="val 3704"/>
            </a:avLst>
          </a:prstGeom>
          <a:solidFill>
            <a:srgbClr val="1E2761"/>
          </a:solidFill>
          <a:ln w="9525">
            <a:solidFill>
              <a:srgbClr val="2D3A7A"/>
            </a:solidFill>
            <a:prstDash val="solid"/>
          </a:ln>
        </p:spPr>
      </p:sp>
      <p:sp>
        <p:nvSpPr>
          <p:cNvPr id="10" name="Takeaway badge 2"/>
          <p:cNvSpPr/>
          <p:nvPr/>
        </p:nvSpPr>
        <p:spPr>
          <a:xfrm>
            <a:off x="7022592" y="2103120"/>
            <a:ext cx="457200" cy="457200"/>
          </a:xfrm>
          <a:prstGeom prst="ellipse">
            <a:avLst/>
          </a:prstGeom>
          <a:solidFill>
            <a:schemeClr val="accent1"/>
          </a:solidFill>
          <a:ln/>
        </p:spPr>
      </p:sp>
      <p:sp>
        <p:nvSpPr>
          <p:cNvPr id="11" name="Text 8"/>
          <p:cNvSpPr txBox="1"/>
          <p:nvPr/>
        </p:nvSpPr>
        <p:spPr>
          <a:xfrm>
            <a:off x="702259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2" name="Text 9"/>
          <p:cNvSpPr txBox="1"/>
          <p:nvPr/>
        </p:nvSpPr>
        <p:spPr>
          <a:xfrm>
            <a:off x="466344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فجوة بحثية واضحة</a:t>
            </a:r>
            <a:endParaRPr lang="ar-SA" sz="1900" dirty="0"/>
          </a:p>
        </p:txBody>
      </p:sp>
      <p:sp>
        <p:nvSpPr>
          <p:cNvPr id="13" name="Text 10"/>
          <p:cNvSpPr txBox="1"/>
          <p:nvPr/>
        </p:nvSpPr>
        <p:spPr>
          <a:xfrm>
            <a:off x="466344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دمج الأكاديمي والمالي والذكاء الاصطناعي بنظام بسيط</a:t>
            </a:r>
            <a:endParaRPr lang="ar-SA" sz="1400" dirty="0"/>
          </a:p>
        </p:txBody>
      </p:sp>
      <p:sp>
        <p:nvSpPr>
          <p:cNvPr id="14" name="Takeaway card 3"/>
          <p:cNvSpPr/>
          <p:nvPr/>
        </p:nvSpPr>
        <p:spPr>
          <a:xfrm>
            <a:off x="822960" y="1828800"/>
            <a:ext cx="3319272" cy="2468880"/>
          </a:xfrm>
          <a:prstGeom prst="roundRect">
            <a:avLst>
              <a:gd name="adj" fmla="val 3704"/>
            </a:avLst>
          </a:prstGeom>
          <a:solidFill>
            <a:srgbClr val="1E2761"/>
          </a:solidFill>
          <a:ln w="9525">
            <a:solidFill>
              <a:srgbClr val="2D3A7A"/>
            </a:solidFill>
            <a:prstDash val="solid"/>
          </a:ln>
        </p:spPr>
      </p:sp>
      <p:sp>
        <p:nvSpPr>
          <p:cNvPr id="15" name="Takeaway badge 3"/>
          <p:cNvSpPr/>
          <p:nvPr/>
        </p:nvSpPr>
        <p:spPr>
          <a:xfrm>
            <a:off x="3410712" y="2103120"/>
            <a:ext cx="457200" cy="457200"/>
          </a:xfrm>
          <a:prstGeom prst="ellipse">
            <a:avLst/>
          </a:prstGeom>
          <a:solidFill>
            <a:schemeClr val="accent1"/>
          </a:solidFill>
          <a:ln/>
        </p:spPr>
      </p:sp>
      <p:sp>
        <p:nvSpPr>
          <p:cNvPr id="16" name="Text 13"/>
          <p:cNvSpPr txBox="1"/>
          <p:nvPr/>
        </p:nvSpPr>
        <p:spPr>
          <a:xfrm>
            <a:off x="3410712" y="21031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a:t>
            </a:r>
            <a:endParaRPr lang="en-US" sz="1600" dirty="0"/>
          </a:p>
        </p:txBody>
      </p:sp>
      <p:sp>
        <p:nvSpPr>
          <p:cNvPr id="17" name="Text 14"/>
          <p:cNvSpPr txBox="1"/>
          <p:nvPr/>
        </p:nvSpPr>
        <p:spPr>
          <a:xfrm>
            <a:off x="1051560" y="2743200"/>
            <a:ext cx="2862072" cy="457200"/>
          </a:xfrm>
          <a:prstGeom prst="rect">
            <a:avLst/>
          </a:prstGeom>
          <a:noFill/>
          <a:ln/>
        </p:spPr>
        <p:txBody>
          <a:bodyPr wrap="square" lIns="0" tIns="0" rIns="0" bIns="0" rtlCol="0" anchor="ctr"/>
          <a:lstStyle/>
          <a:p>
            <a:pPr rtl="1" algn="r" indent="0" marL="0">
              <a:buNone/>
            </a:pPr>
            <a:r>
              <a:rPr lang="ar-SA" altLang="en-US" sz="1900" b="1" dirty="0">
                <a:solidFill>
                  <a:schemeClr val="bg1"/>
                </a:solidFill>
                <a:latin typeface="+mj-lt" pitchFamily="34" charset="0"/>
                <a:ea typeface="+mj-lt" pitchFamily="34" charset="-122"/>
                <a:cs typeface="+mj-lt" pitchFamily="34" charset="-120"/>
              </a:rPr>
              <a:t>تحليل وتصميم مكتمل</a:t>
            </a:r>
            <a:endParaRPr lang="ar-SA" sz="1900" dirty="0"/>
          </a:p>
        </p:txBody>
      </p:sp>
      <p:sp>
        <p:nvSpPr>
          <p:cNvPr id="18" name="Text 15"/>
          <p:cNvSpPr txBox="1"/>
          <p:nvPr/>
        </p:nvSpPr>
        <p:spPr>
          <a:xfrm>
            <a:off x="1051560" y="3246120"/>
            <a:ext cx="2862072" cy="868680"/>
          </a:xfrm>
          <a:prstGeom prst="rect">
            <a:avLst/>
          </a:prstGeom>
          <a:noFill/>
          <a:ln/>
        </p:spPr>
        <p:txBody>
          <a:bodyPr wrap="square" lIns="0" tIns="0" rIns="0" bIns="0" rtlCol="0" anchor="t"/>
          <a:lstStyle/>
          <a:p>
            <a:pPr rtl="1" algn="r" indent="0" marL="0">
              <a:buNone/>
            </a:pPr>
            <a:r>
              <a:rPr lang="ar-SA" altLang="en-US" sz="1400" dirty="0">
                <a:solidFill>
                  <a:srgbClr val="CADCFC"/>
                </a:solidFill>
              </a:rPr>
              <a:t>حالات استخدام، ERD، مخططات سلوك وبنية</a:t>
            </a:r>
            <a:endParaRPr lang="ar-SA" sz="1400" dirty="0"/>
          </a:p>
        </p:txBody>
      </p:sp>
      <p:sp>
        <p:nvSpPr>
          <p:cNvPr id="19" name="Text 16"/>
          <p:cNvSpPr txBox="1"/>
          <p:nvPr/>
        </p:nvSpPr>
        <p:spPr>
          <a:xfrm>
            <a:off x="822960" y="4892040"/>
            <a:ext cx="10543032" cy="914400"/>
          </a:xfrm>
          <a:prstGeom prst="rect">
            <a:avLst/>
          </a:prstGeom>
          <a:noFill/>
          <a:ln/>
        </p:spPr>
        <p:txBody>
          <a:bodyPr wrap="square" lIns="0" tIns="0" rIns="0" bIns="0" rtlCol="0" anchor="ctr"/>
          <a:lstStyle/>
          <a:p>
            <a:pPr rtl="1" algn="ctr" indent="0" marL="0">
              <a:buNone/>
            </a:pPr>
            <a:r>
              <a:rPr lang="ar-SA" altLang="en-US" sz="3200" b="1" dirty="0">
                <a:solidFill>
                  <a:schemeClr val="bg1"/>
                </a:solidFill>
                <a:latin typeface="+mj-lt" pitchFamily="34" charset="0"/>
                <a:ea typeface="+mj-lt" pitchFamily="34" charset="-122"/>
                <a:cs typeface="+mj-lt" pitchFamily="34" charset="-120"/>
              </a:rPr>
              <a:t>شكراً لإصغائكم... أسئلتكم؟</a:t>
            </a:r>
            <a:endParaRPr lang="ar-SA" sz="3200" dirty="0"/>
          </a:p>
        </p:txBody>
      </p:sp>
      <p:sp>
        <p:nvSpPr>
          <p:cNvPr id="25" name="Slide Number Placeholder 0"/>
          <p:cNvSpPr>
            <a:spLocks noGrp="1"/>
          </p:cNvSpPr>
          <p:nvPr>
            <p:ph type="sldNum" sz="quarter" idx="4294967295"/>
          </p:nvPr>
        </p:nvSpPr>
        <p:spPr>
          <a:xfrm>
            <a:off x="457200" y="6473952"/>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FA3C4"/>
                </a:solidFill>
              </a:defRPr>
            </a:lvl1pPr>
          </a:lstStyle>
          <a:p>
            <a:pPr algn="l"/>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MIS Lecture Style">
  <a:themeElements>
    <a:clrScheme name="MIS Lecture Style">
      <a:dk1>
        <a:srgbClr val="1B2430"/>
      </a:dk1>
      <a:lt1>
        <a:srgbClr val="FFFFFF"/>
      </a:lt1>
      <a:dk2>
        <a:srgbClr val="1E2761"/>
      </a:dk2>
      <a:lt2>
        <a:srgbClr val="F7F9FC"/>
      </a:lt2>
      <a:accent1>
        <a:srgbClr val="6C5CE7"/>
      </a:accent1>
      <a:accent2>
        <a:srgbClr val="1C7293"/>
      </a:accent2>
      <a:accent3>
        <a:srgbClr val="16294A"/>
      </a:accent3>
      <a:accent4>
        <a:srgbClr val="D98E04"/>
      </a:accent4>
      <a:accent5>
        <a:srgbClr val="2F8A4F"/>
      </a:accent5>
      <a:accent6>
        <a:srgbClr val="5B6474"/>
      </a:accent6>
      <a:hlink>
        <a:srgbClr val="6C5CE7"/>
      </a:hlink>
      <a:folHlink>
        <a:srgbClr val="5B6474"/>
      </a:folHlink>
    </a:clrScheme>
    <a:fontScheme name="MIS Lecture Styl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نظام إدارة المعهد الذكي – السيمنار الأول</dc:title>
  <dc:subject>PptxGenJS Presentation</dc:subject>
  <dc:creator>PptxGenJS</dc:creator>
  <cp:lastModifiedBy>PptxGenJS</cp:lastModifiedBy>
  <cp:revision>1</cp:revision>
  <dcterms:created xsi:type="dcterms:W3CDTF">2026-10-20T14:23:22Z</dcterms:created>
  <dcterms:modified xsi:type="dcterms:W3CDTF">2026-10-20T14:23:22Z</dcterms:modified>
</cp:coreProperties>
</file>